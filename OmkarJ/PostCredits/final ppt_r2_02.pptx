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62" r:id="rId3"/>
    <p:sldId id="257" r:id="rId4"/>
    <p:sldId id="263" r:id="rId5"/>
    <p:sldId id="261" r:id="rId6"/>
    <p:sldId id="259" r:id="rId7"/>
    <p:sldId id="260" r:id="rId8"/>
    <p:sldId id="264" r:id="rId9"/>
    <p:sldId id="265" r:id="rId10"/>
    <p:sldId id="275" r:id="rId11"/>
    <p:sldId id="268" r:id="rId12"/>
    <p:sldId id="266" r:id="rId13"/>
    <p:sldId id="273" r:id="rId14"/>
    <p:sldId id="270" r:id="rId15"/>
    <p:sldId id="272" r:id="rId16"/>
    <p:sldId id="278" r:id="rId17"/>
    <p:sldId id="279" r:id="rId18"/>
    <p:sldId id="280" r:id="rId19"/>
    <p:sldId id="281" r:id="rId20"/>
    <p:sldId id="282" r:id="rId21"/>
    <p:sldId id="284" r:id="rId22"/>
    <p:sldId id="286" r:id="rId23"/>
    <p:sldId id="285" r:id="rId24"/>
    <p:sldId id="288" r:id="rId25"/>
    <p:sldId id="287" r:id="rId26"/>
    <p:sldId id="269" r:id="rId27"/>
    <p:sldId id="277" r:id="rId28"/>
    <p:sldId id="26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E79"/>
    <a:srgbClr val="1F29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DDF89A-D26C-469E-ADA8-3B1E4EE3D638}" type="datetimeFigureOut">
              <a:rPr lang="en-US" smtClean="0"/>
              <a:t>10/23/2026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468AD4-2C88-4501-8C38-50A3613F8DA3}" type="slidenum">
              <a:rPr lang="en-US" smtClean="0"/>
              <a:t>‹#›</a:t>
            </a:fld>
            <a:endParaRPr lang="en-US"/>
          </a:p>
        </p:txBody>
      </p:sp>
    </p:spTree>
    <p:extLst>
      <p:ext uri="{BB962C8B-B14F-4D97-AF65-F5344CB8AC3E}">
        <p14:creationId xmlns:p14="http://schemas.microsoft.com/office/powerpoint/2010/main" val="4019122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468AD4-2C88-4501-8C38-50A3613F8DA3}" type="slidenum">
              <a:rPr lang="en-US" smtClean="0"/>
              <a:t>26</a:t>
            </a:fld>
            <a:endParaRPr lang="en-US"/>
          </a:p>
        </p:txBody>
      </p:sp>
    </p:spTree>
    <p:extLst>
      <p:ext uri="{BB962C8B-B14F-4D97-AF65-F5344CB8AC3E}">
        <p14:creationId xmlns:p14="http://schemas.microsoft.com/office/powerpoint/2010/main" val="9864803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04D13-19DF-7EDD-4859-4D927E6C03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AADC08C-5C20-2D74-1455-C0A9A359F8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AA10FF7-486A-47E9-FEFD-5B28FCB4B120}"/>
              </a:ext>
            </a:extLst>
          </p:cNvPr>
          <p:cNvSpPr>
            <a:spLocks noGrp="1"/>
          </p:cNvSpPr>
          <p:nvPr>
            <p:ph type="dt" sz="half" idx="10"/>
          </p:nvPr>
        </p:nvSpPr>
        <p:spPr/>
        <p:txBody>
          <a:bodyPr/>
          <a:lstStyle/>
          <a:p>
            <a:r>
              <a:rPr lang="en-IN"/>
              <a:t>16-09-2026</a:t>
            </a:r>
          </a:p>
        </p:txBody>
      </p:sp>
      <p:sp>
        <p:nvSpPr>
          <p:cNvPr id="5" name="Footer Placeholder 4">
            <a:extLst>
              <a:ext uri="{FF2B5EF4-FFF2-40B4-BE49-F238E27FC236}">
                <a16:creationId xmlns:a16="http://schemas.microsoft.com/office/drawing/2014/main" id="{6A931CAF-C93A-BD54-9229-5CAA20A37B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5341D9-19E6-93FC-DE37-1B5C3CB6A5BE}"/>
              </a:ext>
            </a:extLst>
          </p:cNvPr>
          <p:cNvSpPr>
            <a:spLocks noGrp="1"/>
          </p:cNvSpPr>
          <p:nvPr>
            <p:ph type="sldNum" sz="quarter" idx="12"/>
          </p:nvPr>
        </p:nvSpPr>
        <p:spPr/>
        <p:txBody>
          <a:bodyPr/>
          <a:lstStyle/>
          <a:p>
            <a:fld id="{C019D452-4D13-45E6-A944-00A80B3269BB}" type="slidenum">
              <a:rPr lang="en-IN" smtClean="0"/>
              <a:t>‹#›</a:t>
            </a:fld>
            <a:endParaRPr lang="en-IN"/>
          </a:p>
        </p:txBody>
      </p:sp>
    </p:spTree>
    <p:extLst>
      <p:ext uri="{BB962C8B-B14F-4D97-AF65-F5344CB8AC3E}">
        <p14:creationId xmlns:p14="http://schemas.microsoft.com/office/powerpoint/2010/main" val="1524118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D9466-1626-0FE7-65F4-D65A813106D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A9909FE-54E7-7600-627F-F118890576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9EC067-70DE-B0A3-CA6C-27378E88E022}"/>
              </a:ext>
            </a:extLst>
          </p:cNvPr>
          <p:cNvSpPr>
            <a:spLocks noGrp="1"/>
          </p:cNvSpPr>
          <p:nvPr>
            <p:ph type="dt" sz="half" idx="10"/>
          </p:nvPr>
        </p:nvSpPr>
        <p:spPr/>
        <p:txBody>
          <a:bodyPr/>
          <a:lstStyle/>
          <a:p>
            <a:r>
              <a:rPr lang="en-IN"/>
              <a:t>16-09-2026</a:t>
            </a:r>
          </a:p>
        </p:txBody>
      </p:sp>
      <p:sp>
        <p:nvSpPr>
          <p:cNvPr id="5" name="Footer Placeholder 4">
            <a:extLst>
              <a:ext uri="{FF2B5EF4-FFF2-40B4-BE49-F238E27FC236}">
                <a16:creationId xmlns:a16="http://schemas.microsoft.com/office/drawing/2014/main" id="{31838A02-1C8C-6B20-D3F9-CC275B11D3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949668-5202-5E94-89C0-081A46D3863D}"/>
              </a:ext>
            </a:extLst>
          </p:cNvPr>
          <p:cNvSpPr>
            <a:spLocks noGrp="1"/>
          </p:cNvSpPr>
          <p:nvPr>
            <p:ph type="sldNum" sz="quarter" idx="12"/>
          </p:nvPr>
        </p:nvSpPr>
        <p:spPr/>
        <p:txBody>
          <a:bodyPr/>
          <a:lstStyle/>
          <a:p>
            <a:fld id="{C019D452-4D13-45E6-A944-00A80B3269BB}" type="slidenum">
              <a:rPr lang="en-IN" smtClean="0"/>
              <a:t>‹#›</a:t>
            </a:fld>
            <a:endParaRPr lang="en-IN"/>
          </a:p>
        </p:txBody>
      </p:sp>
    </p:spTree>
    <p:extLst>
      <p:ext uri="{BB962C8B-B14F-4D97-AF65-F5344CB8AC3E}">
        <p14:creationId xmlns:p14="http://schemas.microsoft.com/office/powerpoint/2010/main" val="488653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BF95F-3D33-723C-A7F3-2A0D3056D05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60BB1E8-FDC9-BD9C-2AA7-42DA361D44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D7CF908-D096-3F64-3CB7-D4DD3FF7A485}"/>
              </a:ext>
            </a:extLst>
          </p:cNvPr>
          <p:cNvSpPr>
            <a:spLocks noGrp="1"/>
          </p:cNvSpPr>
          <p:nvPr>
            <p:ph type="dt" sz="half" idx="10"/>
          </p:nvPr>
        </p:nvSpPr>
        <p:spPr/>
        <p:txBody>
          <a:bodyPr/>
          <a:lstStyle/>
          <a:p>
            <a:r>
              <a:rPr lang="en-IN"/>
              <a:t>16-09-2026</a:t>
            </a:r>
          </a:p>
        </p:txBody>
      </p:sp>
      <p:sp>
        <p:nvSpPr>
          <p:cNvPr id="5" name="Footer Placeholder 4">
            <a:extLst>
              <a:ext uri="{FF2B5EF4-FFF2-40B4-BE49-F238E27FC236}">
                <a16:creationId xmlns:a16="http://schemas.microsoft.com/office/drawing/2014/main" id="{199837C4-92FA-DDA3-C090-FE70EAC71F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6D5C9F-5545-E846-19D2-C655F3011ABF}"/>
              </a:ext>
            </a:extLst>
          </p:cNvPr>
          <p:cNvSpPr>
            <a:spLocks noGrp="1"/>
          </p:cNvSpPr>
          <p:nvPr>
            <p:ph type="sldNum" sz="quarter" idx="12"/>
          </p:nvPr>
        </p:nvSpPr>
        <p:spPr/>
        <p:txBody>
          <a:bodyPr/>
          <a:lstStyle/>
          <a:p>
            <a:fld id="{C019D452-4D13-45E6-A944-00A80B3269BB}" type="slidenum">
              <a:rPr lang="en-IN" smtClean="0"/>
              <a:t>‹#›</a:t>
            </a:fld>
            <a:endParaRPr lang="en-IN"/>
          </a:p>
        </p:txBody>
      </p:sp>
    </p:spTree>
    <p:extLst>
      <p:ext uri="{BB962C8B-B14F-4D97-AF65-F5344CB8AC3E}">
        <p14:creationId xmlns:p14="http://schemas.microsoft.com/office/powerpoint/2010/main" val="274481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F1B30-BFA8-27E1-A5E1-49E34452473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82FDF63-49F9-ACB2-F082-D574D431FAB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FEFE85A-85B7-D221-3A4C-2C834E9048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DEB9CD4-C6DA-18D5-1244-DD1AEE2D9C70}"/>
              </a:ext>
            </a:extLst>
          </p:cNvPr>
          <p:cNvSpPr>
            <a:spLocks noGrp="1"/>
          </p:cNvSpPr>
          <p:nvPr>
            <p:ph type="dt" sz="half" idx="10"/>
          </p:nvPr>
        </p:nvSpPr>
        <p:spPr/>
        <p:txBody>
          <a:bodyPr/>
          <a:lstStyle/>
          <a:p>
            <a:r>
              <a:rPr lang="en-IN"/>
              <a:t>16-09-2026</a:t>
            </a:r>
          </a:p>
        </p:txBody>
      </p:sp>
      <p:sp>
        <p:nvSpPr>
          <p:cNvPr id="6" name="Footer Placeholder 5">
            <a:extLst>
              <a:ext uri="{FF2B5EF4-FFF2-40B4-BE49-F238E27FC236}">
                <a16:creationId xmlns:a16="http://schemas.microsoft.com/office/drawing/2014/main" id="{88CD0776-872C-6FFA-304D-B45133DB90D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8A4187-3654-F70A-6D0E-84561EF9E500}"/>
              </a:ext>
            </a:extLst>
          </p:cNvPr>
          <p:cNvSpPr>
            <a:spLocks noGrp="1"/>
          </p:cNvSpPr>
          <p:nvPr>
            <p:ph type="sldNum" sz="quarter" idx="12"/>
          </p:nvPr>
        </p:nvSpPr>
        <p:spPr/>
        <p:txBody>
          <a:bodyPr/>
          <a:lstStyle/>
          <a:p>
            <a:fld id="{C019D452-4D13-45E6-A944-00A80B3269BB}" type="slidenum">
              <a:rPr lang="en-IN" smtClean="0"/>
              <a:t>‹#›</a:t>
            </a:fld>
            <a:endParaRPr lang="en-IN"/>
          </a:p>
        </p:txBody>
      </p:sp>
    </p:spTree>
    <p:extLst>
      <p:ext uri="{BB962C8B-B14F-4D97-AF65-F5344CB8AC3E}">
        <p14:creationId xmlns:p14="http://schemas.microsoft.com/office/powerpoint/2010/main" val="13823350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42E9-C7E2-2AFC-6DAF-E6E66443EEA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20E521B-12BA-5557-715D-EDC180E0BA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AB2892-516B-AE7B-C9EC-470112083A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AEECC15-3B31-04D5-01C8-2A8BF7C6D8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CAF004-4856-15E0-2A6F-0CDB8197372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200A71F-4C44-75D6-E256-D120B9F3F498}"/>
              </a:ext>
            </a:extLst>
          </p:cNvPr>
          <p:cNvSpPr>
            <a:spLocks noGrp="1"/>
          </p:cNvSpPr>
          <p:nvPr>
            <p:ph type="dt" sz="half" idx="10"/>
          </p:nvPr>
        </p:nvSpPr>
        <p:spPr/>
        <p:txBody>
          <a:bodyPr/>
          <a:lstStyle/>
          <a:p>
            <a:r>
              <a:rPr lang="en-IN"/>
              <a:t>16-09-2026</a:t>
            </a:r>
          </a:p>
        </p:txBody>
      </p:sp>
      <p:sp>
        <p:nvSpPr>
          <p:cNvPr id="8" name="Footer Placeholder 7">
            <a:extLst>
              <a:ext uri="{FF2B5EF4-FFF2-40B4-BE49-F238E27FC236}">
                <a16:creationId xmlns:a16="http://schemas.microsoft.com/office/drawing/2014/main" id="{2AE896AA-9D41-67A4-6D0F-8BC0F7E9200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414D7C3-C2E8-2B34-FAB2-C5F11E0BC9F1}"/>
              </a:ext>
            </a:extLst>
          </p:cNvPr>
          <p:cNvSpPr>
            <a:spLocks noGrp="1"/>
          </p:cNvSpPr>
          <p:nvPr>
            <p:ph type="sldNum" sz="quarter" idx="12"/>
          </p:nvPr>
        </p:nvSpPr>
        <p:spPr/>
        <p:txBody>
          <a:bodyPr/>
          <a:lstStyle/>
          <a:p>
            <a:fld id="{C019D452-4D13-45E6-A944-00A80B3269BB}" type="slidenum">
              <a:rPr lang="en-IN" smtClean="0"/>
              <a:t>‹#›</a:t>
            </a:fld>
            <a:endParaRPr lang="en-IN"/>
          </a:p>
        </p:txBody>
      </p:sp>
    </p:spTree>
    <p:extLst>
      <p:ext uri="{BB962C8B-B14F-4D97-AF65-F5344CB8AC3E}">
        <p14:creationId xmlns:p14="http://schemas.microsoft.com/office/powerpoint/2010/main" val="3608715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4B122-8AFC-CA16-7E66-AAF2D04A3FB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94EC066-B5F3-A5F6-8116-BE96D479DD1F}"/>
              </a:ext>
            </a:extLst>
          </p:cNvPr>
          <p:cNvSpPr>
            <a:spLocks noGrp="1"/>
          </p:cNvSpPr>
          <p:nvPr>
            <p:ph type="dt" sz="half" idx="10"/>
          </p:nvPr>
        </p:nvSpPr>
        <p:spPr/>
        <p:txBody>
          <a:bodyPr/>
          <a:lstStyle/>
          <a:p>
            <a:r>
              <a:rPr lang="en-IN"/>
              <a:t>16-09-2026</a:t>
            </a:r>
          </a:p>
        </p:txBody>
      </p:sp>
      <p:sp>
        <p:nvSpPr>
          <p:cNvPr id="4" name="Footer Placeholder 3">
            <a:extLst>
              <a:ext uri="{FF2B5EF4-FFF2-40B4-BE49-F238E27FC236}">
                <a16:creationId xmlns:a16="http://schemas.microsoft.com/office/drawing/2014/main" id="{504A64CF-E2E8-79DA-99E2-19D4F8D07F3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5A880BB-07CF-9F4D-3D9F-8FB0114B1B78}"/>
              </a:ext>
            </a:extLst>
          </p:cNvPr>
          <p:cNvSpPr>
            <a:spLocks noGrp="1"/>
          </p:cNvSpPr>
          <p:nvPr>
            <p:ph type="sldNum" sz="quarter" idx="12"/>
          </p:nvPr>
        </p:nvSpPr>
        <p:spPr/>
        <p:txBody>
          <a:bodyPr/>
          <a:lstStyle/>
          <a:p>
            <a:fld id="{C019D452-4D13-45E6-A944-00A80B3269BB}" type="slidenum">
              <a:rPr lang="en-IN" smtClean="0"/>
              <a:t>‹#›</a:t>
            </a:fld>
            <a:endParaRPr lang="en-IN"/>
          </a:p>
        </p:txBody>
      </p:sp>
    </p:spTree>
    <p:extLst>
      <p:ext uri="{BB962C8B-B14F-4D97-AF65-F5344CB8AC3E}">
        <p14:creationId xmlns:p14="http://schemas.microsoft.com/office/powerpoint/2010/main" val="4229872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0DB641-1019-3B01-D7D2-F0CC1FCA7122}"/>
              </a:ext>
            </a:extLst>
          </p:cNvPr>
          <p:cNvSpPr>
            <a:spLocks noGrp="1"/>
          </p:cNvSpPr>
          <p:nvPr>
            <p:ph type="dt" sz="half" idx="10"/>
          </p:nvPr>
        </p:nvSpPr>
        <p:spPr/>
        <p:txBody>
          <a:bodyPr/>
          <a:lstStyle/>
          <a:p>
            <a:r>
              <a:rPr lang="en-IN"/>
              <a:t>16-09-2026</a:t>
            </a:r>
          </a:p>
        </p:txBody>
      </p:sp>
      <p:sp>
        <p:nvSpPr>
          <p:cNvPr id="3" name="Footer Placeholder 2">
            <a:extLst>
              <a:ext uri="{FF2B5EF4-FFF2-40B4-BE49-F238E27FC236}">
                <a16:creationId xmlns:a16="http://schemas.microsoft.com/office/drawing/2014/main" id="{0D740DC2-8739-517E-CEAB-8DEA9BDD04F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446643D-8C05-4E80-585C-DB6740A73876}"/>
              </a:ext>
            </a:extLst>
          </p:cNvPr>
          <p:cNvSpPr>
            <a:spLocks noGrp="1"/>
          </p:cNvSpPr>
          <p:nvPr>
            <p:ph type="sldNum" sz="quarter" idx="12"/>
          </p:nvPr>
        </p:nvSpPr>
        <p:spPr/>
        <p:txBody>
          <a:bodyPr/>
          <a:lstStyle/>
          <a:p>
            <a:fld id="{C019D452-4D13-45E6-A944-00A80B3269BB}" type="slidenum">
              <a:rPr lang="en-IN" smtClean="0"/>
              <a:t>‹#›</a:t>
            </a:fld>
            <a:endParaRPr lang="en-IN"/>
          </a:p>
        </p:txBody>
      </p:sp>
    </p:spTree>
    <p:extLst>
      <p:ext uri="{BB962C8B-B14F-4D97-AF65-F5344CB8AC3E}">
        <p14:creationId xmlns:p14="http://schemas.microsoft.com/office/powerpoint/2010/main" val="42781136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30DB8-7672-27BE-49D4-38B3E6AAA5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4C84C5E-F86C-7836-47A9-451C771CB7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D1BB242-FBC9-A6CC-7EE6-4FF09D6FE7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5F5FB2-3C92-028D-99EE-73C231408F42}"/>
              </a:ext>
            </a:extLst>
          </p:cNvPr>
          <p:cNvSpPr>
            <a:spLocks noGrp="1"/>
          </p:cNvSpPr>
          <p:nvPr>
            <p:ph type="dt" sz="half" idx="10"/>
          </p:nvPr>
        </p:nvSpPr>
        <p:spPr/>
        <p:txBody>
          <a:bodyPr/>
          <a:lstStyle/>
          <a:p>
            <a:r>
              <a:rPr lang="en-IN"/>
              <a:t>16-09-2026</a:t>
            </a:r>
          </a:p>
        </p:txBody>
      </p:sp>
      <p:sp>
        <p:nvSpPr>
          <p:cNvPr id="6" name="Footer Placeholder 5">
            <a:extLst>
              <a:ext uri="{FF2B5EF4-FFF2-40B4-BE49-F238E27FC236}">
                <a16:creationId xmlns:a16="http://schemas.microsoft.com/office/drawing/2014/main" id="{9840F1F5-3F76-56D8-C051-6C119CBF59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BEFCAF8-FD63-F5AE-0F84-ABB1C1099EB0}"/>
              </a:ext>
            </a:extLst>
          </p:cNvPr>
          <p:cNvSpPr>
            <a:spLocks noGrp="1"/>
          </p:cNvSpPr>
          <p:nvPr>
            <p:ph type="sldNum" sz="quarter" idx="12"/>
          </p:nvPr>
        </p:nvSpPr>
        <p:spPr/>
        <p:txBody>
          <a:bodyPr/>
          <a:lstStyle/>
          <a:p>
            <a:fld id="{C019D452-4D13-45E6-A944-00A80B3269BB}" type="slidenum">
              <a:rPr lang="en-IN" smtClean="0"/>
              <a:t>‹#›</a:t>
            </a:fld>
            <a:endParaRPr lang="en-IN"/>
          </a:p>
        </p:txBody>
      </p:sp>
    </p:spTree>
    <p:extLst>
      <p:ext uri="{BB962C8B-B14F-4D97-AF65-F5344CB8AC3E}">
        <p14:creationId xmlns:p14="http://schemas.microsoft.com/office/powerpoint/2010/main" val="673793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A4A7B-197C-F4C5-7C08-8BA4F33A98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7299E66-913C-988A-8017-13E17C148B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80E7591-62F0-8408-79F1-5B490B387F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3E755B-BF8D-AB6B-B537-3AD63BDDB2A4}"/>
              </a:ext>
            </a:extLst>
          </p:cNvPr>
          <p:cNvSpPr>
            <a:spLocks noGrp="1"/>
          </p:cNvSpPr>
          <p:nvPr>
            <p:ph type="dt" sz="half" idx="10"/>
          </p:nvPr>
        </p:nvSpPr>
        <p:spPr/>
        <p:txBody>
          <a:bodyPr/>
          <a:lstStyle/>
          <a:p>
            <a:r>
              <a:rPr lang="en-IN"/>
              <a:t>16-09-2026</a:t>
            </a:r>
          </a:p>
        </p:txBody>
      </p:sp>
      <p:sp>
        <p:nvSpPr>
          <p:cNvPr id="6" name="Footer Placeholder 5">
            <a:extLst>
              <a:ext uri="{FF2B5EF4-FFF2-40B4-BE49-F238E27FC236}">
                <a16:creationId xmlns:a16="http://schemas.microsoft.com/office/drawing/2014/main" id="{9A826092-9195-B4E2-D9DC-FB65CB2CBB2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ECCD207-6C60-0905-F573-42EE5F481D5F}"/>
              </a:ext>
            </a:extLst>
          </p:cNvPr>
          <p:cNvSpPr>
            <a:spLocks noGrp="1"/>
          </p:cNvSpPr>
          <p:nvPr>
            <p:ph type="sldNum" sz="quarter" idx="12"/>
          </p:nvPr>
        </p:nvSpPr>
        <p:spPr/>
        <p:txBody>
          <a:bodyPr/>
          <a:lstStyle/>
          <a:p>
            <a:fld id="{C019D452-4D13-45E6-A944-00A80B3269BB}" type="slidenum">
              <a:rPr lang="en-IN" smtClean="0"/>
              <a:t>‹#›</a:t>
            </a:fld>
            <a:endParaRPr lang="en-IN"/>
          </a:p>
        </p:txBody>
      </p:sp>
    </p:spTree>
    <p:extLst>
      <p:ext uri="{BB962C8B-B14F-4D97-AF65-F5344CB8AC3E}">
        <p14:creationId xmlns:p14="http://schemas.microsoft.com/office/powerpoint/2010/main" val="1856447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022B0-5BE5-AA82-C108-143F2142334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2064DE-A083-1495-CCC4-8A9EEACB07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11EE0B-A54E-9AEB-E1D1-2C999ABFD228}"/>
              </a:ext>
            </a:extLst>
          </p:cNvPr>
          <p:cNvSpPr>
            <a:spLocks noGrp="1"/>
          </p:cNvSpPr>
          <p:nvPr>
            <p:ph type="dt" sz="half" idx="10"/>
          </p:nvPr>
        </p:nvSpPr>
        <p:spPr/>
        <p:txBody>
          <a:bodyPr/>
          <a:lstStyle/>
          <a:p>
            <a:r>
              <a:rPr lang="en-IN"/>
              <a:t>16-09-2026</a:t>
            </a:r>
          </a:p>
        </p:txBody>
      </p:sp>
      <p:sp>
        <p:nvSpPr>
          <p:cNvPr id="5" name="Footer Placeholder 4">
            <a:extLst>
              <a:ext uri="{FF2B5EF4-FFF2-40B4-BE49-F238E27FC236}">
                <a16:creationId xmlns:a16="http://schemas.microsoft.com/office/drawing/2014/main" id="{E40842D3-83DE-7D78-6C64-748F36424C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E19CEC-B2E6-83E5-CB65-A768F0664379}"/>
              </a:ext>
            </a:extLst>
          </p:cNvPr>
          <p:cNvSpPr>
            <a:spLocks noGrp="1"/>
          </p:cNvSpPr>
          <p:nvPr>
            <p:ph type="sldNum" sz="quarter" idx="12"/>
          </p:nvPr>
        </p:nvSpPr>
        <p:spPr/>
        <p:txBody>
          <a:bodyPr/>
          <a:lstStyle/>
          <a:p>
            <a:fld id="{C019D452-4D13-45E6-A944-00A80B3269BB}" type="slidenum">
              <a:rPr lang="en-IN" smtClean="0"/>
              <a:t>‹#›</a:t>
            </a:fld>
            <a:endParaRPr lang="en-IN"/>
          </a:p>
        </p:txBody>
      </p:sp>
    </p:spTree>
    <p:extLst>
      <p:ext uri="{BB962C8B-B14F-4D97-AF65-F5344CB8AC3E}">
        <p14:creationId xmlns:p14="http://schemas.microsoft.com/office/powerpoint/2010/main" val="3265107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097977-A7F0-ADA7-2049-408D500E452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60BF41-7C4C-1DDE-B81B-8824DC99012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88A6AF-2529-7224-6E9C-C913C0B00A07}"/>
              </a:ext>
            </a:extLst>
          </p:cNvPr>
          <p:cNvSpPr>
            <a:spLocks noGrp="1"/>
          </p:cNvSpPr>
          <p:nvPr>
            <p:ph type="dt" sz="half" idx="10"/>
          </p:nvPr>
        </p:nvSpPr>
        <p:spPr/>
        <p:txBody>
          <a:bodyPr/>
          <a:lstStyle/>
          <a:p>
            <a:r>
              <a:rPr lang="en-IN"/>
              <a:t>16-09-2026</a:t>
            </a:r>
          </a:p>
        </p:txBody>
      </p:sp>
      <p:sp>
        <p:nvSpPr>
          <p:cNvPr id="5" name="Footer Placeholder 4">
            <a:extLst>
              <a:ext uri="{FF2B5EF4-FFF2-40B4-BE49-F238E27FC236}">
                <a16:creationId xmlns:a16="http://schemas.microsoft.com/office/drawing/2014/main" id="{A8CBE617-9873-E06C-C5E1-4C427BF131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471291-3E1C-019C-890D-236EB04B5BBB}"/>
              </a:ext>
            </a:extLst>
          </p:cNvPr>
          <p:cNvSpPr>
            <a:spLocks noGrp="1"/>
          </p:cNvSpPr>
          <p:nvPr>
            <p:ph type="sldNum" sz="quarter" idx="12"/>
          </p:nvPr>
        </p:nvSpPr>
        <p:spPr/>
        <p:txBody>
          <a:bodyPr/>
          <a:lstStyle/>
          <a:p>
            <a:fld id="{C019D452-4D13-45E6-A944-00A80B3269BB}" type="slidenum">
              <a:rPr lang="en-IN" smtClean="0"/>
              <a:t>‹#›</a:t>
            </a:fld>
            <a:endParaRPr lang="en-IN"/>
          </a:p>
        </p:txBody>
      </p:sp>
    </p:spTree>
    <p:extLst>
      <p:ext uri="{BB962C8B-B14F-4D97-AF65-F5344CB8AC3E}">
        <p14:creationId xmlns:p14="http://schemas.microsoft.com/office/powerpoint/2010/main" val="1406615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B1BDA6-66FC-289D-F9DD-45E1E24450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6B057AC-111B-2202-5121-9FF15EC058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DAA09C-F808-2D77-068A-2EED7B3EFB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IN"/>
              <a:t>16-09-2026</a:t>
            </a:r>
          </a:p>
        </p:txBody>
      </p:sp>
      <p:sp>
        <p:nvSpPr>
          <p:cNvPr id="5" name="Footer Placeholder 4">
            <a:extLst>
              <a:ext uri="{FF2B5EF4-FFF2-40B4-BE49-F238E27FC236}">
                <a16:creationId xmlns:a16="http://schemas.microsoft.com/office/drawing/2014/main" id="{D6143789-712E-4AB4-D356-CCCB49DE2A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12B9FED-82A4-38B1-440B-D2645C7F19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19D452-4D13-45E6-A944-00A80B3269BB}" type="slidenum">
              <a:rPr lang="en-IN" smtClean="0"/>
              <a:t>‹#›</a:t>
            </a:fld>
            <a:endParaRPr lang="en-IN"/>
          </a:p>
        </p:txBody>
      </p:sp>
    </p:spTree>
    <p:extLst>
      <p:ext uri="{BB962C8B-B14F-4D97-AF65-F5344CB8AC3E}">
        <p14:creationId xmlns:p14="http://schemas.microsoft.com/office/powerpoint/2010/main" val="29548945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0ECEA-11FF-806A-F422-A7409079B00B}"/>
              </a:ext>
            </a:extLst>
          </p:cNvPr>
          <p:cNvSpPr>
            <a:spLocks noGrp="1"/>
          </p:cNvSpPr>
          <p:nvPr>
            <p:ph type="ctrTitle"/>
          </p:nvPr>
        </p:nvSpPr>
        <p:spPr>
          <a:xfrm>
            <a:off x="774192" y="1176875"/>
            <a:ext cx="10634472" cy="4940809"/>
          </a:xfrm>
        </p:spPr>
        <p:txBody>
          <a:bodyPr>
            <a:normAutofit fontScale="90000"/>
          </a:bodyPr>
          <a:lstStyle/>
          <a:p>
            <a:br>
              <a:rPr lang="en-IN" sz="1600" b="1" dirty="0">
                <a:latin typeface="Times New Roman" panose="02020603050405020304" pitchFamily="18" charset="0"/>
                <a:cs typeface="Times New Roman" panose="02020603050405020304" pitchFamily="18" charset="0"/>
              </a:rPr>
            </a:br>
            <a:br>
              <a:rPr lang="en-IN" sz="1600" b="1" dirty="0">
                <a:latin typeface="Times New Roman" panose="02020603050405020304" pitchFamily="18" charset="0"/>
                <a:cs typeface="Times New Roman" panose="02020603050405020304" pitchFamily="18" charset="0"/>
              </a:rPr>
            </a:br>
            <a:r>
              <a:rPr lang="en-IN" sz="1600" b="1" dirty="0">
                <a:latin typeface="Times New Roman" panose="02020603050405020304" pitchFamily="18" charset="0"/>
                <a:cs typeface="Times New Roman" panose="02020603050405020304" pitchFamily="18" charset="0"/>
              </a:rPr>
              <a:t>A </a:t>
            </a:r>
            <a:br>
              <a:rPr lang="en-IN" sz="1600" b="1" dirty="0">
                <a:latin typeface="Times New Roman" panose="02020603050405020304" pitchFamily="18" charset="0"/>
                <a:cs typeface="Times New Roman" panose="02020603050405020304" pitchFamily="18" charset="0"/>
              </a:rPr>
            </a:br>
            <a:r>
              <a:rPr lang="en-IN" sz="1600" b="1" dirty="0">
                <a:latin typeface="Times New Roman" panose="02020603050405020304" pitchFamily="18" charset="0"/>
                <a:cs typeface="Times New Roman" panose="02020603050405020304" pitchFamily="18" charset="0"/>
              </a:rPr>
              <a:t>Project</a:t>
            </a:r>
            <a:br>
              <a:rPr lang="en-IN" sz="1600" b="1" dirty="0">
                <a:latin typeface="Times New Roman" panose="02020603050405020304" pitchFamily="18" charset="0"/>
                <a:cs typeface="Times New Roman" panose="02020603050405020304" pitchFamily="18" charset="0"/>
              </a:rPr>
            </a:br>
            <a:r>
              <a:rPr lang="en-IN" sz="1600" b="1" dirty="0">
                <a:latin typeface="Times New Roman" panose="02020603050405020304" pitchFamily="18" charset="0"/>
                <a:cs typeface="Times New Roman" panose="02020603050405020304" pitchFamily="18" charset="0"/>
              </a:rPr>
              <a:t>on</a:t>
            </a:r>
            <a:br>
              <a:rPr lang="en-IN" sz="1600" b="1" dirty="0">
                <a:latin typeface="Times New Roman" panose="02020603050405020304" pitchFamily="18" charset="0"/>
                <a:cs typeface="Times New Roman" panose="02020603050405020304" pitchFamily="18" charset="0"/>
              </a:rPr>
            </a:br>
            <a:br>
              <a:rPr lang="en-IN" sz="1600" b="1" dirty="0">
                <a:latin typeface="Times New Roman" panose="02020603050405020304" pitchFamily="18" charset="0"/>
                <a:cs typeface="Times New Roman" panose="02020603050405020304" pitchFamily="18" charset="0"/>
              </a:rPr>
            </a:br>
            <a:br>
              <a:rPr lang="en-IN" sz="1600" b="1" dirty="0">
                <a:latin typeface="Times New Roman" panose="02020603050405020304" pitchFamily="18" charset="0"/>
                <a:cs typeface="Times New Roman" panose="02020603050405020304" pitchFamily="18" charset="0"/>
              </a:rPr>
            </a:br>
            <a:r>
              <a:rPr lang="en-IN" sz="2200" b="1" dirty="0">
                <a:latin typeface="Times New Roman" panose="02020603050405020304" pitchFamily="18" charset="0"/>
                <a:cs typeface="Times New Roman" panose="02020603050405020304" pitchFamily="18" charset="0"/>
              </a:rPr>
              <a:t>“</a:t>
            </a:r>
            <a:r>
              <a:rPr lang="en-US" sz="2200" b="1" dirty="0">
                <a:latin typeface="Times New Roman" panose="02020603050405020304" pitchFamily="18" charset="0"/>
                <a:cs typeface="Times New Roman" panose="02020603050405020304" pitchFamily="18" charset="0"/>
              </a:rPr>
              <a:t>Probabilistic-ML Framework for Extreme Flood Prediction</a:t>
            </a:r>
            <a:r>
              <a:rPr lang="en-IN" sz="2000" b="1" dirty="0">
                <a:latin typeface="Times New Roman" panose="02020603050405020304" pitchFamily="18" charset="0"/>
                <a:cs typeface="Times New Roman" panose="02020603050405020304" pitchFamily="18" charset="0"/>
              </a:rPr>
              <a:t>”</a:t>
            </a:r>
            <a:br>
              <a:rPr lang="en-IN" sz="2000" b="1" dirty="0">
                <a:latin typeface="Times New Roman" panose="02020603050405020304" pitchFamily="18" charset="0"/>
                <a:cs typeface="Times New Roman" panose="02020603050405020304" pitchFamily="18" charset="0"/>
              </a:rPr>
            </a:br>
            <a:br>
              <a:rPr lang="en-IN" sz="2000" b="1"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prepared by</a:t>
            </a:r>
            <a:br>
              <a:rPr lang="en-IN" sz="1600" b="1" dirty="0">
                <a:latin typeface="Times New Roman" panose="02020603050405020304" pitchFamily="18" charset="0"/>
                <a:cs typeface="Times New Roman" panose="02020603050405020304" pitchFamily="18" charset="0"/>
              </a:rPr>
            </a:br>
            <a:br>
              <a:rPr lang="en-IN" sz="1600" b="1" dirty="0">
                <a:latin typeface="Times New Roman" panose="02020603050405020304" pitchFamily="18" charset="0"/>
                <a:cs typeface="Times New Roman" panose="02020603050405020304" pitchFamily="18" charset="0"/>
              </a:rPr>
            </a:br>
            <a:r>
              <a:rPr lang="en-IN" sz="2200" b="1" dirty="0">
                <a:latin typeface="Times New Roman" panose="02020603050405020304" pitchFamily="18" charset="0"/>
                <a:cs typeface="Times New Roman" panose="02020603050405020304" pitchFamily="18" charset="0"/>
              </a:rPr>
              <a:t>Soham Shinde </a:t>
            </a:r>
            <a:br>
              <a:rPr lang="en-IN" sz="2200" b="1" dirty="0">
                <a:latin typeface="Times New Roman" panose="02020603050405020304" pitchFamily="18" charset="0"/>
                <a:cs typeface="Times New Roman" panose="02020603050405020304" pitchFamily="18" charset="0"/>
              </a:rPr>
            </a:br>
            <a:r>
              <a:rPr lang="en-IN" sz="2200" b="1" dirty="0">
                <a:latin typeface="Times New Roman" panose="02020603050405020304" pitchFamily="18" charset="0"/>
                <a:cs typeface="Times New Roman" panose="02020603050405020304" pitchFamily="18" charset="0"/>
              </a:rPr>
              <a:t>Pratik </a:t>
            </a:r>
            <a:r>
              <a:rPr lang="en-IN" sz="2200" b="1" dirty="0" err="1">
                <a:latin typeface="Times New Roman" panose="02020603050405020304" pitchFamily="18" charset="0"/>
                <a:cs typeface="Times New Roman" panose="02020603050405020304" pitchFamily="18" charset="0"/>
              </a:rPr>
              <a:t>Thokal</a:t>
            </a:r>
            <a:r>
              <a:rPr lang="en-IN" sz="2200" b="1" dirty="0">
                <a:latin typeface="Times New Roman" panose="02020603050405020304" pitchFamily="18" charset="0"/>
                <a:cs typeface="Times New Roman" panose="02020603050405020304" pitchFamily="18" charset="0"/>
              </a:rPr>
              <a:t> </a:t>
            </a:r>
            <a:br>
              <a:rPr lang="en-IN" sz="2200" b="1" dirty="0">
                <a:latin typeface="Times New Roman" panose="02020603050405020304" pitchFamily="18" charset="0"/>
                <a:cs typeface="Times New Roman" panose="02020603050405020304" pitchFamily="18" charset="0"/>
              </a:rPr>
            </a:br>
            <a:r>
              <a:rPr lang="en-IN" sz="2200" b="1" dirty="0">
                <a:latin typeface="Times New Roman" panose="02020603050405020304" pitchFamily="18" charset="0"/>
                <a:cs typeface="Times New Roman" panose="02020603050405020304" pitchFamily="18" charset="0"/>
              </a:rPr>
              <a:t>Kedar </a:t>
            </a:r>
            <a:r>
              <a:rPr lang="en-IN" sz="2200" b="1" dirty="0" err="1">
                <a:latin typeface="Times New Roman" panose="02020603050405020304" pitchFamily="18" charset="0"/>
                <a:cs typeface="Times New Roman" panose="02020603050405020304" pitchFamily="18" charset="0"/>
              </a:rPr>
              <a:t>Bhasme</a:t>
            </a:r>
            <a:r>
              <a:rPr lang="en-IN" sz="2200" b="1" dirty="0">
                <a:latin typeface="Times New Roman" panose="02020603050405020304" pitchFamily="18" charset="0"/>
                <a:cs typeface="Times New Roman" panose="02020603050405020304" pitchFamily="18" charset="0"/>
              </a:rPr>
              <a:t> </a:t>
            </a:r>
            <a:br>
              <a:rPr lang="en-IN" sz="2200" b="1" dirty="0">
                <a:latin typeface="Times New Roman" panose="02020603050405020304" pitchFamily="18" charset="0"/>
                <a:cs typeface="Times New Roman" panose="02020603050405020304" pitchFamily="18" charset="0"/>
              </a:rPr>
            </a:br>
            <a:r>
              <a:rPr lang="en-IN" sz="2200" b="1" dirty="0">
                <a:latin typeface="Times New Roman" panose="02020603050405020304" pitchFamily="18" charset="0"/>
                <a:cs typeface="Times New Roman" panose="02020603050405020304" pitchFamily="18" charset="0"/>
              </a:rPr>
              <a:t>Harsh Patil </a:t>
            </a:r>
            <a:br>
              <a:rPr lang="en-IN" sz="22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                                                                                                                                                                </a:t>
            </a:r>
            <a:br>
              <a:rPr lang="en-IN" sz="2000" b="1" dirty="0">
                <a:latin typeface="Times New Roman" panose="02020603050405020304" pitchFamily="18" charset="0"/>
                <a:cs typeface="Times New Roman" panose="02020603050405020304" pitchFamily="18" charset="0"/>
              </a:rPr>
            </a:br>
            <a:br>
              <a:rPr lang="en-IN"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Dr. </a:t>
            </a:r>
            <a:r>
              <a:rPr lang="en-US" sz="2000" b="1" dirty="0" err="1">
                <a:latin typeface="Times New Roman" panose="02020603050405020304" pitchFamily="18" charset="0"/>
                <a:cs typeface="Times New Roman" panose="02020603050405020304" pitchFamily="18" charset="0"/>
              </a:rPr>
              <a:t>Vithalrao</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Vikhe</a:t>
            </a:r>
            <a:r>
              <a:rPr lang="en-US" sz="2000" b="1" dirty="0">
                <a:latin typeface="Times New Roman" panose="02020603050405020304" pitchFamily="18" charset="0"/>
                <a:cs typeface="Times New Roman" panose="02020603050405020304" pitchFamily="18" charset="0"/>
              </a:rPr>
              <a:t> Patil College of Engineering, </a:t>
            </a:r>
            <a:r>
              <a:rPr lang="en-US" sz="2000" b="1" dirty="0" err="1">
                <a:latin typeface="Times New Roman" panose="02020603050405020304" pitchFamily="18" charset="0"/>
                <a:cs typeface="Times New Roman" panose="02020603050405020304" pitchFamily="18" charset="0"/>
              </a:rPr>
              <a:t>Ahilayanagar</a:t>
            </a:r>
            <a:r>
              <a:rPr lang="en-US" sz="2000" b="1" dirty="0">
                <a:latin typeface="Times New Roman" panose="02020603050405020304" pitchFamily="18" charset="0"/>
                <a:cs typeface="Times New Roman" panose="02020603050405020304" pitchFamily="18" charset="0"/>
              </a:rPr>
              <a:t> </a:t>
            </a: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Department of Information Technology </a:t>
            </a: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Academic year: 2026-27</a:t>
            </a:r>
            <a:br>
              <a:rPr lang="en-IN" sz="2200" b="1" dirty="0">
                <a:latin typeface="Times New Roman" panose="02020603050405020304" pitchFamily="18" charset="0"/>
                <a:cs typeface="Times New Roman" panose="02020603050405020304" pitchFamily="18" charset="0"/>
              </a:rPr>
            </a:br>
            <a:br>
              <a:rPr lang="en-IN" sz="2200" b="1" dirty="0"/>
            </a:br>
            <a:endParaRPr lang="en-IN" sz="2200" dirty="0"/>
          </a:p>
        </p:txBody>
      </p:sp>
      <p:sp>
        <p:nvSpPr>
          <p:cNvPr id="3" name="TextBox 2">
            <a:extLst>
              <a:ext uri="{FF2B5EF4-FFF2-40B4-BE49-F238E27FC236}">
                <a16:creationId xmlns:a16="http://schemas.microsoft.com/office/drawing/2014/main" id="{906701E6-3969-0DD3-22A7-39467A625E2E}"/>
              </a:ext>
            </a:extLst>
          </p:cNvPr>
          <p:cNvSpPr txBox="1"/>
          <p:nvPr/>
        </p:nvSpPr>
        <p:spPr>
          <a:xfrm>
            <a:off x="1548384" y="6096474"/>
            <a:ext cx="1903445"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Dr. D. A. </a:t>
            </a:r>
            <a:r>
              <a:rPr lang="en-IN" b="1" dirty="0" err="1">
                <a:latin typeface="Times New Roman" panose="02020603050405020304" pitchFamily="18" charset="0"/>
                <a:cs typeface="Times New Roman" panose="02020603050405020304" pitchFamily="18" charset="0"/>
              </a:rPr>
              <a:t>Vidhate</a:t>
            </a: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01630FE-88B1-3B6B-D235-AB32AAB302F9}"/>
              </a:ext>
            </a:extLst>
          </p:cNvPr>
          <p:cNvSpPr txBox="1"/>
          <p:nvPr/>
        </p:nvSpPr>
        <p:spPr>
          <a:xfrm>
            <a:off x="8987305" y="6123543"/>
            <a:ext cx="1903445"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Prof. P. S. </a:t>
            </a:r>
            <a:r>
              <a:rPr lang="en-IN" b="1" dirty="0" err="1">
                <a:latin typeface="Times New Roman" panose="02020603050405020304" pitchFamily="18" charset="0"/>
                <a:cs typeface="Times New Roman" panose="02020603050405020304" pitchFamily="18" charset="0"/>
              </a:rPr>
              <a:t>Dolare</a:t>
            </a:r>
            <a:endParaRPr lang="en-IN" b="1"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A6FD24C2-79CB-7101-EECE-610A37EEBA45}"/>
              </a:ext>
            </a:extLst>
          </p:cNvPr>
          <p:cNvSpPr/>
          <p:nvPr/>
        </p:nvSpPr>
        <p:spPr>
          <a:xfrm>
            <a:off x="0" y="-16412"/>
            <a:ext cx="12192000" cy="1207692"/>
          </a:xfrm>
          <a:prstGeom prst="rect">
            <a:avLst/>
          </a:prstGeom>
          <a:solidFill>
            <a:schemeClr val="accent1">
              <a:lumMod val="60000"/>
              <a:lumOff val="40000"/>
            </a:schemeClr>
          </a:solidFill>
          <a:ln>
            <a:solidFill>
              <a:srgbClr val="1F29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6B9CE848-C3A7-8623-840A-B20E5048620C}"/>
              </a:ext>
            </a:extLst>
          </p:cNvPr>
          <p:cNvSpPr txBox="1"/>
          <p:nvPr/>
        </p:nvSpPr>
        <p:spPr>
          <a:xfrm>
            <a:off x="2380984" y="48280"/>
            <a:ext cx="8912602" cy="523220"/>
          </a:xfrm>
          <a:prstGeom prst="rect">
            <a:avLst/>
          </a:prstGeom>
          <a:noFill/>
        </p:spPr>
        <p:txBody>
          <a:bodyPr wrap="square" rtlCol="0">
            <a:spAutoFit/>
          </a:bodyPr>
          <a:lstStyle/>
          <a:p>
            <a:r>
              <a:rPr lang="en-IN" sz="2800" b="1" dirty="0">
                <a:solidFill>
                  <a:schemeClr val="bg2"/>
                </a:solidFill>
              </a:rPr>
              <a:t>Dr. </a:t>
            </a:r>
            <a:r>
              <a:rPr lang="en-IN" sz="2800" b="1" dirty="0" err="1">
                <a:solidFill>
                  <a:schemeClr val="bg2"/>
                </a:solidFill>
              </a:rPr>
              <a:t>Vithalrao</a:t>
            </a:r>
            <a:r>
              <a:rPr lang="en-IN" sz="2800" b="1" dirty="0">
                <a:solidFill>
                  <a:schemeClr val="bg2"/>
                </a:solidFill>
              </a:rPr>
              <a:t> </a:t>
            </a:r>
            <a:r>
              <a:rPr lang="en-IN" sz="2800" b="1" dirty="0" err="1">
                <a:solidFill>
                  <a:schemeClr val="bg2"/>
                </a:solidFill>
              </a:rPr>
              <a:t>Vikhe</a:t>
            </a:r>
            <a:r>
              <a:rPr lang="en-IN" sz="2800" b="1" dirty="0">
                <a:solidFill>
                  <a:schemeClr val="bg2"/>
                </a:solidFill>
              </a:rPr>
              <a:t> Patil College Of Engineering</a:t>
            </a:r>
          </a:p>
        </p:txBody>
      </p:sp>
      <p:sp>
        <p:nvSpPr>
          <p:cNvPr id="7" name="TextBox 6">
            <a:extLst>
              <a:ext uri="{FF2B5EF4-FFF2-40B4-BE49-F238E27FC236}">
                <a16:creationId xmlns:a16="http://schemas.microsoft.com/office/drawing/2014/main" id="{1E70E864-52C0-C242-3B80-B324147BCBBB}"/>
              </a:ext>
            </a:extLst>
          </p:cNvPr>
          <p:cNvSpPr txBox="1"/>
          <p:nvPr/>
        </p:nvSpPr>
        <p:spPr>
          <a:xfrm>
            <a:off x="4048365" y="495037"/>
            <a:ext cx="5577840" cy="369332"/>
          </a:xfrm>
          <a:prstGeom prst="rect">
            <a:avLst/>
          </a:prstGeom>
          <a:noFill/>
        </p:spPr>
        <p:txBody>
          <a:bodyPr wrap="square" rtlCol="0">
            <a:spAutoFit/>
          </a:bodyPr>
          <a:lstStyle/>
          <a:p>
            <a:r>
              <a:rPr lang="en-IN" dirty="0">
                <a:solidFill>
                  <a:schemeClr val="tx1">
                    <a:lumMod val="75000"/>
                    <a:lumOff val="25000"/>
                  </a:schemeClr>
                </a:solidFill>
              </a:rPr>
              <a:t>Department of Information Technology</a:t>
            </a:r>
          </a:p>
        </p:txBody>
      </p:sp>
      <p:pic>
        <p:nvPicPr>
          <p:cNvPr id="11" name="Picture 10">
            <a:extLst>
              <a:ext uri="{FF2B5EF4-FFF2-40B4-BE49-F238E27FC236}">
                <a16:creationId xmlns:a16="http://schemas.microsoft.com/office/drawing/2014/main" id="{B47B9B3C-D6E2-54CB-AB71-6A6292505668}"/>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2326" b="98140" l="3182" r="96364">
                        <a14:foregroundMark x1="36364" y1="24651" x2="36364" y2="24651"/>
                        <a14:foregroundMark x1="31364" y1="41860" x2="31364" y2="41860"/>
                        <a14:foregroundMark x1="34545" y1="6512" x2="34545" y2="6512"/>
                        <a14:foregroundMark x1="51818" y1="2326" x2="51818" y2="2326"/>
                        <a14:foregroundMark x1="90455" y1="38140" x2="90455" y2="38140"/>
                        <a14:foregroundMark x1="93182" y1="45581" x2="93182" y2="45581"/>
                        <a14:foregroundMark x1="95000" y1="55349" x2="95000" y2="55349"/>
                        <a14:foregroundMark x1="33182" y1="42791" x2="33182" y2="42791"/>
                        <a14:foregroundMark x1="49091" y1="51628" x2="49091" y2="51628"/>
                        <a14:foregroundMark x1="45455" y1="54419" x2="45455" y2="54419"/>
                        <a14:foregroundMark x1="56364" y1="56744" x2="56364" y2="56744"/>
                        <a14:foregroundMark x1="67727" y1="43721" x2="67727" y2="43721"/>
                        <a14:foregroundMark x1="60909" y1="35814" x2="60909" y2="35814"/>
                        <a14:foregroundMark x1="70455" y1="34419" x2="70455" y2="34419"/>
                        <a14:foregroundMark x1="45909" y1="18605" x2="45909" y2="18605"/>
                        <a14:foregroundMark x1="44545" y1="33953" x2="44545" y2="33953"/>
                        <a14:foregroundMark x1="43636" y1="27442" x2="43636" y2="27442"/>
                        <a14:foregroundMark x1="14091" y1="68372" x2="14091" y2="68372"/>
                        <a14:foregroundMark x1="16364" y1="76744" x2="16364" y2="76744"/>
                        <a14:foregroundMark x1="20455" y1="80000" x2="20455" y2="80000"/>
                        <a14:foregroundMark x1="3636" y1="66977" x2="3636" y2="66977"/>
                        <a14:foregroundMark x1="35909" y1="81860" x2="35909" y2="81860"/>
                        <a14:foregroundMark x1="69091" y1="82326" x2="69091" y2="82326"/>
                        <a14:foregroundMark x1="61364" y1="80465" x2="61364" y2="80465"/>
                        <a14:foregroundMark x1="62727" y1="80465" x2="62727" y2="80465"/>
                        <a14:foregroundMark x1="68182" y1="84186" x2="68182" y2="84186"/>
                        <a14:foregroundMark x1="82727" y1="78605" x2="82727" y2="78605"/>
                        <a14:foregroundMark x1="81364" y1="69302" x2="81364" y2="69302"/>
                        <a14:foregroundMark x1="87727" y1="69302" x2="87727" y2="69302"/>
                        <a14:foregroundMark x1="94091" y1="71163" x2="94091" y2="71163"/>
                        <a14:foregroundMark x1="96364" y1="67907" x2="96364" y2="67907"/>
                        <a14:foregroundMark x1="34545" y1="97209" x2="34545" y2="97209"/>
                        <a14:foregroundMark x1="40000" y1="97674" x2="40000" y2="97674"/>
                        <a14:foregroundMark x1="47273" y1="96744" x2="47273" y2="96744"/>
                        <a14:foregroundMark x1="45000" y1="94884" x2="45000" y2="94884"/>
                        <a14:foregroundMark x1="51818" y1="96279" x2="51818" y2="96279"/>
                        <a14:foregroundMark x1="56818" y1="96744" x2="56818" y2="96744"/>
                        <a14:foregroundMark x1="61818" y1="97209" x2="61818" y2="97209"/>
                        <a14:foregroundMark x1="65909" y1="98140" x2="65909" y2="98140"/>
                        <a14:foregroundMark x1="68182" y1="96744" x2="68182" y2="96744"/>
                        <a14:foregroundMark x1="65909" y1="94884" x2="65909" y2="94884"/>
                      </a14:backgroundRemoval>
                    </a14:imgEffect>
                  </a14:imgLayer>
                </a14:imgProps>
              </a:ext>
              <a:ext uri="{28A0092B-C50C-407E-A947-70E740481C1C}">
                <a14:useLocalDpi xmlns:a14="http://schemas.microsoft.com/office/drawing/2010/main" val="0"/>
              </a:ext>
            </a:extLst>
          </a:blip>
          <a:stretch>
            <a:fillRect/>
          </a:stretch>
        </p:blipFill>
        <p:spPr>
          <a:xfrm>
            <a:off x="10741662" y="0"/>
            <a:ext cx="1085371" cy="1060704"/>
          </a:xfrm>
          <a:prstGeom prst="rect">
            <a:avLst/>
          </a:prstGeom>
        </p:spPr>
      </p:pic>
      <p:pic>
        <p:nvPicPr>
          <p:cNvPr id="13" name="Picture 12">
            <a:extLst>
              <a:ext uri="{FF2B5EF4-FFF2-40B4-BE49-F238E27FC236}">
                <a16:creationId xmlns:a16="http://schemas.microsoft.com/office/drawing/2014/main" id="{9AF1B208-4477-58E8-B0BF-A04043E6ED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6412"/>
            <a:ext cx="1548384" cy="1151529"/>
          </a:xfrm>
          <a:prstGeom prst="rect">
            <a:avLst/>
          </a:prstGeom>
        </p:spPr>
      </p:pic>
      <p:sp>
        <p:nvSpPr>
          <p:cNvPr id="8" name="Date Placeholder 7">
            <a:extLst>
              <a:ext uri="{FF2B5EF4-FFF2-40B4-BE49-F238E27FC236}">
                <a16:creationId xmlns:a16="http://schemas.microsoft.com/office/drawing/2014/main" id="{80F94CB6-D6AA-39CF-316E-FFD08659EFF7}"/>
              </a:ext>
            </a:extLst>
          </p:cNvPr>
          <p:cNvSpPr>
            <a:spLocks noGrp="1"/>
          </p:cNvSpPr>
          <p:nvPr>
            <p:ph type="dt" sz="half" idx="10"/>
          </p:nvPr>
        </p:nvSpPr>
        <p:spPr>
          <a:xfrm>
            <a:off x="0" y="6492875"/>
            <a:ext cx="2743200" cy="365125"/>
          </a:xfrm>
        </p:spPr>
        <p:txBody>
          <a:bodyPr/>
          <a:lstStyle/>
          <a:p>
            <a:r>
              <a:rPr lang="en-IN" dirty="0"/>
              <a:t>16-09-2026</a:t>
            </a:r>
          </a:p>
        </p:txBody>
      </p:sp>
      <p:sp>
        <p:nvSpPr>
          <p:cNvPr id="9" name="Slide Number Placeholder 8">
            <a:extLst>
              <a:ext uri="{FF2B5EF4-FFF2-40B4-BE49-F238E27FC236}">
                <a16:creationId xmlns:a16="http://schemas.microsoft.com/office/drawing/2014/main" id="{9B92A530-4874-92B3-0C15-F3A9525B9FDF}"/>
              </a:ext>
            </a:extLst>
          </p:cNvPr>
          <p:cNvSpPr>
            <a:spLocks noGrp="1"/>
          </p:cNvSpPr>
          <p:nvPr>
            <p:ph type="sldNum" sz="quarter" idx="12"/>
          </p:nvPr>
        </p:nvSpPr>
        <p:spPr>
          <a:xfrm>
            <a:off x="9448800" y="6444595"/>
            <a:ext cx="2743200" cy="365125"/>
          </a:xfrm>
        </p:spPr>
        <p:txBody>
          <a:bodyPr/>
          <a:lstStyle/>
          <a:p>
            <a:fld id="{C019D452-4D13-45E6-A944-00A80B3269BB}" type="slidenum">
              <a:rPr lang="en-IN" smtClean="0"/>
              <a:t>1</a:t>
            </a:fld>
            <a:endParaRPr lang="en-IN" dirty="0"/>
          </a:p>
        </p:txBody>
      </p:sp>
      <p:sp>
        <p:nvSpPr>
          <p:cNvPr id="10" name="TextBox 9">
            <a:extLst>
              <a:ext uri="{FF2B5EF4-FFF2-40B4-BE49-F238E27FC236}">
                <a16:creationId xmlns:a16="http://schemas.microsoft.com/office/drawing/2014/main" id="{D4DF0B8A-CEDE-5294-1A8F-876B74500724}"/>
              </a:ext>
            </a:extLst>
          </p:cNvPr>
          <p:cNvSpPr txBox="1"/>
          <p:nvPr/>
        </p:nvSpPr>
        <p:spPr>
          <a:xfrm>
            <a:off x="1867956" y="5790110"/>
            <a:ext cx="1264299"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Guided by </a:t>
            </a:r>
          </a:p>
        </p:txBody>
      </p:sp>
      <p:sp>
        <p:nvSpPr>
          <p:cNvPr id="14" name="TextBox 13">
            <a:extLst>
              <a:ext uri="{FF2B5EF4-FFF2-40B4-BE49-F238E27FC236}">
                <a16:creationId xmlns:a16="http://schemas.microsoft.com/office/drawing/2014/main" id="{288CE60A-13A5-04CA-87EA-E937BD9BD4B2}"/>
              </a:ext>
            </a:extLst>
          </p:cNvPr>
          <p:cNvSpPr txBox="1"/>
          <p:nvPr/>
        </p:nvSpPr>
        <p:spPr>
          <a:xfrm>
            <a:off x="9188365" y="5790110"/>
            <a:ext cx="1501327"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Reviewed by </a:t>
            </a:r>
          </a:p>
        </p:txBody>
      </p:sp>
    </p:spTree>
    <p:extLst>
      <p:ext uri="{BB962C8B-B14F-4D97-AF65-F5344CB8AC3E}">
        <p14:creationId xmlns:p14="http://schemas.microsoft.com/office/powerpoint/2010/main" val="9166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8872F-DC61-E7D0-889E-7416DAA800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8DD300-8221-E634-9CAD-BC2B81B1BC09}"/>
              </a:ext>
            </a:extLst>
          </p:cNvPr>
          <p:cNvSpPr>
            <a:spLocks noGrp="1"/>
          </p:cNvSpPr>
          <p:nvPr>
            <p:ph type="title"/>
          </p:nvPr>
        </p:nvSpPr>
        <p:spPr>
          <a:xfrm>
            <a:off x="0" y="265176"/>
            <a:ext cx="12192000" cy="877825"/>
          </a:xfrm>
          <a:solidFill>
            <a:srgbClr val="1F4E79"/>
          </a:solidFill>
        </p:spPr>
        <p:txBody>
          <a:bodyPr>
            <a:normAutofit/>
          </a:bodyPr>
          <a:lstStyle/>
          <a:p>
            <a:r>
              <a:rPr lang="en-IN" dirty="0">
                <a:solidFill>
                  <a:schemeClr val="bg2"/>
                </a:solidFill>
                <a:latin typeface="Times New Roman" panose="02020603050405020304" pitchFamily="18" charset="0"/>
                <a:cs typeface="Times New Roman" panose="02020603050405020304" pitchFamily="18" charset="0"/>
              </a:rPr>
              <a:t>Index</a:t>
            </a:r>
          </a:p>
        </p:txBody>
      </p:sp>
      <p:sp>
        <p:nvSpPr>
          <p:cNvPr id="3" name="Content Placeholder 2">
            <a:extLst>
              <a:ext uri="{FF2B5EF4-FFF2-40B4-BE49-F238E27FC236}">
                <a16:creationId xmlns:a16="http://schemas.microsoft.com/office/drawing/2014/main" id="{6C1AD8C5-4F15-2BC9-81BE-8BF1DF6B6DCF}"/>
              </a:ext>
            </a:extLst>
          </p:cNvPr>
          <p:cNvSpPr>
            <a:spLocks noGrp="1"/>
          </p:cNvSpPr>
          <p:nvPr>
            <p:ph idx="1"/>
          </p:nvPr>
        </p:nvSpPr>
        <p:spPr>
          <a:xfrm>
            <a:off x="118872" y="1051560"/>
            <a:ext cx="12192000" cy="4915091"/>
          </a:xfrm>
        </p:spPr>
        <p:txBody>
          <a:bodyPr>
            <a:normAutofit fontScale="77500" lnSpcReduction="20000"/>
          </a:bodyPr>
          <a:lstStyle/>
          <a:p>
            <a:pPr marL="0" lvl="0" indent="0">
              <a:buNone/>
            </a:pPr>
            <a:r>
              <a:rPr lang="en-IN" dirty="0">
                <a:latin typeface="Times New Roman" panose="02020603050405020304" pitchFamily="18" charset="0"/>
                <a:cs typeface="Times New Roman" panose="02020603050405020304" pitchFamily="18" charset="0"/>
              </a:rPr>
              <a:t>                 </a:t>
            </a:r>
          </a:p>
          <a:p>
            <a:pPr marL="514350" lvl="0" indent="-514350">
              <a:buFont typeface="+mj-lt"/>
              <a:buAutoNum type="arabicParenR"/>
            </a:pPr>
            <a:r>
              <a:rPr lang="en-IN" dirty="0">
                <a:latin typeface="Times New Roman" panose="02020603050405020304" pitchFamily="18" charset="0"/>
                <a:cs typeface="Times New Roman" panose="02020603050405020304" pitchFamily="18" charset="0"/>
              </a:rPr>
              <a:t>Introduction</a:t>
            </a:r>
          </a:p>
          <a:p>
            <a:pPr marL="514350" lvl="0" indent="-514350">
              <a:buFont typeface="+mj-lt"/>
              <a:buAutoNum type="arabicParenR"/>
            </a:pPr>
            <a:r>
              <a:rPr lang="en-IN" dirty="0">
                <a:latin typeface="Times New Roman" panose="02020603050405020304" pitchFamily="18" charset="0"/>
                <a:cs typeface="Times New Roman" panose="02020603050405020304" pitchFamily="18" charset="0"/>
              </a:rPr>
              <a:t>Abstract</a:t>
            </a:r>
          </a:p>
          <a:p>
            <a:pPr marL="514350" lvl="0" indent="-514350">
              <a:buFont typeface="+mj-lt"/>
              <a:buAutoNum type="arabicParenR"/>
            </a:pPr>
            <a:r>
              <a:rPr lang="en-IN" dirty="0">
                <a:latin typeface="Times New Roman" panose="02020603050405020304" pitchFamily="18" charset="0"/>
                <a:cs typeface="Times New Roman" panose="02020603050405020304" pitchFamily="18" charset="0"/>
              </a:rPr>
              <a:t>Purpose, Scope &amp; Objectives</a:t>
            </a:r>
          </a:p>
          <a:p>
            <a:pPr marL="514350" lvl="0" indent="-514350">
              <a:buFont typeface="+mj-lt"/>
              <a:buAutoNum type="arabicParenR"/>
            </a:pPr>
            <a:r>
              <a:rPr lang="en-IN" dirty="0">
                <a:latin typeface="Times New Roman" panose="02020603050405020304" pitchFamily="18" charset="0"/>
                <a:cs typeface="Times New Roman" panose="02020603050405020304" pitchFamily="18" charset="0"/>
              </a:rPr>
              <a:t>Literature Survey</a:t>
            </a:r>
          </a:p>
          <a:p>
            <a:pPr marL="514350" lvl="0" indent="-514350">
              <a:buFont typeface="+mj-lt"/>
              <a:buAutoNum type="arabicParenR"/>
            </a:pPr>
            <a:r>
              <a:rPr lang="en-IN" dirty="0">
                <a:latin typeface="Times New Roman" panose="02020603050405020304" pitchFamily="18" charset="0"/>
                <a:cs typeface="Times New Roman" panose="02020603050405020304" pitchFamily="18" charset="0"/>
              </a:rPr>
              <a:t>Problem Statement</a:t>
            </a:r>
          </a:p>
          <a:p>
            <a:pPr marL="514350" lvl="0" indent="-514350">
              <a:buFont typeface="+mj-lt"/>
              <a:buAutoNum type="arabicParenR"/>
            </a:pPr>
            <a:r>
              <a:rPr lang="en-IN" dirty="0">
                <a:latin typeface="Times New Roman" panose="02020603050405020304" pitchFamily="18" charset="0"/>
                <a:cs typeface="Times New Roman" panose="02020603050405020304" pitchFamily="18" charset="0"/>
              </a:rPr>
              <a:t>Proposed System</a:t>
            </a:r>
          </a:p>
          <a:p>
            <a:pPr marL="514350" lvl="0" indent="-514350">
              <a:buFont typeface="+mj-lt"/>
              <a:buAutoNum type="arabicParenR"/>
            </a:pPr>
            <a:r>
              <a:rPr lang="en-IN" dirty="0">
                <a:latin typeface="Times New Roman" panose="02020603050405020304" pitchFamily="18" charset="0"/>
                <a:cs typeface="Times New Roman" panose="02020603050405020304" pitchFamily="18" charset="0"/>
              </a:rPr>
              <a:t>System Architecture </a:t>
            </a:r>
          </a:p>
          <a:p>
            <a:pPr marL="514350" lvl="0" indent="-514350">
              <a:buFont typeface="+mj-lt"/>
              <a:buAutoNum type="arabicParenR"/>
            </a:pPr>
            <a:r>
              <a:rPr lang="en-IN" dirty="0">
                <a:latin typeface="Times New Roman" panose="02020603050405020304" pitchFamily="18" charset="0"/>
                <a:cs typeface="Times New Roman" panose="02020603050405020304" pitchFamily="18" charset="0"/>
              </a:rPr>
              <a:t>Proposed Architecture </a:t>
            </a:r>
          </a:p>
          <a:p>
            <a:pPr marL="514350" lvl="0" indent="-514350">
              <a:buFont typeface="+mj-lt"/>
              <a:buAutoNum type="arabicParenR"/>
            </a:pPr>
            <a:r>
              <a:rPr lang="en-IN" dirty="0">
                <a:latin typeface="Times New Roman" panose="02020603050405020304" pitchFamily="18" charset="0"/>
                <a:cs typeface="Times New Roman" panose="02020603050405020304" pitchFamily="18" charset="0"/>
              </a:rPr>
              <a:t>DFD (level 0, level1)</a:t>
            </a:r>
          </a:p>
          <a:p>
            <a:pPr marL="514350" lvl="0" indent="-514350">
              <a:buFont typeface="+mj-lt"/>
              <a:buAutoNum type="arabicParenR"/>
            </a:pPr>
            <a:r>
              <a:rPr lang="en-IN" dirty="0">
                <a:latin typeface="Times New Roman" panose="02020603050405020304" pitchFamily="18" charset="0"/>
                <a:cs typeface="Times New Roman" panose="02020603050405020304" pitchFamily="18" charset="0"/>
              </a:rPr>
              <a:t>ER Diagram</a:t>
            </a:r>
          </a:p>
          <a:p>
            <a:pPr marL="514350" lvl="0" indent="-514350">
              <a:buFont typeface="+mj-lt"/>
              <a:buAutoNum type="arabicParenR"/>
            </a:pPr>
            <a:r>
              <a:rPr lang="en-IN" dirty="0">
                <a:latin typeface="Times New Roman" panose="02020603050405020304" pitchFamily="18" charset="0"/>
                <a:cs typeface="Times New Roman" panose="02020603050405020304" pitchFamily="18" charset="0"/>
              </a:rPr>
              <a:t>Class Diagram</a:t>
            </a:r>
          </a:p>
          <a:p>
            <a:pPr marL="514350" lvl="0" indent="-514350">
              <a:buFont typeface="+mj-lt"/>
              <a:buAutoNum type="arabicParenR"/>
            </a:pPr>
            <a:r>
              <a:rPr lang="en-IN" dirty="0">
                <a:latin typeface="Times New Roman" panose="02020603050405020304" pitchFamily="18" charset="0"/>
                <a:cs typeface="Times New Roman" panose="02020603050405020304" pitchFamily="18" charset="0"/>
              </a:rPr>
              <a:t>Use Case Diagram </a:t>
            </a:r>
          </a:p>
          <a:p>
            <a:pPr marL="514350" lvl="0" indent="-514350">
              <a:buFont typeface="+mj-lt"/>
              <a:buAutoNum type="arabicParenR"/>
            </a:pPr>
            <a:endParaRPr lang="en-IN" dirty="0">
              <a:latin typeface="Times New Roman" panose="02020603050405020304" pitchFamily="18" charset="0"/>
              <a:cs typeface="Times New Roman" panose="02020603050405020304" pitchFamily="18" charset="0"/>
            </a:endParaRPr>
          </a:p>
          <a:p>
            <a:pPr marL="514350" lvl="0" indent="-514350">
              <a:buFont typeface="+mj-lt"/>
              <a:buAutoNum type="arabicParenR"/>
            </a:pPr>
            <a:endParaRPr lang="en-IN" dirty="0">
              <a:latin typeface="Times New Roman" panose="02020603050405020304" pitchFamily="18" charset="0"/>
              <a:cs typeface="Times New Roman" panose="02020603050405020304" pitchFamily="18" charset="0"/>
            </a:endParaRPr>
          </a:p>
          <a:p>
            <a:pPr marL="514350" lvl="0" indent="-514350">
              <a:buFont typeface="+mj-lt"/>
              <a:buAutoNum type="arabicParenR"/>
            </a:pP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8133879-728B-B8D5-0A2A-952B8CB96490}"/>
              </a:ext>
            </a:extLst>
          </p:cNvPr>
          <p:cNvSpPr>
            <a:spLocks noGrp="1"/>
          </p:cNvSpPr>
          <p:nvPr>
            <p:ph type="dt" sz="half" idx="10"/>
          </p:nvPr>
        </p:nvSpPr>
        <p:spPr>
          <a:xfrm>
            <a:off x="0" y="6475857"/>
            <a:ext cx="2743200" cy="365125"/>
          </a:xfrm>
        </p:spPr>
        <p:txBody>
          <a:bodyPr/>
          <a:lstStyle/>
          <a:p>
            <a:r>
              <a:rPr lang="en-IN" dirty="0"/>
              <a:t>16-09-2026</a:t>
            </a:r>
          </a:p>
        </p:txBody>
      </p:sp>
      <p:sp>
        <p:nvSpPr>
          <p:cNvPr id="5" name="Slide Number Placeholder 4">
            <a:extLst>
              <a:ext uri="{FF2B5EF4-FFF2-40B4-BE49-F238E27FC236}">
                <a16:creationId xmlns:a16="http://schemas.microsoft.com/office/drawing/2014/main" id="{4BA78C24-C92A-748F-1CFE-C299233D3737}"/>
              </a:ext>
            </a:extLst>
          </p:cNvPr>
          <p:cNvSpPr>
            <a:spLocks noGrp="1"/>
          </p:cNvSpPr>
          <p:nvPr>
            <p:ph type="sldNum" sz="quarter" idx="12"/>
          </p:nvPr>
        </p:nvSpPr>
        <p:spPr>
          <a:xfrm>
            <a:off x="9448800" y="6475857"/>
            <a:ext cx="2743200" cy="365125"/>
          </a:xfrm>
        </p:spPr>
        <p:txBody>
          <a:bodyPr/>
          <a:lstStyle/>
          <a:p>
            <a:fld id="{C019D452-4D13-45E6-A944-00A80B3269BB}" type="slidenum">
              <a:rPr lang="en-IN" smtClean="0"/>
              <a:t>2</a:t>
            </a:fld>
            <a:endParaRPr lang="en-IN"/>
          </a:p>
        </p:txBody>
      </p:sp>
      <p:sp>
        <p:nvSpPr>
          <p:cNvPr id="6" name="TextBox 5">
            <a:extLst>
              <a:ext uri="{FF2B5EF4-FFF2-40B4-BE49-F238E27FC236}">
                <a16:creationId xmlns:a16="http://schemas.microsoft.com/office/drawing/2014/main" id="{155A7FF0-92EF-CEDC-B46B-AF9C3F70B771}"/>
              </a:ext>
            </a:extLst>
          </p:cNvPr>
          <p:cNvSpPr txBox="1"/>
          <p:nvPr/>
        </p:nvSpPr>
        <p:spPr>
          <a:xfrm>
            <a:off x="6214872" y="1222081"/>
            <a:ext cx="5791200" cy="2677656"/>
          </a:xfrm>
          <a:prstGeom prst="rect">
            <a:avLst/>
          </a:prstGeom>
          <a:noFill/>
        </p:spPr>
        <p:txBody>
          <a:bodyPr wrap="square" rtlCol="0">
            <a:spAutoFit/>
          </a:bodyPr>
          <a:lstStyle/>
          <a:p>
            <a:pPr marL="342900" indent="-342900">
              <a:buAutoNum type="arabicParenR" startAt="13"/>
            </a:pPr>
            <a:r>
              <a:rPr lang="en-IN" sz="2200" dirty="0">
                <a:latin typeface="Times New Roman" panose="02020603050405020304" pitchFamily="18" charset="0"/>
                <a:cs typeface="Times New Roman" panose="02020603050405020304" pitchFamily="18" charset="0"/>
              </a:rPr>
              <a:t>  Activity Diagram</a:t>
            </a:r>
          </a:p>
          <a:p>
            <a:r>
              <a:rPr lang="en-IN" sz="2200" dirty="0">
                <a:latin typeface="Times New Roman" panose="02020603050405020304" pitchFamily="18" charset="0"/>
                <a:cs typeface="Times New Roman" panose="02020603050405020304" pitchFamily="18" charset="0"/>
              </a:rPr>
              <a:t>14)  State Diagram</a:t>
            </a:r>
          </a:p>
          <a:p>
            <a:r>
              <a:rPr lang="en-IN" sz="2200" dirty="0">
                <a:latin typeface="Times New Roman" panose="02020603050405020304" pitchFamily="18" charset="0"/>
                <a:cs typeface="Times New Roman" panose="02020603050405020304" pitchFamily="18" charset="0"/>
              </a:rPr>
              <a:t>15)  Deployment Diagram </a:t>
            </a:r>
          </a:p>
          <a:p>
            <a:r>
              <a:rPr lang="en-IN" sz="2200" dirty="0">
                <a:latin typeface="Times New Roman" panose="02020603050405020304" pitchFamily="18" charset="0"/>
                <a:cs typeface="Times New Roman" panose="02020603050405020304" pitchFamily="18" charset="0"/>
              </a:rPr>
              <a:t>16)  Results</a:t>
            </a:r>
          </a:p>
          <a:p>
            <a:r>
              <a:rPr lang="en-IN" sz="2200" dirty="0">
                <a:latin typeface="Times New Roman" panose="02020603050405020304" pitchFamily="18" charset="0"/>
                <a:cs typeface="Times New Roman" panose="02020603050405020304" pitchFamily="18" charset="0"/>
              </a:rPr>
              <a:t>17)  System Requirements </a:t>
            </a:r>
          </a:p>
          <a:p>
            <a:r>
              <a:rPr lang="en-IN" sz="2200" dirty="0">
                <a:latin typeface="Times New Roman" panose="02020603050405020304" pitchFamily="18" charset="0"/>
                <a:cs typeface="Times New Roman" panose="02020603050405020304" pitchFamily="18" charset="0"/>
              </a:rPr>
              <a:t>18)  Conclusion</a:t>
            </a:r>
          </a:p>
          <a:p>
            <a:pPr marL="342900" indent="-342900">
              <a:buAutoNum type="arabicParenR" startAt="13"/>
            </a:pPr>
            <a:endParaRPr lang="en-IN" dirty="0"/>
          </a:p>
          <a:p>
            <a:pPr marL="342900" indent="-342900">
              <a:buFont typeface="+mj-lt"/>
              <a:buAutoNum type="arabicParenR"/>
            </a:pPr>
            <a:endParaRPr lang="en-IN" dirty="0"/>
          </a:p>
        </p:txBody>
      </p:sp>
    </p:spTree>
    <p:extLst>
      <p:ext uri="{BB962C8B-B14F-4D97-AF65-F5344CB8AC3E}">
        <p14:creationId xmlns:p14="http://schemas.microsoft.com/office/powerpoint/2010/main" val="2326646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F9CEB-EB0E-2F5C-FF65-FCB11B9D6A2A}"/>
              </a:ext>
            </a:extLst>
          </p:cNvPr>
          <p:cNvSpPr>
            <a:spLocks noGrp="1"/>
          </p:cNvSpPr>
          <p:nvPr>
            <p:ph type="title"/>
          </p:nvPr>
        </p:nvSpPr>
        <p:spPr>
          <a:xfrm>
            <a:off x="0" y="265176"/>
            <a:ext cx="12192000" cy="877825"/>
          </a:xfrm>
          <a:solidFill>
            <a:srgbClr val="1F4E79"/>
          </a:solidFill>
        </p:spPr>
        <p:txBody>
          <a:bodyPr>
            <a:normAutofit fontScale="90000"/>
          </a:bodyPr>
          <a:lstStyle/>
          <a:p>
            <a:br>
              <a:rPr lang="en-IN" b="1" dirty="0"/>
            </a:br>
            <a:r>
              <a:rPr lang="en-IN" b="1" dirty="0">
                <a:solidFill>
                  <a:schemeClr val="bg1"/>
                </a:solidFill>
                <a:latin typeface="Times New Roman" panose="02020603050405020304" pitchFamily="18" charset="0"/>
                <a:cs typeface="Times New Roman" panose="02020603050405020304" pitchFamily="18" charset="0"/>
              </a:rPr>
              <a:t>Introduction</a:t>
            </a:r>
            <a:br>
              <a:rPr lang="en-IN" b="1" dirty="0">
                <a:effectLst/>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6B26665-CADE-7B29-24DF-53A92F7A11FD}"/>
              </a:ext>
            </a:extLst>
          </p:cNvPr>
          <p:cNvSpPr>
            <a:spLocks noGrp="1"/>
          </p:cNvSpPr>
          <p:nvPr>
            <p:ph idx="1"/>
          </p:nvPr>
        </p:nvSpPr>
        <p:spPr>
          <a:xfrm>
            <a:off x="0" y="1307592"/>
            <a:ext cx="12192000" cy="4915091"/>
          </a:xfrm>
        </p:spPr>
        <p:txBody>
          <a:bodyPr/>
          <a:lstStyle/>
          <a:p>
            <a:pPr lvl="0" algn="just"/>
            <a:r>
              <a:rPr lang="en-IN" b="1" dirty="0">
                <a:latin typeface="Times New Roman" panose="02020603050405020304" pitchFamily="18" charset="0"/>
                <a:cs typeface="Times New Roman" panose="02020603050405020304" pitchFamily="18" charset="0"/>
              </a:rPr>
              <a:t>Floods are major natural disasters</a:t>
            </a:r>
            <a:r>
              <a:rPr lang="en-IN" dirty="0">
                <a:latin typeface="Times New Roman" panose="02020603050405020304" pitchFamily="18" charset="0"/>
                <a:cs typeface="Times New Roman" panose="02020603050405020304" pitchFamily="18" charset="0"/>
              </a:rPr>
              <a:t> that cause significant loss of life, infrastructure, and economic resources. </a:t>
            </a:r>
          </a:p>
          <a:p>
            <a:pPr lvl="0" algn="just"/>
            <a:r>
              <a:rPr lang="en-IN" b="1" dirty="0">
                <a:latin typeface="Times New Roman" panose="02020603050405020304" pitchFamily="18" charset="0"/>
                <a:cs typeface="Times New Roman" panose="02020603050405020304" pitchFamily="18" charset="0"/>
              </a:rPr>
              <a:t>Existing flood-risk assessment methods</a:t>
            </a:r>
            <a:r>
              <a:rPr lang="en-IN" dirty="0">
                <a:latin typeface="Times New Roman" panose="02020603050405020304" pitchFamily="18" charset="0"/>
                <a:cs typeface="Times New Roman" panose="02020603050405020304" pitchFamily="18" charset="0"/>
              </a:rPr>
              <a:t> generally use statistical analysis or machine learning techniques independently. </a:t>
            </a:r>
          </a:p>
          <a:p>
            <a:pPr lvl="0" algn="just"/>
            <a:r>
              <a:rPr lang="en-IN" b="1" dirty="0">
                <a:latin typeface="Times New Roman" panose="02020603050405020304" pitchFamily="18" charset="0"/>
                <a:cs typeface="Times New Roman" panose="02020603050405020304" pitchFamily="18" charset="0"/>
              </a:rPr>
              <a:t>Individual models have their own limitations and biases</a:t>
            </a:r>
            <a:r>
              <a:rPr lang="en-IN" dirty="0">
                <a:latin typeface="Times New Roman" panose="02020603050405020304" pitchFamily="18" charset="0"/>
                <a:cs typeface="Times New Roman" panose="02020603050405020304" pitchFamily="18" charset="0"/>
              </a:rPr>
              <a:t>, which can affect flood-risk prediction. </a:t>
            </a:r>
          </a:p>
          <a:p>
            <a:pPr lvl="0" algn="just"/>
            <a:r>
              <a:rPr lang="en-IN" b="1" dirty="0">
                <a:latin typeface="Times New Roman" panose="02020603050405020304" pitchFamily="18" charset="0"/>
                <a:cs typeface="Times New Roman" panose="02020603050405020304" pitchFamily="18" charset="0"/>
              </a:rPr>
              <a:t>Combining multiple approaches</a:t>
            </a:r>
            <a:r>
              <a:rPr lang="en-IN" dirty="0">
                <a:latin typeface="Times New Roman" panose="02020603050405020304" pitchFamily="18" charset="0"/>
                <a:cs typeface="Times New Roman" panose="02020603050405020304" pitchFamily="18" charset="0"/>
              </a:rPr>
              <a:t> can provide a more reliable assessment of extreme flood risk. </a:t>
            </a:r>
          </a:p>
          <a:p>
            <a:pPr lvl="0" algn="just"/>
            <a:r>
              <a:rPr lang="en-IN" b="1" dirty="0">
                <a:latin typeface="Times New Roman" panose="02020603050405020304" pitchFamily="18" charset="0"/>
                <a:cs typeface="Times New Roman" panose="02020603050405020304" pitchFamily="18" charset="0"/>
              </a:rPr>
              <a:t>The proposed system integrates statistical methods with machine learning techniques</a:t>
            </a:r>
            <a:r>
              <a:rPr lang="en-IN" dirty="0">
                <a:latin typeface="Times New Roman" panose="02020603050405020304" pitchFamily="18" charset="0"/>
                <a:cs typeface="Times New Roman" panose="02020603050405020304" pitchFamily="18" charset="0"/>
              </a:rPr>
              <a:t> to improve flood-risk assessment and support decision-making.</a:t>
            </a:r>
          </a:p>
        </p:txBody>
      </p:sp>
      <p:sp>
        <p:nvSpPr>
          <p:cNvPr id="4" name="Date Placeholder 3">
            <a:extLst>
              <a:ext uri="{FF2B5EF4-FFF2-40B4-BE49-F238E27FC236}">
                <a16:creationId xmlns:a16="http://schemas.microsoft.com/office/drawing/2014/main" id="{E71B0C43-3DD9-A2CA-A42A-8CF8452C92F0}"/>
              </a:ext>
            </a:extLst>
          </p:cNvPr>
          <p:cNvSpPr>
            <a:spLocks noGrp="1"/>
          </p:cNvSpPr>
          <p:nvPr>
            <p:ph type="dt" sz="half" idx="10"/>
          </p:nvPr>
        </p:nvSpPr>
        <p:spPr>
          <a:xfrm>
            <a:off x="0" y="6492875"/>
            <a:ext cx="2743200" cy="365125"/>
          </a:xfrm>
        </p:spPr>
        <p:txBody>
          <a:bodyPr/>
          <a:lstStyle/>
          <a:p>
            <a:r>
              <a:rPr lang="en-IN"/>
              <a:t>16-09-2026</a:t>
            </a:r>
          </a:p>
        </p:txBody>
      </p:sp>
      <p:sp>
        <p:nvSpPr>
          <p:cNvPr id="5" name="Slide Number Placeholder 4">
            <a:extLst>
              <a:ext uri="{FF2B5EF4-FFF2-40B4-BE49-F238E27FC236}">
                <a16:creationId xmlns:a16="http://schemas.microsoft.com/office/drawing/2014/main" id="{E51D1212-29FB-38D4-1A7C-283BDE1D257E}"/>
              </a:ext>
            </a:extLst>
          </p:cNvPr>
          <p:cNvSpPr>
            <a:spLocks noGrp="1"/>
          </p:cNvSpPr>
          <p:nvPr>
            <p:ph type="sldNum" sz="quarter" idx="12"/>
          </p:nvPr>
        </p:nvSpPr>
        <p:spPr>
          <a:xfrm>
            <a:off x="9448800" y="6492875"/>
            <a:ext cx="2743200" cy="365125"/>
          </a:xfrm>
        </p:spPr>
        <p:txBody>
          <a:bodyPr/>
          <a:lstStyle/>
          <a:p>
            <a:fld id="{C019D452-4D13-45E6-A944-00A80B3269BB}" type="slidenum">
              <a:rPr lang="en-IN" smtClean="0"/>
              <a:t>3</a:t>
            </a:fld>
            <a:endParaRPr lang="en-IN"/>
          </a:p>
        </p:txBody>
      </p:sp>
    </p:spTree>
    <p:extLst>
      <p:ext uri="{BB962C8B-B14F-4D97-AF65-F5344CB8AC3E}">
        <p14:creationId xmlns:p14="http://schemas.microsoft.com/office/powerpoint/2010/main" val="2463260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CB699-A486-FBAA-B285-A1F429D019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8B84D6-54B0-5B57-54BA-9E3AC2F8849C}"/>
              </a:ext>
            </a:extLst>
          </p:cNvPr>
          <p:cNvSpPr>
            <a:spLocks noGrp="1"/>
          </p:cNvSpPr>
          <p:nvPr>
            <p:ph type="title"/>
          </p:nvPr>
        </p:nvSpPr>
        <p:spPr>
          <a:xfrm>
            <a:off x="0" y="265176"/>
            <a:ext cx="12192000" cy="877825"/>
          </a:xfrm>
          <a:solidFill>
            <a:srgbClr val="1F4E79"/>
          </a:solidFill>
        </p:spPr>
        <p:txBody>
          <a:bodyPr>
            <a:normAutofit fontScale="90000"/>
          </a:bodyPr>
          <a:lstStyle/>
          <a:p>
            <a:br>
              <a:rPr lang="en-IN" b="1" dirty="0"/>
            </a:br>
            <a:br>
              <a:rPr lang="en-IN" b="1" dirty="0"/>
            </a:br>
            <a:r>
              <a:rPr lang="en-IN" b="1" dirty="0">
                <a:solidFill>
                  <a:schemeClr val="bg1"/>
                </a:solidFill>
                <a:latin typeface="Times New Roman" panose="02020603050405020304" pitchFamily="18" charset="0"/>
                <a:cs typeface="Times New Roman" panose="02020603050405020304" pitchFamily="18" charset="0"/>
              </a:rPr>
              <a:t>Abstract</a:t>
            </a:r>
            <a:br>
              <a:rPr lang="en-IN" b="1" dirty="0">
                <a:effectLst/>
              </a:rPr>
            </a:br>
            <a:br>
              <a:rPr lang="en-IN" b="1" dirty="0">
                <a:effectLst/>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B398DA9-7C40-28F1-6C17-B86F7EAF7000}"/>
              </a:ext>
            </a:extLst>
          </p:cNvPr>
          <p:cNvSpPr>
            <a:spLocks noGrp="1"/>
          </p:cNvSpPr>
          <p:nvPr>
            <p:ph idx="1"/>
          </p:nvPr>
        </p:nvSpPr>
        <p:spPr>
          <a:xfrm>
            <a:off x="0" y="1307592"/>
            <a:ext cx="12192000" cy="4915091"/>
          </a:xfrm>
        </p:spPr>
        <p:txBody>
          <a:bodyPr>
            <a:normAutofit/>
          </a:bodyPr>
          <a:lstStyle/>
          <a:p>
            <a:pPr lvl="0" algn="just"/>
            <a:r>
              <a:rPr lang="en-IN" dirty="0">
                <a:latin typeface="Times New Roman" panose="02020603050405020304" pitchFamily="18" charset="0"/>
                <a:cs typeface="Times New Roman" panose="02020603050405020304" pitchFamily="18" charset="0"/>
              </a:rPr>
              <a:t>The proposed system assesses </a:t>
            </a:r>
            <a:r>
              <a:rPr lang="en-IN" b="1" dirty="0">
                <a:latin typeface="Times New Roman" panose="02020603050405020304" pitchFamily="18" charset="0"/>
                <a:cs typeface="Times New Roman" panose="02020603050405020304" pitchFamily="18" charset="0"/>
              </a:rPr>
              <a:t>extreme flood risk using historical rainfall data</a:t>
            </a:r>
            <a:r>
              <a:rPr lang="en-IN" dirty="0">
                <a:latin typeface="Times New Roman" panose="02020603050405020304" pitchFamily="18" charset="0"/>
                <a:cs typeface="Times New Roman" panose="02020603050405020304" pitchFamily="18" charset="0"/>
              </a:rPr>
              <a:t>. </a:t>
            </a:r>
          </a:p>
          <a:p>
            <a:pPr lvl="0" algn="just"/>
            <a:r>
              <a:rPr lang="en-IN" dirty="0">
                <a:latin typeface="Times New Roman" panose="02020603050405020304" pitchFamily="18" charset="0"/>
                <a:cs typeface="Times New Roman" panose="02020603050405020304" pitchFamily="18" charset="0"/>
              </a:rPr>
              <a:t>It applies </a:t>
            </a:r>
            <a:r>
              <a:rPr lang="en-IN" b="1" dirty="0">
                <a:latin typeface="Times New Roman" panose="02020603050405020304" pitchFamily="18" charset="0"/>
                <a:cs typeface="Times New Roman" panose="02020603050405020304" pitchFamily="18" charset="0"/>
              </a:rPr>
              <a:t>Extreme Value Analysis (EVA)</a:t>
            </a:r>
            <a:r>
              <a:rPr lang="en-IN" dirty="0">
                <a:latin typeface="Times New Roman" panose="02020603050405020304" pitchFamily="18" charset="0"/>
                <a:cs typeface="Times New Roman" panose="02020603050405020304" pitchFamily="18" charset="0"/>
              </a:rPr>
              <a:t> to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extreme rainfall patterns and estimate </a:t>
            </a:r>
            <a:r>
              <a:rPr lang="en-IN" b="1" dirty="0">
                <a:latin typeface="Times New Roman" panose="02020603050405020304" pitchFamily="18" charset="0"/>
                <a:cs typeface="Times New Roman" panose="02020603050405020304" pitchFamily="18" charset="0"/>
              </a:rPr>
              <a:t>flood return periods</a:t>
            </a:r>
            <a:r>
              <a:rPr lang="en-IN" dirty="0">
                <a:latin typeface="Times New Roman" panose="02020603050405020304" pitchFamily="18" charset="0"/>
                <a:cs typeface="Times New Roman" panose="02020603050405020304" pitchFamily="18" charset="0"/>
              </a:rPr>
              <a:t>. </a:t>
            </a:r>
          </a:p>
          <a:p>
            <a:pPr lvl="0" algn="just"/>
            <a:r>
              <a:rPr lang="en-IN" dirty="0">
                <a:latin typeface="Times New Roman" panose="02020603050405020304" pitchFamily="18" charset="0"/>
                <a:cs typeface="Times New Roman" panose="02020603050405020304" pitchFamily="18" charset="0"/>
              </a:rPr>
              <a:t>Multiple probability distributions are evaluated to identify the </a:t>
            </a:r>
            <a:r>
              <a:rPr lang="en-IN" b="1" dirty="0">
                <a:latin typeface="Times New Roman" panose="02020603050405020304" pitchFamily="18" charset="0"/>
                <a:cs typeface="Times New Roman" panose="02020603050405020304" pitchFamily="18" charset="0"/>
              </a:rPr>
              <a:t>most suitable distribution</a:t>
            </a:r>
            <a:r>
              <a:rPr lang="en-IN" dirty="0">
                <a:latin typeface="Times New Roman" panose="02020603050405020304" pitchFamily="18" charset="0"/>
                <a:cs typeface="Times New Roman" panose="02020603050405020304" pitchFamily="18" charset="0"/>
              </a:rPr>
              <a:t> for extreme rainfall analysis. </a:t>
            </a:r>
          </a:p>
          <a:p>
            <a:pPr lvl="0" algn="just"/>
            <a:r>
              <a:rPr lang="en-IN" b="1" dirty="0">
                <a:latin typeface="Times New Roman" panose="02020603050405020304" pitchFamily="18" charset="0"/>
                <a:cs typeface="Times New Roman" panose="02020603050405020304" pitchFamily="18" charset="0"/>
              </a:rPr>
              <a:t>Random Forest, </a:t>
            </a:r>
            <a:r>
              <a:rPr lang="en-IN" b="1" dirty="0" err="1">
                <a:latin typeface="Times New Roman" panose="02020603050405020304" pitchFamily="18" charset="0"/>
                <a:cs typeface="Times New Roman" panose="02020603050405020304" pitchFamily="18" charset="0"/>
              </a:rPr>
              <a:t>XGBoost</a:t>
            </a:r>
            <a:r>
              <a:rPr lang="en-IN" b="1" dirty="0">
                <a:latin typeface="Times New Roman" panose="02020603050405020304" pitchFamily="18" charset="0"/>
                <a:cs typeface="Times New Roman" panose="02020603050405020304" pitchFamily="18" charset="0"/>
              </a:rPr>
              <a:t>, and Kernel SVM</a:t>
            </a:r>
            <a:r>
              <a:rPr lang="en-IN" dirty="0">
                <a:latin typeface="Times New Roman" panose="02020603050405020304" pitchFamily="18" charset="0"/>
                <a:cs typeface="Times New Roman" panose="02020603050405020304" pitchFamily="18" charset="0"/>
              </a:rPr>
              <a:t> models are applied, and their outputs are combined using a </a:t>
            </a:r>
            <a:r>
              <a:rPr lang="en-IN" b="1" dirty="0">
                <a:latin typeface="Times New Roman" panose="02020603050405020304" pitchFamily="18" charset="0"/>
                <a:cs typeface="Times New Roman" panose="02020603050405020304" pitchFamily="18" charset="0"/>
              </a:rPr>
              <a:t>Majority Voting Ensemble</a:t>
            </a:r>
            <a:r>
              <a:rPr lang="en-IN" dirty="0">
                <a:latin typeface="Times New Roman" panose="02020603050405020304" pitchFamily="18" charset="0"/>
                <a:cs typeface="Times New Roman" panose="02020603050405020304" pitchFamily="18" charset="0"/>
              </a:rPr>
              <a:t>. </a:t>
            </a:r>
          </a:p>
          <a:p>
            <a:pPr lvl="0" algn="just"/>
            <a:r>
              <a:rPr lang="en-IN" dirty="0">
                <a:latin typeface="Times New Roman" panose="02020603050405020304" pitchFamily="18" charset="0"/>
                <a:cs typeface="Times New Roman" panose="02020603050405020304" pitchFamily="18" charset="0"/>
              </a:rPr>
              <a:t>Results are presented through a </a:t>
            </a:r>
            <a:r>
              <a:rPr lang="en-IN" b="1" dirty="0">
                <a:latin typeface="Times New Roman" panose="02020603050405020304" pitchFamily="18" charset="0"/>
                <a:cs typeface="Times New Roman" panose="02020603050405020304" pitchFamily="18" charset="0"/>
              </a:rPr>
              <a:t>Flood Risk Dashboard</a:t>
            </a:r>
            <a:r>
              <a:rPr lang="en-IN" dirty="0">
                <a:latin typeface="Times New Roman" panose="02020603050405020304" pitchFamily="18" charset="0"/>
                <a:cs typeface="Times New Roman" panose="02020603050405020304" pitchFamily="18" charset="0"/>
              </a:rPr>
              <a:t>, providing predictions, susceptibility maps, return-period estimates, and analytical information.</a:t>
            </a:r>
          </a:p>
          <a:p>
            <a:pPr marL="0" lvl="0" indent="0" algn="just">
              <a:buNone/>
            </a:pP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5BF2D4E5-5028-0BE5-2288-64B621397FD2}"/>
              </a:ext>
            </a:extLst>
          </p:cNvPr>
          <p:cNvSpPr>
            <a:spLocks noGrp="1"/>
          </p:cNvSpPr>
          <p:nvPr>
            <p:ph type="dt" sz="half" idx="10"/>
          </p:nvPr>
        </p:nvSpPr>
        <p:spPr>
          <a:xfrm>
            <a:off x="0" y="6492874"/>
            <a:ext cx="2743200" cy="365125"/>
          </a:xfrm>
        </p:spPr>
        <p:txBody>
          <a:bodyPr/>
          <a:lstStyle/>
          <a:p>
            <a:r>
              <a:rPr lang="en-IN" dirty="0"/>
              <a:t>16-09-2026</a:t>
            </a:r>
          </a:p>
        </p:txBody>
      </p:sp>
      <p:sp>
        <p:nvSpPr>
          <p:cNvPr id="5" name="Slide Number Placeholder 4">
            <a:extLst>
              <a:ext uri="{FF2B5EF4-FFF2-40B4-BE49-F238E27FC236}">
                <a16:creationId xmlns:a16="http://schemas.microsoft.com/office/drawing/2014/main" id="{645C84EC-3AA3-9BDF-E292-DCA1A0A006D5}"/>
              </a:ext>
            </a:extLst>
          </p:cNvPr>
          <p:cNvSpPr>
            <a:spLocks noGrp="1"/>
          </p:cNvSpPr>
          <p:nvPr>
            <p:ph type="sldNum" sz="quarter" idx="12"/>
          </p:nvPr>
        </p:nvSpPr>
        <p:spPr>
          <a:xfrm>
            <a:off x="9448800" y="6492875"/>
            <a:ext cx="2743200" cy="365125"/>
          </a:xfrm>
        </p:spPr>
        <p:txBody>
          <a:bodyPr/>
          <a:lstStyle/>
          <a:p>
            <a:fld id="{C019D452-4D13-45E6-A944-00A80B3269BB}" type="slidenum">
              <a:rPr lang="en-IN" smtClean="0"/>
              <a:t>4</a:t>
            </a:fld>
            <a:endParaRPr lang="en-IN" dirty="0"/>
          </a:p>
        </p:txBody>
      </p:sp>
    </p:spTree>
    <p:extLst>
      <p:ext uri="{BB962C8B-B14F-4D97-AF65-F5344CB8AC3E}">
        <p14:creationId xmlns:p14="http://schemas.microsoft.com/office/powerpoint/2010/main" val="865319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EB378-15F7-E9D2-C267-1ED9BCEEE8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B9CA7B-C2D2-D511-A66E-99C91D2B23E1}"/>
              </a:ext>
            </a:extLst>
          </p:cNvPr>
          <p:cNvSpPr>
            <a:spLocks noGrp="1"/>
          </p:cNvSpPr>
          <p:nvPr>
            <p:ph type="title"/>
          </p:nvPr>
        </p:nvSpPr>
        <p:spPr>
          <a:xfrm>
            <a:off x="0" y="265176"/>
            <a:ext cx="12192000" cy="877825"/>
          </a:xfrm>
          <a:solidFill>
            <a:srgbClr val="1F4E79"/>
          </a:solidFill>
        </p:spPr>
        <p:txBody>
          <a:bodyPr>
            <a:normAutofit fontScale="90000"/>
          </a:bodyPr>
          <a:lstStyle/>
          <a:p>
            <a:br>
              <a:rPr lang="en-IN" b="1" dirty="0"/>
            </a:br>
            <a:br>
              <a:rPr lang="en-IN" b="1" dirty="0"/>
            </a:br>
            <a:r>
              <a:rPr lang="en-IN" b="1" dirty="0">
                <a:solidFill>
                  <a:schemeClr val="bg1"/>
                </a:solidFill>
                <a:latin typeface="Times New Roman" panose="02020603050405020304" pitchFamily="18" charset="0"/>
                <a:cs typeface="Times New Roman" panose="02020603050405020304" pitchFamily="18" charset="0"/>
              </a:rPr>
              <a:t>Objectives</a:t>
            </a:r>
            <a:r>
              <a:rPr lang="en-IN" b="1" dirty="0"/>
              <a:t> </a:t>
            </a:r>
            <a:br>
              <a:rPr lang="en-IN" b="1" dirty="0">
                <a:effectLst/>
              </a:rPr>
            </a:br>
            <a:br>
              <a:rPr lang="en-IN" b="1" dirty="0">
                <a:effectLst/>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CC58ADF-C278-035E-2D0E-732114F885E5}"/>
              </a:ext>
            </a:extLst>
          </p:cNvPr>
          <p:cNvSpPr>
            <a:spLocks noGrp="1"/>
          </p:cNvSpPr>
          <p:nvPr>
            <p:ph idx="1"/>
          </p:nvPr>
        </p:nvSpPr>
        <p:spPr>
          <a:xfrm>
            <a:off x="0" y="1307592"/>
            <a:ext cx="12192000" cy="4915091"/>
          </a:xfrm>
        </p:spPr>
        <p:txBody>
          <a:bodyPr/>
          <a:lstStyle/>
          <a:p>
            <a:pPr lvl="0" algn="just"/>
            <a:r>
              <a:rPr lang="en-IN" b="1" dirty="0">
                <a:latin typeface="Times New Roman" panose="02020603050405020304" pitchFamily="18" charset="0"/>
                <a:cs typeface="Times New Roman" panose="02020603050405020304" pitchFamily="18" charset="0"/>
              </a:rPr>
              <a:t>To develop a Java-based flood risk assessment system</a:t>
            </a:r>
            <a:r>
              <a:rPr lang="en-IN" dirty="0">
                <a:latin typeface="Times New Roman" panose="02020603050405020304" pitchFamily="18" charset="0"/>
                <a:cs typeface="Times New Roman" panose="02020603050405020304" pitchFamily="18" charset="0"/>
              </a:rPr>
              <a:t> using historical rainfall and hydro-meteorological data. </a:t>
            </a:r>
          </a:p>
          <a:p>
            <a:pPr lvl="0" algn="just"/>
            <a:r>
              <a:rPr lang="en-IN" b="1" dirty="0">
                <a:latin typeface="Times New Roman" panose="02020603050405020304" pitchFamily="18" charset="0"/>
                <a:cs typeface="Times New Roman" panose="02020603050405020304" pitchFamily="18" charset="0"/>
              </a:rPr>
              <a:t>To </a:t>
            </a:r>
            <a:r>
              <a:rPr lang="en-IN" b="1" dirty="0" err="1">
                <a:latin typeface="Times New Roman" panose="02020603050405020304" pitchFamily="18" charset="0"/>
                <a:cs typeface="Times New Roman" panose="02020603050405020304" pitchFamily="18" charset="0"/>
              </a:rPr>
              <a:t>analyze</a:t>
            </a:r>
            <a:r>
              <a:rPr lang="en-IN" b="1" dirty="0">
                <a:latin typeface="Times New Roman" panose="02020603050405020304" pitchFamily="18" charset="0"/>
                <a:cs typeface="Times New Roman" panose="02020603050405020304" pitchFamily="18" charset="0"/>
              </a:rPr>
              <a:t> extreme rainfall patterns</a:t>
            </a:r>
            <a:r>
              <a:rPr lang="en-IN" dirty="0">
                <a:latin typeface="Times New Roman" panose="02020603050405020304" pitchFamily="18" charset="0"/>
                <a:cs typeface="Times New Roman" panose="02020603050405020304" pitchFamily="18" charset="0"/>
              </a:rPr>
              <a:t> using Extreme Value Analysis and probability distribution methods. </a:t>
            </a:r>
          </a:p>
          <a:p>
            <a:pPr lvl="0" algn="just"/>
            <a:r>
              <a:rPr lang="en-IN" b="1" dirty="0">
                <a:latin typeface="Times New Roman" panose="02020603050405020304" pitchFamily="18" charset="0"/>
                <a:cs typeface="Times New Roman" panose="02020603050405020304" pitchFamily="18" charset="0"/>
              </a:rPr>
              <a:t>To predict and identify flood-prone regions</a:t>
            </a:r>
            <a:r>
              <a:rPr lang="en-IN" dirty="0">
                <a:latin typeface="Times New Roman" panose="02020603050405020304" pitchFamily="18" charset="0"/>
                <a:cs typeface="Times New Roman" panose="02020603050405020304" pitchFamily="18" charset="0"/>
              </a:rPr>
              <a:t> using machine learning models. </a:t>
            </a:r>
          </a:p>
          <a:p>
            <a:pPr lvl="0" algn="just"/>
            <a:r>
              <a:rPr lang="en-IN" b="1" dirty="0">
                <a:latin typeface="Times New Roman" panose="02020603050405020304" pitchFamily="18" charset="0"/>
                <a:cs typeface="Times New Roman" panose="02020603050405020304" pitchFamily="18" charset="0"/>
              </a:rPr>
              <a:t>To estimate return periods and generate flood susceptibility maps</a:t>
            </a:r>
            <a:r>
              <a:rPr lang="en-IN" dirty="0">
                <a:latin typeface="Times New Roman" panose="02020603050405020304" pitchFamily="18" charset="0"/>
                <a:cs typeface="Times New Roman" panose="02020603050405020304" pitchFamily="18" charset="0"/>
              </a:rPr>
              <a:t> for extreme rainfall events. </a:t>
            </a:r>
          </a:p>
          <a:p>
            <a:pPr lvl="0" algn="just"/>
            <a:r>
              <a:rPr lang="en-IN" b="1" dirty="0">
                <a:latin typeface="Times New Roman" panose="02020603050405020304" pitchFamily="18" charset="0"/>
                <a:cs typeface="Times New Roman" panose="02020603050405020304" pitchFamily="18" charset="0"/>
              </a:rPr>
              <a:t>To provide an interactive dashboard</a:t>
            </a:r>
            <a:r>
              <a:rPr lang="en-IN" dirty="0">
                <a:latin typeface="Times New Roman" panose="02020603050405020304" pitchFamily="18" charset="0"/>
                <a:cs typeface="Times New Roman" panose="02020603050405020304" pitchFamily="18" charset="0"/>
              </a:rPr>
              <a:t> for visualization and support disaster management decisions. </a:t>
            </a:r>
          </a:p>
        </p:txBody>
      </p:sp>
      <p:sp>
        <p:nvSpPr>
          <p:cNvPr id="4" name="Date Placeholder 3">
            <a:extLst>
              <a:ext uri="{FF2B5EF4-FFF2-40B4-BE49-F238E27FC236}">
                <a16:creationId xmlns:a16="http://schemas.microsoft.com/office/drawing/2014/main" id="{A9D43BFE-0D15-E4B5-9704-89FB0A81A9BF}"/>
              </a:ext>
            </a:extLst>
          </p:cNvPr>
          <p:cNvSpPr>
            <a:spLocks noGrp="1"/>
          </p:cNvSpPr>
          <p:nvPr>
            <p:ph type="dt" sz="half" idx="10"/>
          </p:nvPr>
        </p:nvSpPr>
        <p:spPr>
          <a:xfrm>
            <a:off x="0" y="6485001"/>
            <a:ext cx="2743200" cy="365125"/>
          </a:xfrm>
        </p:spPr>
        <p:txBody>
          <a:bodyPr/>
          <a:lstStyle/>
          <a:p>
            <a:r>
              <a:rPr lang="en-IN" dirty="0"/>
              <a:t>16-09-2026</a:t>
            </a:r>
          </a:p>
        </p:txBody>
      </p:sp>
      <p:sp>
        <p:nvSpPr>
          <p:cNvPr id="5" name="Slide Number Placeholder 4">
            <a:extLst>
              <a:ext uri="{FF2B5EF4-FFF2-40B4-BE49-F238E27FC236}">
                <a16:creationId xmlns:a16="http://schemas.microsoft.com/office/drawing/2014/main" id="{F5F20663-FD99-1D90-8884-D4275B8922B1}"/>
              </a:ext>
            </a:extLst>
          </p:cNvPr>
          <p:cNvSpPr>
            <a:spLocks noGrp="1"/>
          </p:cNvSpPr>
          <p:nvPr>
            <p:ph type="sldNum" sz="quarter" idx="12"/>
          </p:nvPr>
        </p:nvSpPr>
        <p:spPr>
          <a:xfrm>
            <a:off x="9448800" y="6485000"/>
            <a:ext cx="2743200" cy="365125"/>
          </a:xfrm>
        </p:spPr>
        <p:txBody>
          <a:bodyPr/>
          <a:lstStyle/>
          <a:p>
            <a:fld id="{C019D452-4D13-45E6-A944-00A80B3269BB}" type="slidenum">
              <a:rPr lang="en-IN" smtClean="0"/>
              <a:t>5</a:t>
            </a:fld>
            <a:endParaRPr lang="en-IN" dirty="0"/>
          </a:p>
        </p:txBody>
      </p:sp>
    </p:spTree>
    <p:extLst>
      <p:ext uri="{BB962C8B-B14F-4D97-AF65-F5344CB8AC3E}">
        <p14:creationId xmlns:p14="http://schemas.microsoft.com/office/powerpoint/2010/main" val="887479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9C4EA-1D81-4365-297E-2C1F44D879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B8434-04F0-0536-95E7-D5D0EFE6A35D}"/>
              </a:ext>
            </a:extLst>
          </p:cNvPr>
          <p:cNvSpPr>
            <a:spLocks noGrp="1"/>
          </p:cNvSpPr>
          <p:nvPr>
            <p:ph type="title"/>
          </p:nvPr>
        </p:nvSpPr>
        <p:spPr>
          <a:xfrm>
            <a:off x="0" y="265176"/>
            <a:ext cx="12192000" cy="877825"/>
          </a:xfrm>
          <a:solidFill>
            <a:srgbClr val="1F4E79"/>
          </a:solidFill>
        </p:spPr>
        <p:txBody>
          <a:bodyPr>
            <a:normAutofit fontScale="90000"/>
          </a:bodyPr>
          <a:lstStyle/>
          <a:p>
            <a:br>
              <a:rPr lang="en-IN" b="1" dirty="0">
                <a:latin typeface="Times New Roman" panose="02020603050405020304" pitchFamily="18" charset="0"/>
                <a:cs typeface="Times New Roman" panose="02020603050405020304" pitchFamily="18" charset="0"/>
              </a:rPr>
            </a:br>
            <a:r>
              <a:rPr lang="en-IN" b="1" dirty="0">
                <a:solidFill>
                  <a:schemeClr val="bg1"/>
                </a:solidFill>
                <a:latin typeface="Times New Roman" panose="02020603050405020304" pitchFamily="18" charset="0"/>
                <a:cs typeface="Times New Roman" panose="02020603050405020304" pitchFamily="18" charset="0"/>
              </a:rPr>
              <a:t>Purpose</a:t>
            </a:r>
            <a:br>
              <a:rPr lang="en-IN" b="1" dirty="0">
                <a:effectLst/>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9AD9EAA-939B-5A85-AECC-837EA1EF4720}"/>
              </a:ext>
            </a:extLst>
          </p:cNvPr>
          <p:cNvSpPr>
            <a:spLocks noGrp="1"/>
          </p:cNvSpPr>
          <p:nvPr>
            <p:ph idx="1"/>
          </p:nvPr>
        </p:nvSpPr>
        <p:spPr>
          <a:xfrm>
            <a:off x="0" y="1307592"/>
            <a:ext cx="12192000" cy="4915091"/>
          </a:xfrm>
        </p:spPr>
        <p:txBody>
          <a:bodyPr>
            <a:normAutofit/>
          </a:bodyPr>
          <a:lstStyle/>
          <a:p>
            <a:pPr lvl="0" algn="just">
              <a:lnSpc>
                <a:spcPct val="100000"/>
              </a:lnSpc>
            </a:pPr>
            <a:r>
              <a:rPr lang="en-IN" b="1" dirty="0">
                <a:latin typeface="Times New Roman" panose="02020603050405020304" pitchFamily="18" charset="0"/>
                <a:cs typeface="Times New Roman" panose="02020603050405020304" pitchFamily="18" charset="0"/>
              </a:rPr>
              <a:t>To develop a Java-based system</a:t>
            </a:r>
            <a:r>
              <a:rPr lang="en-IN" dirty="0">
                <a:latin typeface="Times New Roman" panose="02020603050405020304" pitchFamily="18" charset="0"/>
                <a:cs typeface="Times New Roman" panose="02020603050405020304" pitchFamily="18" charset="0"/>
              </a:rPr>
              <a:t> for assessing extreme flood risk using rainfall data. </a:t>
            </a:r>
          </a:p>
          <a:p>
            <a:pPr lvl="0" algn="just">
              <a:lnSpc>
                <a:spcPct val="100000"/>
              </a:lnSpc>
            </a:pPr>
            <a:r>
              <a:rPr lang="en-IN" b="1" dirty="0">
                <a:latin typeface="Times New Roman" panose="02020603050405020304" pitchFamily="18" charset="0"/>
                <a:cs typeface="Times New Roman" panose="02020603050405020304" pitchFamily="18" charset="0"/>
              </a:rPr>
              <a:t>To </a:t>
            </a:r>
            <a:r>
              <a:rPr lang="en-IN" b="1" dirty="0" err="1">
                <a:latin typeface="Times New Roman" panose="02020603050405020304" pitchFamily="18" charset="0"/>
                <a:cs typeface="Times New Roman" panose="02020603050405020304" pitchFamily="18" charset="0"/>
              </a:rPr>
              <a:t>analyze</a:t>
            </a:r>
            <a:r>
              <a:rPr lang="en-IN" b="1" dirty="0">
                <a:latin typeface="Times New Roman" panose="02020603050405020304" pitchFamily="18" charset="0"/>
                <a:cs typeface="Times New Roman" panose="02020603050405020304" pitchFamily="18" charset="0"/>
              </a:rPr>
              <a:t> extreme rainfall patterns</a:t>
            </a:r>
            <a:r>
              <a:rPr lang="en-IN" dirty="0">
                <a:latin typeface="Times New Roman" panose="02020603050405020304" pitchFamily="18" charset="0"/>
                <a:cs typeface="Times New Roman" panose="02020603050405020304" pitchFamily="18" charset="0"/>
              </a:rPr>
              <a:t> using statistical methods and probability distributions. </a:t>
            </a:r>
          </a:p>
          <a:p>
            <a:pPr lvl="0" algn="just">
              <a:lnSpc>
                <a:spcPct val="100000"/>
              </a:lnSpc>
            </a:pPr>
            <a:r>
              <a:rPr lang="en-IN" b="1" dirty="0">
                <a:latin typeface="Times New Roman" panose="02020603050405020304" pitchFamily="18" charset="0"/>
                <a:cs typeface="Times New Roman" panose="02020603050405020304" pitchFamily="18" charset="0"/>
              </a:rPr>
              <a:t>To identify flood-prone areas</a:t>
            </a:r>
            <a:r>
              <a:rPr lang="en-IN" dirty="0">
                <a:latin typeface="Times New Roman" panose="02020603050405020304" pitchFamily="18" charset="0"/>
                <a:cs typeface="Times New Roman" panose="02020603050405020304" pitchFamily="18" charset="0"/>
              </a:rPr>
              <a:t> using machine learning models. </a:t>
            </a:r>
          </a:p>
          <a:p>
            <a:pPr lvl="0" algn="just">
              <a:lnSpc>
                <a:spcPct val="100000"/>
              </a:lnSpc>
            </a:pPr>
            <a:r>
              <a:rPr lang="en-IN" b="1" dirty="0">
                <a:latin typeface="Times New Roman" panose="02020603050405020304" pitchFamily="18" charset="0"/>
                <a:cs typeface="Times New Roman" panose="02020603050405020304" pitchFamily="18" charset="0"/>
              </a:rPr>
              <a:t>To estimate flood return periods</a:t>
            </a:r>
            <a:r>
              <a:rPr lang="en-IN" dirty="0">
                <a:latin typeface="Times New Roman" panose="02020603050405020304" pitchFamily="18" charset="0"/>
                <a:cs typeface="Times New Roman" panose="02020603050405020304" pitchFamily="18" charset="0"/>
              </a:rPr>
              <a:t> for understanding future flood risk. </a:t>
            </a:r>
          </a:p>
          <a:p>
            <a:pPr lvl="0" algn="just">
              <a:lnSpc>
                <a:spcPct val="100000"/>
              </a:lnSpc>
            </a:pPr>
            <a:r>
              <a:rPr lang="en-IN" b="1" dirty="0">
                <a:latin typeface="Times New Roman" panose="02020603050405020304" pitchFamily="18" charset="0"/>
                <a:cs typeface="Times New Roman" panose="02020603050405020304" pitchFamily="18" charset="0"/>
              </a:rPr>
              <a:t>To provide an interactive dashboard</a:t>
            </a:r>
            <a:r>
              <a:rPr lang="en-IN" dirty="0">
                <a:latin typeface="Times New Roman" panose="02020603050405020304" pitchFamily="18" charset="0"/>
                <a:cs typeface="Times New Roman" panose="02020603050405020304" pitchFamily="18" charset="0"/>
              </a:rPr>
              <a:t> for visualizing flood-risk results and supporting decision-making. </a:t>
            </a:r>
          </a:p>
        </p:txBody>
      </p:sp>
      <p:sp>
        <p:nvSpPr>
          <p:cNvPr id="4" name="Date Placeholder 3">
            <a:extLst>
              <a:ext uri="{FF2B5EF4-FFF2-40B4-BE49-F238E27FC236}">
                <a16:creationId xmlns:a16="http://schemas.microsoft.com/office/drawing/2014/main" id="{A7176C7C-FC6A-8AD8-3113-764EDBF4F5F0}"/>
              </a:ext>
            </a:extLst>
          </p:cNvPr>
          <p:cNvSpPr>
            <a:spLocks noGrp="1"/>
          </p:cNvSpPr>
          <p:nvPr>
            <p:ph type="dt" sz="half" idx="10"/>
          </p:nvPr>
        </p:nvSpPr>
        <p:spPr>
          <a:xfrm>
            <a:off x="0" y="6492875"/>
            <a:ext cx="2743200" cy="365125"/>
          </a:xfrm>
        </p:spPr>
        <p:txBody>
          <a:bodyPr/>
          <a:lstStyle/>
          <a:p>
            <a:r>
              <a:rPr lang="en-IN" dirty="0"/>
              <a:t>16-09-2026</a:t>
            </a:r>
          </a:p>
        </p:txBody>
      </p:sp>
      <p:sp>
        <p:nvSpPr>
          <p:cNvPr id="5" name="Slide Number Placeholder 4">
            <a:extLst>
              <a:ext uri="{FF2B5EF4-FFF2-40B4-BE49-F238E27FC236}">
                <a16:creationId xmlns:a16="http://schemas.microsoft.com/office/drawing/2014/main" id="{9D518651-F460-2A3B-7EF4-325C986A92F6}"/>
              </a:ext>
            </a:extLst>
          </p:cNvPr>
          <p:cNvSpPr>
            <a:spLocks noGrp="1"/>
          </p:cNvSpPr>
          <p:nvPr>
            <p:ph type="sldNum" sz="quarter" idx="12"/>
          </p:nvPr>
        </p:nvSpPr>
        <p:spPr>
          <a:xfrm>
            <a:off x="9448800" y="6492875"/>
            <a:ext cx="2743200" cy="365125"/>
          </a:xfrm>
        </p:spPr>
        <p:txBody>
          <a:bodyPr/>
          <a:lstStyle/>
          <a:p>
            <a:fld id="{C019D452-4D13-45E6-A944-00A80B3269BB}" type="slidenum">
              <a:rPr lang="en-IN" smtClean="0"/>
              <a:t>6</a:t>
            </a:fld>
            <a:endParaRPr lang="en-IN"/>
          </a:p>
        </p:txBody>
      </p:sp>
    </p:spTree>
    <p:extLst>
      <p:ext uri="{BB962C8B-B14F-4D97-AF65-F5344CB8AC3E}">
        <p14:creationId xmlns:p14="http://schemas.microsoft.com/office/powerpoint/2010/main" val="3290369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113CD-0F06-4700-DF4E-499FE44853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D3BF91-ED75-2B8F-2472-4515CAF43C77}"/>
              </a:ext>
            </a:extLst>
          </p:cNvPr>
          <p:cNvSpPr>
            <a:spLocks noGrp="1"/>
          </p:cNvSpPr>
          <p:nvPr>
            <p:ph type="title"/>
          </p:nvPr>
        </p:nvSpPr>
        <p:spPr>
          <a:xfrm>
            <a:off x="0" y="265176"/>
            <a:ext cx="12192000" cy="877825"/>
          </a:xfrm>
          <a:solidFill>
            <a:srgbClr val="1F4E79"/>
          </a:solidFill>
        </p:spPr>
        <p:txBody>
          <a:bodyPr>
            <a:normAutofit fontScale="90000"/>
          </a:bodyPr>
          <a:lstStyle/>
          <a:p>
            <a:br>
              <a:rPr lang="en-IN" b="1" dirty="0"/>
            </a:br>
            <a:r>
              <a:rPr lang="en-IN" b="1" dirty="0">
                <a:solidFill>
                  <a:schemeClr val="bg1"/>
                </a:solidFill>
                <a:latin typeface="Times New Roman" panose="02020603050405020304" pitchFamily="18" charset="0"/>
                <a:cs typeface="Times New Roman" panose="02020603050405020304" pitchFamily="18" charset="0"/>
              </a:rPr>
              <a:t>Scope</a:t>
            </a:r>
            <a:br>
              <a:rPr lang="en-IN" b="1" dirty="0">
                <a:effectLst/>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3A19D23-74A4-4EC3-532A-911CFC7A2293}"/>
              </a:ext>
            </a:extLst>
          </p:cNvPr>
          <p:cNvSpPr>
            <a:spLocks noGrp="1"/>
          </p:cNvSpPr>
          <p:nvPr>
            <p:ph idx="1"/>
          </p:nvPr>
        </p:nvSpPr>
        <p:spPr>
          <a:xfrm>
            <a:off x="0" y="1307592"/>
            <a:ext cx="12192000" cy="4915091"/>
          </a:xfrm>
        </p:spPr>
        <p:txBody>
          <a:bodyPr>
            <a:normAutofit lnSpcReduction="10000"/>
          </a:bodyPr>
          <a:lstStyle/>
          <a:p>
            <a:pPr lvl="0" algn="just">
              <a:lnSpc>
                <a:spcPct val="150000"/>
              </a:lnSpc>
            </a:pPr>
            <a:r>
              <a:rPr lang="en-IN" b="1" dirty="0">
                <a:latin typeface="Times New Roman" panose="02020603050405020304" pitchFamily="18" charset="0"/>
                <a:cs typeface="Times New Roman" panose="02020603050405020304" pitchFamily="18" charset="0"/>
              </a:rPr>
              <a:t>Flood risk prediction</a:t>
            </a:r>
            <a:r>
              <a:rPr lang="en-IN" dirty="0">
                <a:latin typeface="Times New Roman" panose="02020603050405020304" pitchFamily="18" charset="0"/>
                <a:cs typeface="Times New Roman" panose="02020603050405020304" pitchFamily="18" charset="0"/>
              </a:rPr>
              <a:t> using historical rainfall and hydro-meteorological data. </a:t>
            </a:r>
          </a:p>
          <a:p>
            <a:pPr lvl="0" algn="just">
              <a:lnSpc>
                <a:spcPct val="150000"/>
              </a:lnSpc>
            </a:pPr>
            <a:r>
              <a:rPr lang="en-IN" b="1" dirty="0">
                <a:latin typeface="Times New Roman" panose="02020603050405020304" pitchFamily="18" charset="0"/>
                <a:cs typeface="Times New Roman" panose="02020603050405020304" pitchFamily="18" charset="0"/>
              </a:rPr>
              <a:t>Identification of flood-prone regions</a:t>
            </a:r>
            <a:r>
              <a:rPr lang="en-IN" dirty="0">
                <a:latin typeface="Times New Roman" panose="02020603050405020304" pitchFamily="18" charset="0"/>
                <a:cs typeface="Times New Roman" panose="02020603050405020304" pitchFamily="18" charset="0"/>
              </a:rPr>
              <a:t> based on predicted flood risk. </a:t>
            </a:r>
          </a:p>
          <a:p>
            <a:pPr lvl="0" algn="just">
              <a:lnSpc>
                <a:spcPct val="150000"/>
              </a:lnSpc>
            </a:pPr>
            <a:r>
              <a:rPr lang="en-IN" b="1" dirty="0">
                <a:latin typeface="Times New Roman" panose="02020603050405020304" pitchFamily="18" charset="0"/>
                <a:cs typeface="Times New Roman" panose="02020603050405020304" pitchFamily="18" charset="0"/>
              </a:rPr>
              <a:t>Return period estimation</a:t>
            </a:r>
            <a:r>
              <a:rPr lang="en-IN" dirty="0">
                <a:latin typeface="Times New Roman" panose="02020603050405020304" pitchFamily="18" charset="0"/>
                <a:cs typeface="Times New Roman" panose="02020603050405020304" pitchFamily="18" charset="0"/>
              </a:rPr>
              <a:t> for extreme rainfall events. </a:t>
            </a:r>
          </a:p>
          <a:p>
            <a:pPr lvl="0">
              <a:lnSpc>
                <a:spcPct val="150000"/>
              </a:lnSpc>
            </a:pPr>
            <a:r>
              <a:rPr lang="en-IN" b="1" dirty="0">
                <a:latin typeface="Times New Roman" panose="02020603050405020304" pitchFamily="18" charset="0"/>
                <a:cs typeface="Times New Roman" panose="02020603050405020304" pitchFamily="18" charset="0"/>
              </a:rPr>
              <a:t>Flood susceptibility mapping and visualization</a:t>
            </a:r>
            <a:r>
              <a:rPr lang="en-IN" dirty="0">
                <a:latin typeface="Times New Roman" panose="02020603050405020304" pitchFamily="18" charset="0"/>
                <a:cs typeface="Times New Roman" panose="02020603050405020304" pitchFamily="18" charset="0"/>
              </a:rPr>
              <a:t> through an interactive dashboard. </a:t>
            </a:r>
          </a:p>
          <a:p>
            <a:pPr lvl="0" algn="just">
              <a:lnSpc>
                <a:spcPct val="150000"/>
              </a:lnSpc>
            </a:pPr>
            <a:r>
              <a:rPr lang="en-IN" b="1" dirty="0">
                <a:latin typeface="Times New Roman" panose="02020603050405020304" pitchFamily="18" charset="0"/>
                <a:cs typeface="Times New Roman" panose="02020603050405020304" pitchFamily="18" charset="0"/>
              </a:rPr>
              <a:t>Decision support for disaster management authorities</a:t>
            </a:r>
            <a:r>
              <a:rPr lang="en-IN" dirty="0">
                <a:latin typeface="Times New Roman" panose="02020603050405020304" pitchFamily="18" charset="0"/>
                <a:cs typeface="Times New Roman" panose="02020603050405020304" pitchFamily="18" charset="0"/>
              </a:rPr>
              <a:t> for better planning and risk management. </a:t>
            </a:r>
          </a:p>
        </p:txBody>
      </p:sp>
      <p:sp>
        <p:nvSpPr>
          <p:cNvPr id="4" name="Date Placeholder 3">
            <a:extLst>
              <a:ext uri="{FF2B5EF4-FFF2-40B4-BE49-F238E27FC236}">
                <a16:creationId xmlns:a16="http://schemas.microsoft.com/office/drawing/2014/main" id="{27AF1FCF-E470-318D-ADF8-FA4665DEE299}"/>
              </a:ext>
            </a:extLst>
          </p:cNvPr>
          <p:cNvSpPr>
            <a:spLocks noGrp="1"/>
          </p:cNvSpPr>
          <p:nvPr>
            <p:ph type="dt" sz="half" idx="10"/>
          </p:nvPr>
        </p:nvSpPr>
        <p:spPr>
          <a:xfrm>
            <a:off x="0" y="6492875"/>
            <a:ext cx="2743200" cy="365125"/>
          </a:xfrm>
        </p:spPr>
        <p:txBody>
          <a:bodyPr/>
          <a:lstStyle/>
          <a:p>
            <a:r>
              <a:rPr lang="en-IN" dirty="0"/>
              <a:t>16-09-2026</a:t>
            </a:r>
          </a:p>
        </p:txBody>
      </p:sp>
      <p:sp>
        <p:nvSpPr>
          <p:cNvPr id="5" name="Slide Number Placeholder 4">
            <a:extLst>
              <a:ext uri="{FF2B5EF4-FFF2-40B4-BE49-F238E27FC236}">
                <a16:creationId xmlns:a16="http://schemas.microsoft.com/office/drawing/2014/main" id="{CEA783F2-6A13-806F-44BF-99397147AE41}"/>
              </a:ext>
            </a:extLst>
          </p:cNvPr>
          <p:cNvSpPr>
            <a:spLocks noGrp="1"/>
          </p:cNvSpPr>
          <p:nvPr>
            <p:ph type="sldNum" sz="quarter" idx="12"/>
          </p:nvPr>
        </p:nvSpPr>
        <p:spPr>
          <a:xfrm>
            <a:off x="9448800" y="6492875"/>
            <a:ext cx="2743200" cy="365125"/>
          </a:xfrm>
        </p:spPr>
        <p:txBody>
          <a:bodyPr/>
          <a:lstStyle/>
          <a:p>
            <a:fld id="{C019D452-4D13-45E6-A944-00A80B3269BB}" type="slidenum">
              <a:rPr lang="en-IN" smtClean="0"/>
              <a:t>7</a:t>
            </a:fld>
            <a:endParaRPr lang="en-IN"/>
          </a:p>
        </p:txBody>
      </p:sp>
    </p:spTree>
    <p:extLst>
      <p:ext uri="{BB962C8B-B14F-4D97-AF65-F5344CB8AC3E}">
        <p14:creationId xmlns:p14="http://schemas.microsoft.com/office/powerpoint/2010/main" val="2251795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28218-442A-608F-A111-8F6D01D441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8E2A47-1EB2-6291-F4F4-34EE920BFBF5}"/>
              </a:ext>
            </a:extLst>
          </p:cNvPr>
          <p:cNvSpPr>
            <a:spLocks noGrp="1"/>
          </p:cNvSpPr>
          <p:nvPr>
            <p:ph type="title"/>
          </p:nvPr>
        </p:nvSpPr>
        <p:spPr>
          <a:xfrm>
            <a:off x="0" y="265176"/>
            <a:ext cx="12192000" cy="877825"/>
          </a:xfrm>
          <a:solidFill>
            <a:srgbClr val="1F4E79"/>
          </a:solidFill>
        </p:spPr>
        <p:txBody>
          <a:bodyPr>
            <a:normAutofit fontScale="90000"/>
          </a:bodyPr>
          <a:lstStyle/>
          <a:p>
            <a:br>
              <a:rPr lang="en-IN" b="1" dirty="0">
                <a:solidFill>
                  <a:schemeClr val="bg1"/>
                </a:solidFill>
              </a:rPr>
            </a:br>
            <a:br>
              <a:rPr lang="en-IN" b="1" dirty="0">
                <a:solidFill>
                  <a:schemeClr val="bg1"/>
                </a:solidFill>
              </a:rPr>
            </a:br>
            <a:r>
              <a:rPr lang="en-IN" b="1" dirty="0">
                <a:solidFill>
                  <a:schemeClr val="bg1"/>
                </a:solidFill>
                <a:latin typeface="Times New Roman" panose="02020603050405020304" pitchFamily="18" charset="0"/>
                <a:cs typeface="Times New Roman" panose="02020603050405020304" pitchFamily="18" charset="0"/>
              </a:rPr>
              <a:t>Literature Survey </a:t>
            </a:r>
            <a:br>
              <a:rPr lang="en-IN" b="1" dirty="0">
                <a:solidFill>
                  <a:schemeClr val="bg1"/>
                </a:solidFill>
                <a:effectLst/>
              </a:rPr>
            </a:br>
            <a:br>
              <a:rPr lang="en-IN" b="1" dirty="0">
                <a:solidFill>
                  <a:schemeClr val="bg1"/>
                </a:solidFill>
                <a:effectLst/>
              </a:rPr>
            </a:br>
            <a:endParaRPr lang="en-IN" dirty="0">
              <a:solidFill>
                <a:schemeClr val="bg1"/>
              </a:solidFill>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54093EF8-34D6-B7B1-07D8-7282B350714A}"/>
              </a:ext>
            </a:extLst>
          </p:cNvPr>
          <p:cNvGraphicFramePr>
            <a:graphicFrameLocks noGrp="1"/>
          </p:cNvGraphicFramePr>
          <p:nvPr>
            <p:ph idx="1"/>
            <p:extLst>
              <p:ext uri="{D42A27DB-BD31-4B8C-83A1-F6EECF244321}">
                <p14:modId xmlns:p14="http://schemas.microsoft.com/office/powerpoint/2010/main" val="2602218516"/>
              </p:ext>
            </p:extLst>
          </p:nvPr>
        </p:nvGraphicFramePr>
        <p:xfrm>
          <a:off x="88391" y="1307592"/>
          <a:ext cx="12015217" cy="5285232"/>
        </p:xfrm>
        <a:graphic>
          <a:graphicData uri="http://schemas.openxmlformats.org/drawingml/2006/table">
            <a:tbl>
              <a:tblPr firstRow="1" bandRow="1">
                <a:tableStyleId>{5C22544A-7EE6-4342-B048-85BDC9FD1C3A}</a:tableStyleId>
              </a:tblPr>
              <a:tblGrid>
                <a:gridCol w="1216152">
                  <a:extLst>
                    <a:ext uri="{9D8B030D-6E8A-4147-A177-3AD203B41FA5}">
                      <a16:colId xmlns:a16="http://schemas.microsoft.com/office/drawing/2014/main" val="918230626"/>
                    </a:ext>
                  </a:extLst>
                </a:gridCol>
                <a:gridCol w="3228583">
                  <a:extLst>
                    <a:ext uri="{9D8B030D-6E8A-4147-A177-3AD203B41FA5}">
                      <a16:colId xmlns:a16="http://schemas.microsoft.com/office/drawing/2014/main" val="4286563068"/>
                    </a:ext>
                  </a:extLst>
                </a:gridCol>
                <a:gridCol w="2523494">
                  <a:extLst>
                    <a:ext uri="{9D8B030D-6E8A-4147-A177-3AD203B41FA5}">
                      <a16:colId xmlns:a16="http://schemas.microsoft.com/office/drawing/2014/main" val="898293660"/>
                    </a:ext>
                  </a:extLst>
                </a:gridCol>
                <a:gridCol w="2523494">
                  <a:extLst>
                    <a:ext uri="{9D8B030D-6E8A-4147-A177-3AD203B41FA5}">
                      <a16:colId xmlns:a16="http://schemas.microsoft.com/office/drawing/2014/main" val="4202862956"/>
                    </a:ext>
                  </a:extLst>
                </a:gridCol>
                <a:gridCol w="2523494">
                  <a:extLst>
                    <a:ext uri="{9D8B030D-6E8A-4147-A177-3AD203B41FA5}">
                      <a16:colId xmlns:a16="http://schemas.microsoft.com/office/drawing/2014/main" val="2946860517"/>
                    </a:ext>
                  </a:extLst>
                </a:gridCol>
              </a:tblGrid>
              <a:tr h="927558">
                <a:tc>
                  <a:txBody>
                    <a:bodyPr/>
                    <a:lstStyle/>
                    <a:p>
                      <a:pPr algn="ctr"/>
                      <a:r>
                        <a:rPr lang="en-US" sz="1600" dirty="0">
                          <a:latin typeface="Times New Roman" panose="02020603050405020304" pitchFamily="18" charset="0"/>
                          <a:cs typeface="Times New Roman" panose="02020603050405020304" pitchFamily="18" charset="0"/>
                        </a:rPr>
                        <a:t>Sr. No</a:t>
                      </a:r>
                    </a:p>
                  </a:txBody>
                  <a:tcPr anchor="ctr"/>
                </a:tc>
                <a:tc>
                  <a:txBody>
                    <a:bodyPr/>
                    <a:lstStyle/>
                    <a:p>
                      <a:pPr algn="ctr"/>
                      <a:r>
                        <a:rPr lang="en-US" sz="1600" dirty="0">
                          <a:latin typeface="Times New Roman" panose="02020603050405020304" pitchFamily="18" charset="0"/>
                          <a:cs typeface="Times New Roman" panose="02020603050405020304" pitchFamily="18" charset="0"/>
                        </a:rPr>
                        <a:t>Literature / Paper</a:t>
                      </a:r>
                    </a:p>
                  </a:txBody>
                  <a:tcPr anchor="ctr"/>
                </a:tc>
                <a:tc>
                  <a:txBody>
                    <a:bodyPr/>
                    <a:lstStyle/>
                    <a:p>
                      <a:pPr algn="ctr"/>
                      <a:r>
                        <a:rPr lang="en-US" sz="1600" dirty="0">
                          <a:latin typeface="Times New Roman" panose="02020603050405020304" pitchFamily="18" charset="0"/>
                          <a:cs typeface="Times New Roman" panose="02020603050405020304" pitchFamily="18" charset="0"/>
                        </a:rPr>
                        <a:t>Main Approach</a:t>
                      </a:r>
                    </a:p>
                  </a:txBody>
                  <a:tcPr anchor="ctr"/>
                </a:tc>
                <a:tc>
                  <a:txBody>
                    <a:bodyPr/>
                    <a:lstStyle/>
                    <a:p>
                      <a:pPr algn="ctr"/>
                      <a:r>
                        <a:rPr lang="en-US" sz="1600" dirty="0">
                          <a:latin typeface="Times New Roman" panose="02020603050405020304" pitchFamily="18" charset="0"/>
                          <a:cs typeface="Times New Roman" panose="02020603050405020304" pitchFamily="18" charset="0"/>
                        </a:rPr>
                        <a:t>Limitations / Gap</a:t>
                      </a:r>
                    </a:p>
                  </a:txBody>
                  <a:tcPr anchor="ctr"/>
                </a:tc>
                <a:tc>
                  <a:txBody>
                    <a:bodyPr/>
                    <a:lstStyle/>
                    <a:p>
                      <a:pPr algn="ctr"/>
                      <a:r>
                        <a:rPr lang="en-US" sz="1600" dirty="0">
                          <a:latin typeface="Times New Roman" panose="02020603050405020304" pitchFamily="18" charset="0"/>
                          <a:cs typeface="Times New Roman" panose="02020603050405020304" pitchFamily="18" charset="0"/>
                        </a:rPr>
                        <a:t>Relevance to Proposed System</a:t>
                      </a:r>
                    </a:p>
                  </a:txBody>
                  <a:tcPr anchor="ctr"/>
                </a:tc>
                <a:extLst>
                  <a:ext uri="{0D108BD9-81ED-4DB2-BD59-A6C34878D82A}">
                    <a16:rowId xmlns:a16="http://schemas.microsoft.com/office/drawing/2014/main" val="1556761080"/>
                  </a:ext>
                </a:extLst>
              </a:tr>
              <a:tr h="1548648">
                <a:tc>
                  <a:txBody>
                    <a:bodyPr/>
                    <a:lstStyle/>
                    <a:p>
                      <a:pPr algn="ctr"/>
                      <a:r>
                        <a:rPr lang="en-US" sz="1600" dirty="0">
                          <a:latin typeface="Times New Roman" panose="02020603050405020304" pitchFamily="18" charset="0"/>
                          <a:cs typeface="Times New Roman" panose="02020603050405020304" pitchFamily="18" charset="0"/>
                        </a:rPr>
                        <a:t>1</a:t>
                      </a:r>
                    </a:p>
                  </a:txBody>
                  <a:tcPr anchor="ctr"/>
                </a:tc>
                <a:tc>
                  <a:txBody>
                    <a:bodyPr/>
                    <a:lstStyle/>
                    <a:p>
                      <a:r>
                        <a:rPr lang="en-US" sz="1600" dirty="0">
                          <a:latin typeface="Times New Roman" panose="02020603050405020304" pitchFamily="18" charset="0"/>
                          <a:cs typeface="Times New Roman" panose="02020603050405020304" pitchFamily="18" charset="0"/>
                        </a:rPr>
                        <a:t>Fatima et al. (2025) – </a:t>
                      </a:r>
                      <a:r>
                        <a:rPr lang="en-US" sz="1600" i="1" dirty="0">
                          <a:latin typeface="Times New Roman" panose="02020603050405020304" pitchFamily="18" charset="0"/>
                          <a:cs typeface="Times New Roman" panose="02020603050405020304" pitchFamily="18" charset="0"/>
                        </a:rPr>
                        <a:t>Integrating Machine Learning Models With Probability Distribution Methods for Extreme Flood Risk </a:t>
                      </a:r>
                      <a:r>
                        <a:rPr lang="en-US" sz="1600" i="1" dirty="0" err="1">
                          <a:latin typeface="Times New Roman" panose="02020603050405020304" pitchFamily="18" charset="0"/>
                          <a:cs typeface="Times New Roman" panose="02020603050405020304" pitchFamily="18" charset="0"/>
                        </a:rPr>
                        <a:t>Assessmen</a:t>
                      </a:r>
                      <a:endParaRPr lang="en-US" sz="1600" i="1" dirty="0">
                        <a:latin typeface="Times New Roman" panose="02020603050405020304" pitchFamily="18" charset="0"/>
                        <a:cs typeface="Times New Roman" panose="02020603050405020304" pitchFamily="18" charset="0"/>
                      </a:endParaRPr>
                    </a:p>
                    <a:p>
                      <a:r>
                        <a:rPr lang="en-US" sz="1600" i="1" dirty="0">
                          <a:latin typeface="Times New Roman" panose="02020603050405020304" pitchFamily="18" charset="0"/>
                          <a:cs typeface="Times New Roman" panose="02020603050405020304" pitchFamily="18" charset="0"/>
                        </a:rPr>
                        <a:t> - </a:t>
                      </a:r>
                      <a:r>
                        <a:rPr lang="en-US" sz="1600" i="1" dirty="0" err="1">
                          <a:latin typeface="Times New Roman" panose="02020603050405020304" pitchFamily="18" charset="0"/>
                          <a:cs typeface="Times New Roman" panose="02020603050405020304" pitchFamily="18" charset="0"/>
                        </a:rPr>
                        <a:t>Nareem</a:t>
                      </a:r>
                      <a:r>
                        <a:rPr lang="en-US" sz="1600" i="1" dirty="0">
                          <a:latin typeface="Times New Roman" panose="02020603050405020304" pitchFamily="18" charset="0"/>
                          <a:cs typeface="Times New Roman" panose="02020603050405020304" pitchFamily="18" charset="0"/>
                        </a:rPr>
                        <a:t> Fatima </a:t>
                      </a:r>
                      <a:endParaRPr lang="en-US" sz="1600" dirty="0">
                        <a:latin typeface="Times New Roman" panose="02020603050405020304" pitchFamily="18" charset="0"/>
                        <a:cs typeface="Times New Roman" panose="02020603050405020304" pitchFamily="18" charset="0"/>
                      </a:endParaRPr>
                    </a:p>
                  </a:txBody>
                  <a:tcPr anchor="ctr"/>
                </a:tc>
                <a:tc>
                  <a:txBody>
                    <a:bodyPr/>
                    <a:lstStyle/>
                    <a:p>
                      <a:r>
                        <a:rPr lang="en-US" sz="1600" dirty="0">
                          <a:latin typeface="Times New Roman" panose="02020603050405020304" pitchFamily="18" charset="0"/>
                          <a:cs typeface="Times New Roman" panose="02020603050405020304" pitchFamily="18" charset="0"/>
                        </a:rPr>
                        <a:t>Combines Probability Distribution Methods and Ensemble Machine Learning for flood risk assessment.</a:t>
                      </a:r>
                    </a:p>
                  </a:txBody>
                  <a:tcPr anchor="ctr"/>
                </a:tc>
                <a:tc>
                  <a:txBody>
                    <a:bodyPr/>
                    <a:lstStyle/>
                    <a:p>
                      <a:r>
                        <a:rPr lang="en-US" sz="1600" dirty="0">
                          <a:latin typeface="Times New Roman" panose="02020603050405020304" pitchFamily="18" charset="0"/>
                          <a:cs typeface="Times New Roman" panose="02020603050405020304" pitchFamily="18" charset="0"/>
                        </a:rPr>
                        <a:t>Requires multiple statistical and machine learning models, increasing system complexity.</a:t>
                      </a:r>
                    </a:p>
                  </a:txBody>
                  <a:tcPr anchor="ctr"/>
                </a:tc>
                <a:tc>
                  <a:txBody>
                    <a:bodyPr/>
                    <a:lstStyle/>
                    <a:p>
                      <a:r>
                        <a:rPr lang="en-US" sz="1600">
                          <a:latin typeface="Times New Roman" panose="02020603050405020304" pitchFamily="18" charset="0"/>
                          <a:cs typeface="Times New Roman" panose="02020603050405020304" pitchFamily="18" charset="0"/>
                        </a:rPr>
                        <a:t>Serves as the base paper and foundation for the proposed hybrid flood prediction system.</a:t>
                      </a:r>
                    </a:p>
                  </a:txBody>
                  <a:tcPr anchor="ctr"/>
                </a:tc>
                <a:extLst>
                  <a:ext uri="{0D108BD9-81ED-4DB2-BD59-A6C34878D82A}">
                    <a16:rowId xmlns:a16="http://schemas.microsoft.com/office/drawing/2014/main" val="87327449"/>
                  </a:ext>
                </a:extLst>
              </a:tr>
              <a:tr h="1404513">
                <a:tc>
                  <a:txBody>
                    <a:bodyPr/>
                    <a:lstStyle/>
                    <a:p>
                      <a:pPr algn="ctr"/>
                      <a:r>
                        <a:rPr lang="en-US" sz="1600" dirty="0">
                          <a:latin typeface="Times New Roman" panose="02020603050405020304" pitchFamily="18" charset="0"/>
                          <a:cs typeface="Times New Roman" panose="02020603050405020304" pitchFamily="18" charset="0"/>
                        </a:rPr>
                        <a:t>2</a:t>
                      </a:r>
                    </a:p>
                  </a:txBody>
                  <a:tcPr anchor="ctr"/>
                </a:tc>
                <a:tc>
                  <a:txBody>
                    <a:bodyPr/>
                    <a:lstStyle/>
                    <a:p>
                      <a:r>
                        <a:rPr lang="en-US" sz="1600" dirty="0">
                          <a:latin typeface="Times New Roman" panose="02020603050405020304" pitchFamily="18" charset="0"/>
                          <a:cs typeface="Times New Roman" panose="02020603050405020304" pitchFamily="18" charset="0"/>
                        </a:rPr>
                        <a:t>Al-</a:t>
                      </a:r>
                      <a:r>
                        <a:rPr lang="en-US" sz="1600" dirty="0" err="1">
                          <a:latin typeface="Times New Roman" panose="02020603050405020304" pitchFamily="18" charset="0"/>
                          <a:cs typeface="Times New Roman" panose="02020603050405020304" pitchFamily="18" charset="0"/>
                        </a:rPr>
                        <a:t>Aizari</a:t>
                      </a:r>
                      <a:r>
                        <a:rPr lang="en-US" sz="1600" dirty="0">
                          <a:latin typeface="Times New Roman" panose="02020603050405020304" pitchFamily="18" charset="0"/>
                          <a:cs typeface="Times New Roman" panose="02020603050405020304" pitchFamily="18" charset="0"/>
                        </a:rPr>
                        <a:t> et al. (2024) – </a:t>
                      </a:r>
                      <a:r>
                        <a:rPr lang="en-US" sz="1600" i="1" dirty="0">
                          <a:latin typeface="Times New Roman" panose="02020603050405020304" pitchFamily="18" charset="0"/>
                          <a:cs typeface="Times New Roman" panose="02020603050405020304" pitchFamily="18" charset="0"/>
                        </a:rPr>
                        <a:t>Uncertainty Reduction in Flood Susceptibility Mapping Using Random Forest and </a:t>
                      </a:r>
                      <a:r>
                        <a:rPr lang="en-US" sz="1600" i="1" dirty="0" err="1">
                          <a:latin typeface="Times New Roman" panose="02020603050405020304" pitchFamily="18" charset="0"/>
                          <a:cs typeface="Times New Roman" panose="02020603050405020304" pitchFamily="18" charset="0"/>
                        </a:rPr>
                        <a:t>XGBoost</a:t>
                      </a:r>
                      <a:r>
                        <a:rPr lang="en-US" sz="1600" i="1" dirty="0">
                          <a:latin typeface="Times New Roman" panose="02020603050405020304" pitchFamily="18" charset="0"/>
                          <a:cs typeface="Times New Roman" panose="02020603050405020304" pitchFamily="18" charset="0"/>
                        </a:rPr>
                        <a:t> Algorithms</a:t>
                      </a:r>
                    </a:p>
                    <a:p>
                      <a:r>
                        <a:rPr lang="en-US" sz="1600" i="1"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Ali R. Al-</a:t>
                      </a:r>
                      <a:r>
                        <a:rPr lang="en-IN" sz="1600" i="1" dirty="0" err="1">
                          <a:latin typeface="Times New Roman" panose="02020603050405020304" pitchFamily="18" charset="0"/>
                          <a:cs typeface="Times New Roman" panose="02020603050405020304" pitchFamily="18" charset="0"/>
                        </a:rPr>
                        <a:t>Aizari</a:t>
                      </a:r>
                      <a:endParaRPr lang="en-US" sz="1600" i="1" dirty="0">
                        <a:latin typeface="Times New Roman" panose="02020603050405020304" pitchFamily="18" charset="0"/>
                        <a:cs typeface="Times New Roman" panose="02020603050405020304" pitchFamily="18" charset="0"/>
                      </a:endParaRPr>
                    </a:p>
                  </a:txBody>
                  <a:tcPr anchor="ctr"/>
                </a:tc>
                <a:tc>
                  <a:txBody>
                    <a:bodyPr/>
                    <a:lstStyle/>
                    <a:p>
                      <a:r>
                        <a:rPr lang="en-US" sz="1600">
                          <a:latin typeface="Times New Roman" panose="02020603050405020304" pitchFamily="18" charset="0"/>
                          <a:cs typeface="Times New Roman" panose="02020603050405020304" pitchFamily="18" charset="0"/>
                        </a:rPr>
                        <a:t>Uses Random Forest and XGBoost for flood susceptibility mapping.</a:t>
                      </a:r>
                    </a:p>
                  </a:txBody>
                  <a:tcPr anchor="ctr"/>
                </a:tc>
                <a:tc>
                  <a:txBody>
                    <a:bodyPr/>
                    <a:lstStyle/>
                    <a:p>
                      <a:r>
                        <a:rPr lang="en-US" sz="1600" dirty="0">
                          <a:latin typeface="Times New Roman" panose="02020603050405020304" pitchFamily="18" charset="0"/>
                          <a:cs typeface="Times New Roman" panose="02020603050405020304" pitchFamily="18" charset="0"/>
                        </a:rPr>
                        <a:t>Focuses mainly on susceptibility mapping.</a:t>
                      </a:r>
                    </a:p>
                  </a:txBody>
                  <a:tcPr anchor="ctr"/>
                </a:tc>
                <a:tc>
                  <a:txBody>
                    <a:bodyPr/>
                    <a:lstStyle/>
                    <a:p>
                      <a:r>
                        <a:rPr lang="en-US" sz="1600">
                          <a:latin typeface="Times New Roman" panose="02020603050405020304" pitchFamily="18" charset="0"/>
                          <a:cs typeface="Times New Roman" panose="02020603050405020304" pitchFamily="18" charset="0"/>
                        </a:rPr>
                        <a:t>Supports the use of RF and XGBoost in flood prediction.</a:t>
                      </a:r>
                    </a:p>
                  </a:txBody>
                  <a:tcPr anchor="ctr"/>
                </a:tc>
                <a:extLst>
                  <a:ext uri="{0D108BD9-81ED-4DB2-BD59-A6C34878D82A}">
                    <a16:rowId xmlns:a16="http://schemas.microsoft.com/office/drawing/2014/main" val="3294041760"/>
                  </a:ext>
                </a:extLst>
              </a:tr>
              <a:tr h="1404513">
                <a:tc>
                  <a:txBody>
                    <a:bodyPr/>
                    <a:lstStyle/>
                    <a:p>
                      <a:pPr algn="ctr"/>
                      <a:r>
                        <a:rPr lang="en-US" sz="1600" dirty="0">
                          <a:latin typeface="Times New Roman" panose="02020603050405020304" pitchFamily="18" charset="0"/>
                          <a:cs typeface="Times New Roman" panose="02020603050405020304" pitchFamily="18" charset="0"/>
                        </a:rPr>
                        <a:t>3</a:t>
                      </a:r>
                    </a:p>
                  </a:txBody>
                  <a:tcPr anchor="ctr"/>
                </a:tc>
                <a:tc>
                  <a:txBody>
                    <a:bodyPr/>
                    <a:lstStyle/>
                    <a:p>
                      <a:r>
                        <a:rPr lang="en-US" sz="1600" dirty="0" err="1">
                          <a:latin typeface="Times New Roman" panose="02020603050405020304" pitchFamily="18" charset="0"/>
                          <a:cs typeface="Times New Roman" panose="02020603050405020304" pitchFamily="18" charset="0"/>
                        </a:rPr>
                        <a:t>Hamidifar</a:t>
                      </a:r>
                      <a:r>
                        <a:rPr lang="en-US" sz="1600" dirty="0">
                          <a:latin typeface="Times New Roman" panose="02020603050405020304" pitchFamily="18" charset="0"/>
                          <a:cs typeface="Times New Roman" panose="02020603050405020304" pitchFamily="18" charset="0"/>
                        </a:rPr>
                        <a:t> &amp; Nones (2023) – </a:t>
                      </a:r>
                      <a:r>
                        <a:rPr lang="en-US" sz="1600" i="1" dirty="0">
                          <a:latin typeface="Times New Roman" panose="02020603050405020304" pitchFamily="18" charset="0"/>
                          <a:cs typeface="Times New Roman" panose="02020603050405020304" pitchFamily="18" charset="0"/>
                        </a:rPr>
                        <a:t>Spatiotemporal Variations of Riverine Flood Fatalities</a:t>
                      </a:r>
                    </a:p>
                    <a:p>
                      <a:r>
                        <a:rPr lang="en-US" sz="1600" i="1"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Michael Nones</a:t>
                      </a:r>
                      <a:endParaRPr lang="en-US" sz="1600" i="1" dirty="0">
                        <a:latin typeface="Times New Roman" panose="02020603050405020304" pitchFamily="18" charset="0"/>
                        <a:cs typeface="Times New Roman" panose="02020603050405020304" pitchFamily="18" charset="0"/>
                      </a:endParaRPr>
                    </a:p>
                  </a:txBody>
                  <a:tcPr anchor="ctr"/>
                </a:tc>
                <a:tc>
                  <a:txBody>
                    <a:bodyPr/>
                    <a:lstStyle/>
                    <a:p>
                      <a:r>
                        <a:rPr lang="en-US" sz="1600">
                          <a:latin typeface="Times New Roman" panose="02020603050405020304" pitchFamily="18" charset="0"/>
                          <a:cs typeface="Times New Roman" panose="02020603050405020304" pitchFamily="18" charset="0"/>
                        </a:rPr>
                        <a:t>Studies flood fatalities and flood patterns across regions.</a:t>
                      </a:r>
                    </a:p>
                  </a:txBody>
                  <a:tcPr anchor="ctr"/>
                </a:tc>
                <a:tc>
                  <a:txBody>
                    <a:bodyPr/>
                    <a:lstStyle/>
                    <a:p>
                      <a:r>
                        <a:rPr lang="en-US" sz="1600">
                          <a:latin typeface="Times New Roman" panose="02020603050405020304" pitchFamily="18" charset="0"/>
                          <a:cs typeface="Times New Roman" panose="02020603050405020304" pitchFamily="18" charset="0"/>
                        </a:rPr>
                        <a:t>Focuses on flood impact analysis rather than prediction.</a:t>
                      </a:r>
                    </a:p>
                  </a:txBody>
                  <a:tcPr anchor="ctr"/>
                </a:tc>
                <a:tc>
                  <a:txBody>
                    <a:bodyPr/>
                    <a:lstStyle/>
                    <a:p>
                      <a:r>
                        <a:rPr lang="en-US" sz="1600" dirty="0">
                          <a:latin typeface="Times New Roman" panose="02020603050405020304" pitchFamily="18" charset="0"/>
                          <a:cs typeface="Times New Roman" panose="02020603050405020304" pitchFamily="18" charset="0"/>
                        </a:rPr>
                        <a:t>Provides understanding of flood occurrence patterns and risk factors.</a:t>
                      </a:r>
                    </a:p>
                  </a:txBody>
                  <a:tcPr anchor="ctr"/>
                </a:tc>
                <a:extLst>
                  <a:ext uri="{0D108BD9-81ED-4DB2-BD59-A6C34878D82A}">
                    <a16:rowId xmlns:a16="http://schemas.microsoft.com/office/drawing/2014/main" val="510060273"/>
                  </a:ext>
                </a:extLst>
              </a:tr>
            </a:tbl>
          </a:graphicData>
        </a:graphic>
      </p:graphicFrame>
      <p:sp>
        <p:nvSpPr>
          <p:cNvPr id="3" name="Date Placeholder 2">
            <a:extLst>
              <a:ext uri="{FF2B5EF4-FFF2-40B4-BE49-F238E27FC236}">
                <a16:creationId xmlns:a16="http://schemas.microsoft.com/office/drawing/2014/main" id="{DB572C27-85C1-3410-9E44-427CD554D55E}"/>
              </a:ext>
            </a:extLst>
          </p:cNvPr>
          <p:cNvSpPr>
            <a:spLocks noGrp="1"/>
          </p:cNvSpPr>
          <p:nvPr>
            <p:ph type="dt" sz="half" idx="10"/>
          </p:nvPr>
        </p:nvSpPr>
        <p:spPr>
          <a:xfrm>
            <a:off x="-1" y="6492875"/>
            <a:ext cx="2743200" cy="365125"/>
          </a:xfrm>
        </p:spPr>
        <p:txBody>
          <a:bodyPr/>
          <a:lstStyle/>
          <a:p>
            <a:r>
              <a:rPr lang="en-IN" dirty="0"/>
              <a:t>16-09-2026</a:t>
            </a:r>
          </a:p>
        </p:txBody>
      </p:sp>
      <p:sp>
        <p:nvSpPr>
          <p:cNvPr id="5" name="Slide Number Placeholder 4">
            <a:extLst>
              <a:ext uri="{FF2B5EF4-FFF2-40B4-BE49-F238E27FC236}">
                <a16:creationId xmlns:a16="http://schemas.microsoft.com/office/drawing/2014/main" id="{E0ADA52B-4E09-5E91-8EF3-5EFE4C18171B}"/>
              </a:ext>
            </a:extLst>
          </p:cNvPr>
          <p:cNvSpPr>
            <a:spLocks noGrp="1"/>
          </p:cNvSpPr>
          <p:nvPr>
            <p:ph type="sldNum" sz="quarter" idx="12"/>
          </p:nvPr>
        </p:nvSpPr>
        <p:spPr>
          <a:xfrm>
            <a:off x="9448800" y="6492875"/>
            <a:ext cx="2743200" cy="365125"/>
          </a:xfrm>
        </p:spPr>
        <p:txBody>
          <a:bodyPr/>
          <a:lstStyle/>
          <a:p>
            <a:fld id="{C019D452-4D13-45E6-A944-00A80B3269BB}" type="slidenum">
              <a:rPr lang="en-IN" smtClean="0"/>
              <a:t>8</a:t>
            </a:fld>
            <a:endParaRPr lang="en-IN" dirty="0"/>
          </a:p>
        </p:txBody>
      </p:sp>
    </p:spTree>
    <p:extLst>
      <p:ext uri="{BB962C8B-B14F-4D97-AF65-F5344CB8AC3E}">
        <p14:creationId xmlns:p14="http://schemas.microsoft.com/office/powerpoint/2010/main" val="1389430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F8AAB-391D-CA0F-0193-E5B502D432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ED1A14-4644-109B-1C5C-D6E581D562F2}"/>
              </a:ext>
            </a:extLst>
          </p:cNvPr>
          <p:cNvSpPr>
            <a:spLocks noGrp="1"/>
          </p:cNvSpPr>
          <p:nvPr>
            <p:ph type="title"/>
          </p:nvPr>
        </p:nvSpPr>
        <p:spPr>
          <a:xfrm>
            <a:off x="0" y="265176"/>
            <a:ext cx="12192000" cy="877825"/>
          </a:xfrm>
          <a:solidFill>
            <a:srgbClr val="1F4E79"/>
          </a:solidFill>
        </p:spPr>
        <p:txBody>
          <a:bodyPr>
            <a:normAutofit fontScale="90000"/>
          </a:bodyPr>
          <a:lstStyle/>
          <a:p>
            <a:br>
              <a:rPr lang="en-IN" b="1" dirty="0">
                <a:solidFill>
                  <a:schemeClr val="bg1"/>
                </a:solidFill>
              </a:rPr>
            </a:br>
            <a:br>
              <a:rPr lang="en-IN" b="1" dirty="0">
                <a:solidFill>
                  <a:schemeClr val="bg1"/>
                </a:solidFill>
              </a:rPr>
            </a:br>
            <a:r>
              <a:rPr lang="en-IN" b="1" dirty="0">
                <a:solidFill>
                  <a:schemeClr val="bg1"/>
                </a:solidFill>
                <a:latin typeface="Times New Roman" panose="02020603050405020304" pitchFamily="18" charset="0"/>
                <a:cs typeface="Times New Roman" panose="02020603050405020304" pitchFamily="18" charset="0"/>
              </a:rPr>
              <a:t>Literature Survey </a:t>
            </a:r>
            <a:br>
              <a:rPr lang="en-IN" b="1" dirty="0">
                <a:solidFill>
                  <a:schemeClr val="bg1"/>
                </a:solidFill>
                <a:effectLst/>
              </a:rPr>
            </a:br>
            <a:br>
              <a:rPr lang="en-IN" b="1" dirty="0">
                <a:solidFill>
                  <a:schemeClr val="bg1"/>
                </a:solidFill>
                <a:effectLst/>
              </a:rPr>
            </a:br>
            <a:endParaRPr lang="en-IN" dirty="0">
              <a:solidFill>
                <a:schemeClr val="bg1"/>
              </a:solidFill>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B60FC8A7-C4E4-FA8C-AD00-9F53C2BC49CF}"/>
              </a:ext>
            </a:extLst>
          </p:cNvPr>
          <p:cNvGraphicFramePr>
            <a:graphicFrameLocks noGrp="1"/>
          </p:cNvGraphicFramePr>
          <p:nvPr>
            <p:ph idx="1"/>
            <p:extLst>
              <p:ext uri="{D42A27DB-BD31-4B8C-83A1-F6EECF244321}">
                <p14:modId xmlns:p14="http://schemas.microsoft.com/office/powerpoint/2010/main" val="1498675578"/>
              </p:ext>
            </p:extLst>
          </p:nvPr>
        </p:nvGraphicFramePr>
        <p:xfrm>
          <a:off x="70103" y="1143001"/>
          <a:ext cx="12051793" cy="4209751"/>
        </p:xfrm>
        <a:graphic>
          <a:graphicData uri="http://schemas.openxmlformats.org/drawingml/2006/table">
            <a:tbl>
              <a:tblPr firstRow="1" bandRow="1">
                <a:tableStyleId>{5C22544A-7EE6-4342-B048-85BDC9FD1C3A}</a:tableStyleId>
              </a:tblPr>
              <a:tblGrid>
                <a:gridCol w="1389888">
                  <a:extLst>
                    <a:ext uri="{9D8B030D-6E8A-4147-A177-3AD203B41FA5}">
                      <a16:colId xmlns:a16="http://schemas.microsoft.com/office/drawing/2014/main" val="918230626"/>
                    </a:ext>
                  </a:extLst>
                </a:gridCol>
                <a:gridCol w="3091423">
                  <a:extLst>
                    <a:ext uri="{9D8B030D-6E8A-4147-A177-3AD203B41FA5}">
                      <a16:colId xmlns:a16="http://schemas.microsoft.com/office/drawing/2014/main" val="4286563068"/>
                    </a:ext>
                  </a:extLst>
                </a:gridCol>
                <a:gridCol w="2523494">
                  <a:extLst>
                    <a:ext uri="{9D8B030D-6E8A-4147-A177-3AD203B41FA5}">
                      <a16:colId xmlns:a16="http://schemas.microsoft.com/office/drawing/2014/main" val="898293660"/>
                    </a:ext>
                  </a:extLst>
                </a:gridCol>
                <a:gridCol w="2535436">
                  <a:extLst>
                    <a:ext uri="{9D8B030D-6E8A-4147-A177-3AD203B41FA5}">
                      <a16:colId xmlns:a16="http://schemas.microsoft.com/office/drawing/2014/main" val="4202862956"/>
                    </a:ext>
                  </a:extLst>
                </a:gridCol>
                <a:gridCol w="2511552">
                  <a:extLst>
                    <a:ext uri="{9D8B030D-6E8A-4147-A177-3AD203B41FA5}">
                      <a16:colId xmlns:a16="http://schemas.microsoft.com/office/drawing/2014/main" val="2946860517"/>
                    </a:ext>
                  </a:extLst>
                </a:gridCol>
              </a:tblGrid>
              <a:tr h="886139">
                <a:tc>
                  <a:txBody>
                    <a:bodyPr/>
                    <a:lstStyle/>
                    <a:p>
                      <a:pPr algn="ctr"/>
                      <a:r>
                        <a:rPr lang="en-US" dirty="0">
                          <a:latin typeface="Times New Roman" panose="02020603050405020304" pitchFamily="18" charset="0"/>
                          <a:cs typeface="Times New Roman" panose="02020603050405020304" pitchFamily="18" charset="0"/>
                        </a:rPr>
                        <a:t>Sr. No</a:t>
                      </a:r>
                    </a:p>
                  </a:txBody>
                  <a:tcPr anchor="ctr"/>
                </a:tc>
                <a:tc>
                  <a:txBody>
                    <a:bodyPr/>
                    <a:lstStyle/>
                    <a:p>
                      <a:pPr algn="ctr"/>
                      <a:r>
                        <a:rPr lang="en-US" dirty="0">
                          <a:latin typeface="Times New Roman" panose="02020603050405020304" pitchFamily="18" charset="0"/>
                          <a:cs typeface="Times New Roman" panose="02020603050405020304" pitchFamily="18" charset="0"/>
                        </a:rPr>
                        <a:t>Literature / Paper</a:t>
                      </a:r>
                    </a:p>
                  </a:txBody>
                  <a:tcPr anchor="ctr"/>
                </a:tc>
                <a:tc>
                  <a:txBody>
                    <a:bodyPr/>
                    <a:lstStyle/>
                    <a:p>
                      <a:pPr algn="ctr"/>
                      <a:r>
                        <a:rPr lang="en-US" dirty="0">
                          <a:latin typeface="Times New Roman" panose="02020603050405020304" pitchFamily="18" charset="0"/>
                          <a:cs typeface="Times New Roman" panose="02020603050405020304" pitchFamily="18" charset="0"/>
                        </a:rPr>
                        <a:t>Main Approach</a:t>
                      </a:r>
                    </a:p>
                  </a:txBody>
                  <a:tcPr anchor="ctr"/>
                </a:tc>
                <a:tc>
                  <a:txBody>
                    <a:bodyPr/>
                    <a:lstStyle/>
                    <a:p>
                      <a:pPr algn="ctr"/>
                      <a:r>
                        <a:rPr lang="en-US" dirty="0">
                          <a:latin typeface="Times New Roman" panose="02020603050405020304" pitchFamily="18" charset="0"/>
                          <a:cs typeface="Times New Roman" panose="02020603050405020304" pitchFamily="18" charset="0"/>
                        </a:rPr>
                        <a:t>Limitations / Gap</a:t>
                      </a:r>
                    </a:p>
                  </a:txBody>
                  <a:tcPr anchor="ctr"/>
                </a:tc>
                <a:tc>
                  <a:txBody>
                    <a:bodyPr/>
                    <a:lstStyle/>
                    <a:p>
                      <a:pPr algn="ctr"/>
                      <a:r>
                        <a:rPr lang="en-US" dirty="0">
                          <a:latin typeface="Times New Roman" panose="02020603050405020304" pitchFamily="18" charset="0"/>
                          <a:cs typeface="Times New Roman" panose="02020603050405020304" pitchFamily="18" charset="0"/>
                        </a:rPr>
                        <a:t>Relevance to Proposed System</a:t>
                      </a:r>
                    </a:p>
                  </a:txBody>
                  <a:tcPr anchor="ctr"/>
                </a:tc>
                <a:extLst>
                  <a:ext uri="{0D108BD9-81ED-4DB2-BD59-A6C34878D82A}">
                    <a16:rowId xmlns:a16="http://schemas.microsoft.com/office/drawing/2014/main" val="1556761080"/>
                  </a:ext>
                </a:extLst>
              </a:tr>
              <a:tr h="1525292">
                <a:tc>
                  <a:txBody>
                    <a:bodyPr/>
                    <a:lstStyle/>
                    <a:p>
                      <a:pPr algn="ctr"/>
                      <a:r>
                        <a:rPr lang="en-US" dirty="0">
                          <a:latin typeface="Times New Roman" panose="02020603050405020304" pitchFamily="18" charset="0"/>
                          <a:cs typeface="Times New Roman" panose="02020603050405020304" pitchFamily="18" charset="0"/>
                        </a:rPr>
                        <a:t>4</a:t>
                      </a:r>
                    </a:p>
                  </a:txBody>
                  <a:tcPr anchor="ctr"/>
                </a:tc>
                <a:tc>
                  <a:txBody>
                    <a:bodyPr/>
                    <a:lstStyle/>
                    <a:p>
                      <a:r>
                        <a:rPr lang="en-US" sz="1600" dirty="0">
                          <a:latin typeface="Times New Roman" panose="02020603050405020304" pitchFamily="18" charset="0"/>
                          <a:cs typeface="Times New Roman" panose="02020603050405020304" pitchFamily="18" charset="0"/>
                        </a:rPr>
                        <a:t>Murtaza et al. (2022) – </a:t>
                      </a:r>
                      <a:r>
                        <a:rPr lang="en-US" sz="1600" i="1" dirty="0">
                          <a:latin typeface="Times New Roman" panose="02020603050405020304" pitchFamily="18" charset="0"/>
                          <a:cs typeface="Times New Roman" panose="02020603050405020304" pitchFamily="18" charset="0"/>
                        </a:rPr>
                        <a:t>Investigation of Runoff Variations and Flood Frequency Estimates of the Jhelum River</a:t>
                      </a:r>
                    </a:p>
                    <a:p>
                      <a:r>
                        <a:rPr lang="en-US" sz="1600" i="1"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Roshni </a:t>
                      </a:r>
                      <a:r>
                        <a:rPr lang="en-IN" sz="1600" i="1" dirty="0" err="1">
                          <a:latin typeface="Times New Roman" panose="02020603050405020304" pitchFamily="18" charset="0"/>
                          <a:cs typeface="Times New Roman" panose="02020603050405020304" pitchFamily="18" charset="0"/>
                        </a:rPr>
                        <a:t>Thendiyath</a:t>
                      </a:r>
                      <a:endParaRPr lang="en-US" sz="1600" i="1" dirty="0">
                        <a:latin typeface="Times New Roman" panose="02020603050405020304" pitchFamily="18" charset="0"/>
                        <a:cs typeface="Times New Roman" panose="02020603050405020304" pitchFamily="18" charset="0"/>
                      </a:endParaRPr>
                    </a:p>
                  </a:txBody>
                  <a:tcPr anchor="ctr"/>
                </a:tc>
                <a:tc>
                  <a:txBody>
                    <a:bodyPr/>
                    <a:lstStyle/>
                    <a:p>
                      <a:r>
                        <a:rPr lang="en-US" sz="1600" dirty="0">
                          <a:latin typeface="Times New Roman" panose="02020603050405020304" pitchFamily="18" charset="0"/>
                          <a:cs typeface="Times New Roman" panose="02020603050405020304" pitchFamily="18" charset="0"/>
                        </a:rPr>
                        <a:t>Uses flood frequency estimation and runoff analysis techniques.</a:t>
                      </a:r>
                    </a:p>
                  </a:txBody>
                  <a:tcPr anchor="ctr"/>
                </a:tc>
                <a:tc>
                  <a:txBody>
                    <a:bodyPr/>
                    <a:lstStyle/>
                    <a:p>
                      <a:r>
                        <a:rPr lang="en-US" sz="1600" dirty="0">
                          <a:latin typeface="Times New Roman" panose="02020603050405020304" pitchFamily="18" charset="0"/>
                          <a:cs typeface="Times New Roman" panose="02020603050405020304" pitchFamily="18" charset="0"/>
                        </a:rPr>
                        <a:t>Limited to a specific river basin study.</a:t>
                      </a:r>
                    </a:p>
                  </a:txBody>
                  <a:tcPr anchor="ctr"/>
                </a:tc>
                <a:tc>
                  <a:txBody>
                    <a:bodyPr/>
                    <a:lstStyle/>
                    <a:p>
                      <a:r>
                        <a:rPr lang="en-US" sz="1600" dirty="0">
                          <a:latin typeface="Times New Roman" panose="02020603050405020304" pitchFamily="18" charset="0"/>
                          <a:cs typeface="Times New Roman" panose="02020603050405020304" pitchFamily="18" charset="0"/>
                        </a:rPr>
                        <a:t>Supports statistical flood analysis and return period estimation.</a:t>
                      </a:r>
                    </a:p>
                  </a:txBody>
                  <a:tcPr anchor="ctr"/>
                </a:tc>
                <a:extLst>
                  <a:ext uri="{0D108BD9-81ED-4DB2-BD59-A6C34878D82A}">
                    <a16:rowId xmlns:a16="http://schemas.microsoft.com/office/drawing/2014/main" val="87327449"/>
                  </a:ext>
                </a:extLst>
              </a:tr>
              <a:tr h="1383331">
                <a:tc>
                  <a:txBody>
                    <a:bodyPr/>
                    <a:lstStyle/>
                    <a:p>
                      <a:pPr algn="ctr"/>
                      <a:r>
                        <a:rPr lang="en-US" dirty="0">
                          <a:latin typeface="Times New Roman" panose="02020603050405020304" pitchFamily="18" charset="0"/>
                          <a:cs typeface="Times New Roman" panose="02020603050405020304" pitchFamily="18" charset="0"/>
                        </a:rPr>
                        <a:t>5</a:t>
                      </a:r>
                    </a:p>
                  </a:txBody>
                  <a:tcPr anchor="ctr"/>
                </a:tc>
                <a:tc>
                  <a:txBody>
                    <a:bodyPr/>
                    <a:lstStyle/>
                    <a:p>
                      <a:r>
                        <a:rPr lang="en-IN" sz="1600" b="0" dirty="0" err="1">
                          <a:latin typeface="Times New Roman" panose="02020603050405020304" pitchFamily="18" charset="0"/>
                          <a:cs typeface="Times New Roman" panose="02020603050405020304" pitchFamily="18" charset="0"/>
                        </a:rPr>
                        <a:t>Khwairakpam</a:t>
                      </a:r>
                      <a:r>
                        <a:rPr lang="en-IN" sz="1600" b="0" dirty="0">
                          <a:latin typeface="Times New Roman" panose="02020603050405020304" pitchFamily="18" charset="0"/>
                          <a:cs typeface="Times New Roman" panose="02020603050405020304" pitchFamily="18" charset="0"/>
                        </a:rPr>
                        <a:t> &amp; Kundu (2024) – </a:t>
                      </a:r>
                      <a:r>
                        <a:rPr lang="en-IN" sz="1600" i="1" dirty="0">
                          <a:latin typeface="Times New Roman" panose="02020603050405020304" pitchFamily="18" charset="0"/>
                          <a:cs typeface="Times New Roman" panose="02020603050405020304" pitchFamily="18" charset="0"/>
                        </a:rPr>
                        <a:t>Significance of Different Probability Distributions in Flood Frequency Analysis of Brahmani-Baitarani River Basin, India</a:t>
                      </a:r>
                      <a:r>
                        <a:rPr lang="en-IN" sz="1600" dirty="0">
                          <a:latin typeface="Times New Roman" panose="02020603050405020304" pitchFamily="18" charset="0"/>
                          <a:cs typeface="Times New Roman" panose="02020603050405020304" pitchFamily="18" charset="0"/>
                        </a:rPr>
                        <a:t> </a:t>
                      </a:r>
                    </a:p>
                    <a:p>
                      <a:r>
                        <a:rPr lang="en-IN" sz="1600" b="1" dirty="0">
                          <a:latin typeface="Times New Roman" panose="02020603050405020304" pitchFamily="18" charset="0"/>
                          <a:cs typeface="Times New Roman" panose="02020603050405020304" pitchFamily="18" charset="0"/>
                        </a:rPr>
                        <a:t>- </a:t>
                      </a:r>
                      <a:r>
                        <a:rPr lang="en-IN" sz="1600" b="0" i="1" dirty="0">
                          <a:latin typeface="Times New Roman" panose="02020603050405020304" pitchFamily="18" charset="0"/>
                          <a:cs typeface="Times New Roman" panose="02020603050405020304" pitchFamily="18" charset="0"/>
                        </a:rPr>
                        <a:t>Robindro Singh </a:t>
                      </a:r>
                      <a:r>
                        <a:rPr lang="en-IN" sz="1600" b="0" i="1" dirty="0" err="1">
                          <a:latin typeface="Times New Roman" panose="02020603050405020304" pitchFamily="18" charset="0"/>
                          <a:cs typeface="Times New Roman" panose="02020603050405020304" pitchFamily="18" charset="0"/>
                        </a:rPr>
                        <a:t>Khwairakpam</a:t>
                      </a:r>
                      <a:r>
                        <a:rPr lang="en-IN" sz="1600" b="0" i="1" dirty="0">
                          <a:latin typeface="Times New Roman" panose="02020603050405020304" pitchFamily="18" charset="0"/>
                          <a:cs typeface="Times New Roman" panose="02020603050405020304" pitchFamily="18" charset="0"/>
                        </a:rPr>
                        <a:t> &amp; Sananda Kundu</a:t>
                      </a:r>
                      <a:endParaRPr lang="en-US" sz="1600" b="0" i="1" dirty="0">
                        <a:latin typeface="Times New Roman" panose="02020603050405020304" pitchFamily="18" charset="0"/>
                        <a:cs typeface="Times New Roman" panose="02020603050405020304" pitchFamily="18" charset="0"/>
                      </a:endParaRPr>
                    </a:p>
                  </a:txBody>
                  <a:tcPr anchor="ctr"/>
                </a:tc>
                <a:tc>
                  <a:txBody>
                    <a:bodyPr/>
                    <a:lstStyle/>
                    <a:p>
                      <a:r>
                        <a:rPr lang="en-IN" sz="1600" dirty="0">
                          <a:latin typeface="Times New Roman" panose="02020603050405020304" pitchFamily="18" charset="0"/>
                          <a:cs typeface="Times New Roman" panose="02020603050405020304" pitchFamily="18" charset="0"/>
                        </a:rPr>
                        <a:t>Uses probability distributions and goodness-of-fit techniques for flood frequency estimation.</a:t>
                      </a:r>
                      <a:endParaRPr lang="en-US" sz="1600" dirty="0">
                        <a:latin typeface="Times New Roman" panose="02020603050405020304" pitchFamily="18" charset="0"/>
                        <a:cs typeface="Times New Roman" panose="02020603050405020304" pitchFamily="18" charset="0"/>
                      </a:endParaRPr>
                    </a:p>
                  </a:txBody>
                  <a:tcPr anchor="ctr"/>
                </a:tc>
                <a:tc>
                  <a:txBody>
                    <a:bodyPr/>
                    <a:lstStyle/>
                    <a:p>
                      <a:r>
                        <a:rPr lang="en-IN" sz="1600" dirty="0">
                          <a:latin typeface="Times New Roman" panose="02020603050405020304" pitchFamily="18" charset="0"/>
                          <a:cs typeface="Times New Roman" panose="02020603050405020304" pitchFamily="18" charset="0"/>
                        </a:rPr>
                        <a:t>Limited to probability-based flood frequency analysis of a specific river basin. Does not integrate machine learning prediction.</a:t>
                      </a:r>
                      <a:endParaRPr lang="en-US" sz="1600" dirty="0">
                        <a:latin typeface="Times New Roman" panose="02020603050405020304" pitchFamily="18" charset="0"/>
                        <a:cs typeface="Times New Roman" panose="02020603050405020304" pitchFamily="18" charset="0"/>
                      </a:endParaRPr>
                    </a:p>
                  </a:txBody>
                  <a:tcPr anchor="ctr"/>
                </a:tc>
                <a:tc>
                  <a:txBody>
                    <a:bodyPr/>
                    <a:lstStyle/>
                    <a:p>
                      <a:pPr algn="l"/>
                      <a:r>
                        <a:rPr lang="en-IN" sz="1600" b="0" dirty="0">
                          <a:latin typeface="Times New Roman" panose="02020603050405020304" pitchFamily="18" charset="0"/>
                          <a:cs typeface="Times New Roman" panose="02020603050405020304" pitchFamily="18" charset="0"/>
                        </a:rPr>
                        <a:t>Supports probability distribution analysis, goodness-of-fit testing and extreme flood estimation </a:t>
                      </a:r>
                      <a:r>
                        <a:rPr lang="en-IN" sz="1600" dirty="0">
                          <a:latin typeface="Times New Roman" panose="02020603050405020304" pitchFamily="18" charset="0"/>
                          <a:cs typeface="Times New Roman" panose="02020603050405020304" pitchFamily="18" charset="0"/>
                        </a:rPr>
                        <a:t>in the proposed system.</a:t>
                      </a:r>
                      <a:endParaRPr 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599849060"/>
                  </a:ext>
                </a:extLst>
              </a:tr>
            </a:tbl>
          </a:graphicData>
        </a:graphic>
      </p:graphicFrame>
      <p:sp>
        <p:nvSpPr>
          <p:cNvPr id="3" name="Date Placeholder 2">
            <a:extLst>
              <a:ext uri="{FF2B5EF4-FFF2-40B4-BE49-F238E27FC236}">
                <a16:creationId xmlns:a16="http://schemas.microsoft.com/office/drawing/2014/main" id="{F862109C-50AC-61F5-AEBE-281825CF6DAB}"/>
              </a:ext>
            </a:extLst>
          </p:cNvPr>
          <p:cNvSpPr>
            <a:spLocks noGrp="1"/>
          </p:cNvSpPr>
          <p:nvPr>
            <p:ph type="dt" sz="half" idx="10"/>
          </p:nvPr>
        </p:nvSpPr>
        <p:spPr>
          <a:xfrm>
            <a:off x="-1" y="6592824"/>
            <a:ext cx="2743200" cy="365125"/>
          </a:xfrm>
        </p:spPr>
        <p:txBody>
          <a:bodyPr/>
          <a:lstStyle/>
          <a:p>
            <a:r>
              <a:rPr lang="en-IN" dirty="0"/>
              <a:t>16-09-2026</a:t>
            </a:r>
          </a:p>
        </p:txBody>
      </p:sp>
      <p:sp>
        <p:nvSpPr>
          <p:cNvPr id="5" name="Slide Number Placeholder 4">
            <a:extLst>
              <a:ext uri="{FF2B5EF4-FFF2-40B4-BE49-F238E27FC236}">
                <a16:creationId xmlns:a16="http://schemas.microsoft.com/office/drawing/2014/main" id="{DDA25B47-B7D3-17A8-4E2E-219A2BF0A71E}"/>
              </a:ext>
            </a:extLst>
          </p:cNvPr>
          <p:cNvSpPr>
            <a:spLocks noGrp="1"/>
          </p:cNvSpPr>
          <p:nvPr>
            <p:ph type="sldNum" sz="quarter" idx="12"/>
          </p:nvPr>
        </p:nvSpPr>
        <p:spPr>
          <a:xfrm>
            <a:off x="9448799" y="6592823"/>
            <a:ext cx="2743200" cy="365125"/>
          </a:xfrm>
        </p:spPr>
        <p:txBody>
          <a:bodyPr/>
          <a:lstStyle/>
          <a:p>
            <a:fld id="{C019D452-4D13-45E6-A944-00A80B3269BB}" type="slidenum">
              <a:rPr lang="en-IN" smtClean="0"/>
              <a:t>9</a:t>
            </a:fld>
            <a:endParaRPr lang="en-IN" dirty="0"/>
          </a:p>
        </p:txBody>
      </p:sp>
    </p:spTree>
    <p:extLst>
      <p:ext uri="{BB962C8B-B14F-4D97-AF65-F5344CB8AC3E}">
        <p14:creationId xmlns:p14="http://schemas.microsoft.com/office/powerpoint/2010/main" val="404932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68F50-DDC8-BCD6-0338-3F7D5412A3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C29DBD-C6E5-CC0F-BB65-A4F531BB5B43}"/>
              </a:ext>
            </a:extLst>
          </p:cNvPr>
          <p:cNvSpPr>
            <a:spLocks noGrp="1"/>
          </p:cNvSpPr>
          <p:nvPr>
            <p:ph type="title"/>
          </p:nvPr>
        </p:nvSpPr>
        <p:spPr>
          <a:xfrm>
            <a:off x="0" y="265176"/>
            <a:ext cx="12192000" cy="877825"/>
          </a:xfrm>
          <a:solidFill>
            <a:srgbClr val="1F4E79"/>
          </a:solidFill>
        </p:spPr>
        <p:txBody>
          <a:bodyPr>
            <a:normAutofit fontScale="90000"/>
          </a:bodyPr>
          <a:lstStyle/>
          <a:p>
            <a:br>
              <a:rPr lang="en-IN" b="1" dirty="0"/>
            </a:br>
            <a:r>
              <a:rPr lang="en-IN" b="1" dirty="0">
                <a:solidFill>
                  <a:schemeClr val="bg1"/>
                </a:solidFill>
                <a:latin typeface="Times New Roman" panose="02020603050405020304" pitchFamily="18" charset="0"/>
                <a:cs typeface="Times New Roman" panose="02020603050405020304" pitchFamily="18" charset="0"/>
              </a:rPr>
              <a:t>Problem Statement</a:t>
            </a:r>
            <a:br>
              <a:rPr lang="en-IN" b="1" dirty="0">
                <a:effectLst/>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C846D60-EE1D-9B81-4E89-60265464DF32}"/>
              </a:ext>
            </a:extLst>
          </p:cNvPr>
          <p:cNvSpPr>
            <a:spLocks noGrp="1"/>
          </p:cNvSpPr>
          <p:nvPr>
            <p:ph idx="1"/>
          </p:nvPr>
        </p:nvSpPr>
        <p:spPr>
          <a:xfrm>
            <a:off x="0" y="1307592"/>
            <a:ext cx="12192000" cy="4915091"/>
          </a:xfrm>
        </p:spPr>
        <p:txBody>
          <a:bodyPr>
            <a:normAutofit/>
          </a:bodyPr>
          <a:lstStyle/>
          <a:p>
            <a:pPr algn="just">
              <a:lnSpc>
                <a:spcPct val="150000"/>
              </a:lnSpc>
            </a:pPr>
            <a:r>
              <a:rPr lang="en-IN" dirty="0">
                <a:latin typeface="Times New Roman" panose="02020603050405020304" pitchFamily="18" charset="0"/>
                <a:cs typeface="Times New Roman" panose="02020603050405020304" pitchFamily="18" charset="0"/>
              </a:rPr>
              <a:t>Climate change is increasing flood frequency and intensity. Traditional methods struggle to assess extreme flood events accurately, while manual identification is time-consuming. Therefore, hybrid statistical and machine learning approaches are needed</a:t>
            </a:r>
            <a:r>
              <a:rPr lang="en-IN" dirty="0"/>
              <a:t>.</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F2FD2A0-55CF-4B68-1E7E-00C5C6F3948D}"/>
              </a:ext>
            </a:extLst>
          </p:cNvPr>
          <p:cNvSpPr>
            <a:spLocks noGrp="1"/>
          </p:cNvSpPr>
          <p:nvPr>
            <p:ph type="dt" sz="half" idx="10"/>
          </p:nvPr>
        </p:nvSpPr>
        <p:spPr>
          <a:xfrm>
            <a:off x="0" y="6492875"/>
            <a:ext cx="2743200" cy="365125"/>
          </a:xfrm>
        </p:spPr>
        <p:txBody>
          <a:bodyPr/>
          <a:lstStyle/>
          <a:p>
            <a:r>
              <a:rPr lang="en-IN" dirty="0"/>
              <a:t>16-09-2026</a:t>
            </a:r>
          </a:p>
        </p:txBody>
      </p:sp>
      <p:sp>
        <p:nvSpPr>
          <p:cNvPr id="5" name="Slide Number Placeholder 4">
            <a:extLst>
              <a:ext uri="{FF2B5EF4-FFF2-40B4-BE49-F238E27FC236}">
                <a16:creationId xmlns:a16="http://schemas.microsoft.com/office/drawing/2014/main" id="{7D1BD040-C025-E29A-678B-D4CDFFD97128}"/>
              </a:ext>
            </a:extLst>
          </p:cNvPr>
          <p:cNvSpPr>
            <a:spLocks noGrp="1"/>
          </p:cNvSpPr>
          <p:nvPr>
            <p:ph type="sldNum" sz="quarter" idx="12"/>
          </p:nvPr>
        </p:nvSpPr>
        <p:spPr>
          <a:xfrm>
            <a:off x="9448800" y="6492875"/>
            <a:ext cx="2743200" cy="365125"/>
          </a:xfrm>
        </p:spPr>
        <p:txBody>
          <a:bodyPr/>
          <a:lstStyle/>
          <a:p>
            <a:fld id="{C019D452-4D13-45E6-A944-00A80B3269BB}" type="slidenum">
              <a:rPr lang="en-IN" smtClean="0"/>
              <a:t>10</a:t>
            </a:fld>
            <a:endParaRPr lang="en-IN" dirty="0"/>
          </a:p>
        </p:txBody>
      </p:sp>
    </p:spTree>
    <p:extLst>
      <p:ext uri="{BB962C8B-B14F-4D97-AF65-F5344CB8AC3E}">
        <p14:creationId xmlns:p14="http://schemas.microsoft.com/office/powerpoint/2010/main" val="3109866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EB378-15F7-E9D2-C267-1ED9BCEEE8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B9CA7B-C2D2-D511-A66E-99C91D2B23E1}"/>
              </a:ext>
            </a:extLst>
          </p:cNvPr>
          <p:cNvSpPr>
            <a:spLocks noGrp="1"/>
          </p:cNvSpPr>
          <p:nvPr>
            <p:ph type="title"/>
          </p:nvPr>
        </p:nvSpPr>
        <p:spPr>
          <a:xfrm>
            <a:off x="0" y="265176"/>
            <a:ext cx="12192000" cy="877825"/>
          </a:xfrm>
          <a:solidFill>
            <a:srgbClr val="1F4E79"/>
          </a:solidFill>
        </p:spPr>
        <p:txBody>
          <a:bodyPr>
            <a:normAutofit fontScale="90000"/>
          </a:bodyPr>
          <a:lstStyle/>
          <a:p>
            <a:br>
              <a:rPr lang="en-IN" b="1" dirty="0">
                <a:solidFill>
                  <a:schemeClr val="bg1"/>
                </a:solidFill>
              </a:rPr>
            </a:br>
            <a:br>
              <a:rPr lang="en-IN" b="1" dirty="0">
                <a:solidFill>
                  <a:schemeClr val="bg1"/>
                </a:solidFill>
              </a:rPr>
            </a:br>
            <a:r>
              <a:rPr lang="en-IN" b="1" dirty="0">
                <a:solidFill>
                  <a:schemeClr val="bg1"/>
                </a:solidFill>
                <a:latin typeface="Times New Roman" panose="02020603050405020304" pitchFamily="18" charset="0"/>
                <a:cs typeface="Times New Roman" panose="02020603050405020304" pitchFamily="18" charset="0"/>
              </a:rPr>
              <a:t>Proposed System</a:t>
            </a:r>
            <a:r>
              <a:rPr lang="en-IN" b="1" dirty="0">
                <a:solidFill>
                  <a:schemeClr val="bg1"/>
                </a:solidFill>
              </a:rPr>
              <a:t> </a:t>
            </a:r>
            <a:br>
              <a:rPr lang="en-IN" b="1" dirty="0">
                <a:solidFill>
                  <a:schemeClr val="bg1"/>
                </a:solidFill>
                <a:effectLst/>
              </a:rPr>
            </a:br>
            <a:br>
              <a:rPr lang="en-IN" b="1" dirty="0">
                <a:solidFill>
                  <a:schemeClr val="bg1"/>
                </a:solidFill>
                <a:effectLst/>
              </a:rPr>
            </a:br>
            <a:endParaRPr lang="en-IN"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CC58ADF-C278-035E-2D0E-732114F885E5}"/>
              </a:ext>
            </a:extLst>
          </p:cNvPr>
          <p:cNvSpPr>
            <a:spLocks noGrp="1"/>
          </p:cNvSpPr>
          <p:nvPr>
            <p:ph idx="1"/>
          </p:nvPr>
        </p:nvSpPr>
        <p:spPr>
          <a:xfrm>
            <a:off x="0" y="1307592"/>
            <a:ext cx="12192000" cy="4915091"/>
          </a:xfrm>
        </p:spPr>
        <p:txBody>
          <a:bodyPr/>
          <a:lstStyle/>
          <a:p>
            <a:pPr lvl="0" algn="just"/>
            <a:r>
              <a:rPr lang="en-IN" b="1" dirty="0">
                <a:latin typeface="Times New Roman" panose="02020603050405020304" pitchFamily="18" charset="0"/>
                <a:cs typeface="Times New Roman" panose="02020603050405020304" pitchFamily="18" charset="0"/>
              </a:rPr>
              <a:t>The system collects and preprocesses historical rainfall and hydro-meteorological data</a:t>
            </a:r>
            <a:r>
              <a:rPr lang="en-IN" dirty="0">
                <a:latin typeface="Times New Roman" panose="02020603050405020304" pitchFamily="18" charset="0"/>
                <a:cs typeface="Times New Roman" panose="02020603050405020304" pitchFamily="18" charset="0"/>
              </a:rPr>
              <a:t> to prepare it for analysis. </a:t>
            </a:r>
          </a:p>
          <a:p>
            <a:pPr lvl="0" algn="just"/>
            <a:r>
              <a:rPr lang="en-IN" b="1" dirty="0">
                <a:latin typeface="Times New Roman" panose="02020603050405020304" pitchFamily="18" charset="0"/>
                <a:cs typeface="Times New Roman" panose="02020603050405020304" pitchFamily="18" charset="0"/>
              </a:rPr>
              <a:t>Extreme Value Analysis and multiple probability distributions</a:t>
            </a:r>
            <a:r>
              <a:rPr lang="en-IN" dirty="0">
                <a:latin typeface="Times New Roman" panose="02020603050405020304" pitchFamily="18" charset="0"/>
                <a:cs typeface="Times New Roman" panose="02020603050405020304" pitchFamily="18" charset="0"/>
              </a:rPr>
              <a:t> are used to study extreme rainfall behaviour and estimate return periods. </a:t>
            </a:r>
          </a:p>
          <a:p>
            <a:pPr lvl="0" algn="just"/>
            <a:r>
              <a:rPr lang="en-IN" b="1" dirty="0">
                <a:latin typeface="Times New Roman" panose="02020603050405020304" pitchFamily="18" charset="0"/>
                <a:cs typeface="Times New Roman" panose="02020603050405020304" pitchFamily="18" charset="0"/>
              </a:rPr>
              <a:t>Random Forest, </a:t>
            </a:r>
            <a:r>
              <a:rPr lang="en-IN" b="1" dirty="0" err="1">
                <a:latin typeface="Times New Roman" panose="02020603050405020304" pitchFamily="18" charset="0"/>
                <a:cs typeface="Times New Roman" panose="02020603050405020304" pitchFamily="18" charset="0"/>
              </a:rPr>
              <a:t>XGBoost</a:t>
            </a:r>
            <a:r>
              <a:rPr lang="en-IN" b="1" dirty="0">
                <a:latin typeface="Times New Roman" panose="02020603050405020304" pitchFamily="18" charset="0"/>
                <a:cs typeface="Times New Roman" panose="02020603050405020304" pitchFamily="18" charset="0"/>
              </a:rPr>
              <a:t>, and Kernel SVM</a:t>
            </a:r>
            <a:r>
              <a:rPr lang="en-IN" dirty="0">
                <a:latin typeface="Times New Roman" panose="02020603050405020304" pitchFamily="18" charset="0"/>
                <a:cs typeface="Times New Roman" panose="02020603050405020304" pitchFamily="18" charset="0"/>
              </a:rPr>
              <a:t> are trained to predict flood risk and identify flood-prone regions. </a:t>
            </a:r>
          </a:p>
          <a:p>
            <a:pPr lvl="0" algn="just"/>
            <a:r>
              <a:rPr lang="en-IN" b="1" dirty="0">
                <a:latin typeface="Times New Roman" panose="02020603050405020304" pitchFamily="18" charset="0"/>
                <a:cs typeface="Times New Roman" panose="02020603050405020304" pitchFamily="18" charset="0"/>
              </a:rPr>
              <a:t>Majority Voting Ensemble</a:t>
            </a:r>
            <a:r>
              <a:rPr lang="en-IN" dirty="0">
                <a:latin typeface="Times New Roman" panose="02020603050405020304" pitchFamily="18" charset="0"/>
                <a:cs typeface="Times New Roman" panose="02020603050405020304" pitchFamily="18" charset="0"/>
              </a:rPr>
              <a:t> combines the predictions of the individual ML models to produce the final flood-risk assessment. </a:t>
            </a:r>
          </a:p>
          <a:p>
            <a:pPr lvl="0" algn="just"/>
            <a:r>
              <a:rPr lang="en-IN" b="1" dirty="0">
                <a:latin typeface="Times New Roman" panose="02020603050405020304" pitchFamily="18" charset="0"/>
                <a:cs typeface="Times New Roman" panose="02020603050405020304" pitchFamily="18" charset="0"/>
              </a:rPr>
              <a:t>An interactive Flood Risk Dashboard</a:t>
            </a:r>
            <a:r>
              <a:rPr lang="en-IN" dirty="0">
                <a:latin typeface="Times New Roman" panose="02020603050405020304" pitchFamily="18" charset="0"/>
                <a:cs typeface="Times New Roman" panose="02020603050405020304" pitchFamily="18" charset="0"/>
              </a:rPr>
              <a:t> displays risk predictions, susceptibility maps, return periods, and other analytical results for decision-making. </a:t>
            </a:r>
          </a:p>
        </p:txBody>
      </p:sp>
      <p:sp>
        <p:nvSpPr>
          <p:cNvPr id="4" name="Date Placeholder 3">
            <a:extLst>
              <a:ext uri="{FF2B5EF4-FFF2-40B4-BE49-F238E27FC236}">
                <a16:creationId xmlns:a16="http://schemas.microsoft.com/office/drawing/2014/main" id="{64011477-F329-B34F-6EA1-C10F34A54CBF}"/>
              </a:ext>
            </a:extLst>
          </p:cNvPr>
          <p:cNvSpPr>
            <a:spLocks noGrp="1"/>
          </p:cNvSpPr>
          <p:nvPr>
            <p:ph type="dt" sz="half" idx="10"/>
          </p:nvPr>
        </p:nvSpPr>
        <p:spPr>
          <a:xfrm>
            <a:off x="0" y="6492875"/>
            <a:ext cx="2743200" cy="365125"/>
          </a:xfrm>
        </p:spPr>
        <p:txBody>
          <a:bodyPr/>
          <a:lstStyle/>
          <a:p>
            <a:r>
              <a:rPr lang="en-IN" dirty="0"/>
              <a:t>16-09-2026</a:t>
            </a:r>
          </a:p>
        </p:txBody>
      </p:sp>
      <p:sp>
        <p:nvSpPr>
          <p:cNvPr id="5" name="Slide Number Placeholder 4">
            <a:extLst>
              <a:ext uri="{FF2B5EF4-FFF2-40B4-BE49-F238E27FC236}">
                <a16:creationId xmlns:a16="http://schemas.microsoft.com/office/drawing/2014/main" id="{314CFD6E-33F0-CAD6-0567-019303354B26}"/>
              </a:ext>
            </a:extLst>
          </p:cNvPr>
          <p:cNvSpPr>
            <a:spLocks noGrp="1"/>
          </p:cNvSpPr>
          <p:nvPr>
            <p:ph type="sldNum" sz="quarter" idx="12"/>
          </p:nvPr>
        </p:nvSpPr>
        <p:spPr>
          <a:xfrm>
            <a:off x="9448800" y="6492875"/>
            <a:ext cx="2743200" cy="365125"/>
          </a:xfrm>
        </p:spPr>
        <p:txBody>
          <a:bodyPr/>
          <a:lstStyle/>
          <a:p>
            <a:fld id="{C019D452-4D13-45E6-A944-00A80B3269BB}" type="slidenum">
              <a:rPr lang="en-IN" smtClean="0"/>
              <a:t>11</a:t>
            </a:fld>
            <a:endParaRPr lang="en-IN"/>
          </a:p>
        </p:txBody>
      </p:sp>
    </p:spTree>
    <p:extLst>
      <p:ext uri="{BB962C8B-B14F-4D97-AF65-F5344CB8AC3E}">
        <p14:creationId xmlns:p14="http://schemas.microsoft.com/office/powerpoint/2010/main" val="3899434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FB8FD-CAD4-A9B8-A8B4-C3D2CEAD5E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817BC5-D0EA-43AD-7012-5813271FDAAD}"/>
              </a:ext>
            </a:extLst>
          </p:cNvPr>
          <p:cNvSpPr>
            <a:spLocks noGrp="1"/>
          </p:cNvSpPr>
          <p:nvPr>
            <p:ph type="title"/>
          </p:nvPr>
        </p:nvSpPr>
        <p:spPr>
          <a:xfrm>
            <a:off x="0" y="265176"/>
            <a:ext cx="12192000" cy="877825"/>
          </a:xfrm>
          <a:solidFill>
            <a:srgbClr val="1F4E79"/>
          </a:solidFill>
        </p:spPr>
        <p:txBody>
          <a:bodyPr>
            <a:normAutofit fontScale="90000"/>
          </a:bodyPr>
          <a:lstStyle/>
          <a:p>
            <a:br>
              <a:rPr lang="en-IN" b="1" dirty="0">
                <a:solidFill>
                  <a:schemeClr val="bg1"/>
                </a:solidFill>
              </a:rPr>
            </a:br>
            <a:br>
              <a:rPr lang="en-IN" b="1" dirty="0">
                <a:solidFill>
                  <a:schemeClr val="bg1"/>
                </a:solidFill>
              </a:rPr>
            </a:br>
            <a:r>
              <a:rPr lang="en-IN" b="1" dirty="0">
                <a:solidFill>
                  <a:schemeClr val="bg1"/>
                </a:solidFill>
                <a:latin typeface="Times New Roman" panose="02020603050405020304" pitchFamily="18" charset="0"/>
                <a:cs typeface="Times New Roman" panose="02020603050405020304" pitchFamily="18" charset="0"/>
              </a:rPr>
              <a:t>System Architecture</a:t>
            </a:r>
            <a:r>
              <a:rPr lang="en-IN" b="1" dirty="0">
                <a:solidFill>
                  <a:schemeClr val="bg1"/>
                </a:solidFill>
              </a:rPr>
              <a:t> </a:t>
            </a:r>
            <a:br>
              <a:rPr lang="en-IN" b="1" dirty="0">
                <a:solidFill>
                  <a:schemeClr val="bg1"/>
                </a:solidFill>
                <a:effectLst/>
              </a:rPr>
            </a:br>
            <a:br>
              <a:rPr lang="en-IN" b="1" dirty="0">
                <a:solidFill>
                  <a:schemeClr val="bg1"/>
                </a:solidFill>
                <a:effectLst/>
              </a:rPr>
            </a:br>
            <a:endParaRPr lang="en-IN"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D9BF61F-21A1-F246-7140-98AEF8E9BF55}"/>
              </a:ext>
            </a:extLst>
          </p:cNvPr>
          <p:cNvSpPr>
            <a:spLocks noGrp="1"/>
          </p:cNvSpPr>
          <p:nvPr>
            <p:ph idx="1"/>
          </p:nvPr>
        </p:nvSpPr>
        <p:spPr>
          <a:xfrm>
            <a:off x="0" y="1307592"/>
            <a:ext cx="12192000" cy="4915091"/>
          </a:xfrm>
        </p:spPr>
        <p:txBody>
          <a:bodyPr/>
          <a:lstStyle/>
          <a:p>
            <a:pPr marL="0" lvl="0" indent="0" fontAlgn="base">
              <a:buNone/>
            </a:pPr>
            <a:endParaRPr lang="en-IN" dirty="0">
              <a:latin typeface="Times New Roman" panose="02020603050405020304" pitchFamily="18" charset="0"/>
              <a:cs typeface="Times New Roman" panose="02020603050405020304" pitchFamily="18" charset="0"/>
            </a:endParaRPr>
          </a:p>
          <a:p>
            <a:endParaRPr lang="en-IN" dirty="0"/>
          </a:p>
        </p:txBody>
      </p:sp>
      <p:sp>
        <p:nvSpPr>
          <p:cNvPr id="4" name="TextBox 3">
            <a:extLst>
              <a:ext uri="{FF2B5EF4-FFF2-40B4-BE49-F238E27FC236}">
                <a16:creationId xmlns:a16="http://schemas.microsoft.com/office/drawing/2014/main" id="{942B7FB9-D846-C2B7-708D-00C32EA45AC2}"/>
              </a:ext>
            </a:extLst>
          </p:cNvPr>
          <p:cNvSpPr txBox="1"/>
          <p:nvPr/>
        </p:nvSpPr>
        <p:spPr>
          <a:xfrm>
            <a:off x="7900416" y="1307592"/>
            <a:ext cx="5151120" cy="5755422"/>
          </a:xfrm>
          <a:prstGeom prst="rect">
            <a:avLst/>
          </a:prstGeom>
          <a:noFill/>
        </p:spPr>
        <p:txBody>
          <a:bodyPr wrap="square" rtlCol="0">
            <a:spAutoFit/>
          </a:bodyPr>
          <a:lstStyle/>
          <a:p>
            <a:r>
              <a:rPr lang="en-IN" sz="1400" b="1" dirty="0"/>
              <a:t>1. Data Management</a:t>
            </a:r>
            <a:endParaRPr lang="en-IN" sz="1400" dirty="0"/>
          </a:p>
          <a:p>
            <a:pPr marL="285750" lvl="0" indent="-285750">
              <a:buFont typeface="Arial" panose="020B0604020202020204" pitchFamily="34" charset="0"/>
              <a:buChar char="•"/>
            </a:pPr>
            <a:r>
              <a:rPr lang="en-IN" sz="1400" dirty="0"/>
              <a:t>Admin </a:t>
            </a:r>
          </a:p>
          <a:p>
            <a:pPr marL="285750" lvl="0" indent="-285750">
              <a:buFont typeface="Arial" panose="020B0604020202020204" pitchFamily="34" charset="0"/>
              <a:buChar char="•"/>
            </a:pPr>
            <a:r>
              <a:rPr lang="en-IN" sz="1400" dirty="0"/>
              <a:t>NASA GPM Dataset </a:t>
            </a:r>
          </a:p>
          <a:p>
            <a:pPr marL="285750" lvl="0" indent="-285750">
              <a:buFont typeface="Arial" panose="020B0604020202020204" pitchFamily="34" charset="0"/>
              <a:buChar char="•"/>
            </a:pPr>
            <a:r>
              <a:rPr lang="en-IN" sz="1400" dirty="0"/>
              <a:t>Rainfall Dataset Management </a:t>
            </a:r>
          </a:p>
          <a:p>
            <a:r>
              <a:rPr lang="en-IN" sz="1400" b="1" dirty="0"/>
              <a:t>2. Data Processing</a:t>
            </a:r>
            <a:endParaRPr lang="en-IN" sz="1400" dirty="0"/>
          </a:p>
          <a:p>
            <a:pPr marL="285750" lvl="0" indent="-285750">
              <a:buFont typeface="Arial" panose="020B0604020202020204" pitchFamily="34" charset="0"/>
              <a:buChar char="•"/>
            </a:pPr>
            <a:r>
              <a:rPr lang="en-IN" sz="1400" dirty="0"/>
              <a:t>Data Preprocessing </a:t>
            </a:r>
          </a:p>
          <a:p>
            <a:pPr marL="285750" lvl="0" indent="-285750">
              <a:buFont typeface="Arial" panose="020B0604020202020204" pitchFamily="34" charset="0"/>
              <a:buChar char="•"/>
            </a:pPr>
            <a:r>
              <a:rPr lang="en-IN" sz="1400" dirty="0"/>
              <a:t>Data Cleaning &amp; Preparation </a:t>
            </a:r>
          </a:p>
          <a:p>
            <a:r>
              <a:rPr lang="en-IN" sz="1400" b="1" dirty="0"/>
              <a:t>3. Statistical Analysis</a:t>
            </a:r>
            <a:endParaRPr lang="en-IN" sz="1400" dirty="0"/>
          </a:p>
          <a:p>
            <a:pPr marL="285750" lvl="0" indent="-285750">
              <a:buFont typeface="Arial" panose="020B0604020202020204" pitchFamily="34" charset="0"/>
              <a:buChar char="•"/>
            </a:pPr>
            <a:r>
              <a:rPr lang="en-IN" sz="1400" dirty="0"/>
              <a:t>Extreme Value Analysis (EVA) </a:t>
            </a:r>
          </a:p>
          <a:p>
            <a:pPr marL="285750" lvl="0" indent="-285750">
              <a:buFont typeface="Arial" panose="020B0604020202020204" pitchFamily="34" charset="0"/>
              <a:buChar char="•"/>
            </a:pPr>
            <a:r>
              <a:rPr lang="en-IN" sz="1400" dirty="0"/>
              <a:t>Probability Distribution Fitting </a:t>
            </a:r>
          </a:p>
          <a:p>
            <a:pPr marL="285750" lvl="0" indent="-285750">
              <a:buFont typeface="Arial" panose="020B0604020202020204" pitchFamily="34" charset="0"/>
              <a:buChar char="•"/>
            </a:pPr>
            <a:r>
              <a:rPr lang="en-IN" sz="1400" dirty="0"/>
              <a:t>Goodness-of-Fit Tests </a:t>
            </a:r>
          </a:p>
          <a:p>
            <a:pPr marL="285750" lvl="0" indent="-285750">
              <a:buFont typeface="Arial" panose="020B0604020202020204" pitchFamily="34" charset="0"/>
              <a:buChar char="•"/>
            </a:pPr>
            <a:r>
              <a:rPr lang="en-IN" sz="1400" dirty="0"/>
              <a:t>Return Period Estimation </a:t>
            </a:r>
          </a:p>
          <a:p>
            <a:r>
              <a:rPr lang="en-IN" sz="1400" b="1" dirty="0"/>
              <a:t>4. Machine Learning</a:t>
            </a:r>
            <a:endParaRPr lang="en-IN" sz="1400" dirty="0"/>
          </a:p>
          <a:p>
            <a:pPr marL="285750" lvl="0" indent="-285750">
              <a:buFont typeface="Arial" panose="020B0604020202020204" pitchFamily="34" charset="0"/>
              <a:buChar char="•"/>
            </a:pPr>
            <a:r>
              <a:rPr lang="en-IN" sz="1400" dirty="0"/>
              <a:t>Random Forest </a:t>
            </a:r>
          </a:p>
          <a:p>
            <a:pPr marL="285750" lvl="0" indent="-285750">
              <a:buFont typeface="Arial" panose="020B0604020202020204" pitchFamily="34" charset="0"/>
              <a:buChar char="•"/>
            </a:pPr>
            <a:r>
              <a:rPr lang="en-IN" sz="1400" dirty="0" err="1"/>
              <a:t>XGBoost</a:t>
            </a:r>
            <a:r>
              <a:rPr lang="en-IN" sz="1400" dirty="0"/>
              <a:t> </a:t>
            </a:r>
          </a:p>
          <a:p>
            <a:pPr marL="285750" lvl="0" indent="-285750">
              <a:buFont typeface="Arial" panose="020B0604020202020204" pitchFamily="34" charset="0"/>
              <a:buChar char="•"/>
            </a:pPr>
            <a:r>
              <a:rPr lang="en-IN" sz="1400" dirty="0"/>
              <a:t>Kernel SVM </a:t>
            </a:r>
          </a:p>
          <a:p>
            <a:pPr marL="285750" lvl="0" indent="-285750">
              <a:buFont typeface="Arial" panose="020B0604020202020204" pitchFamily="34" charset="0"/>
              <a:buChar char="•"/>
            </a:pPr>
            <a:r>
              <a:rPr lang="en-IN" sz="1400" dirty="0"/>
              <a:t>Majority Voting Ensemble </a:t>
            </a:r>
          </a:p>
          <a:p>
            <a:r>
              <a:rPr lang="en-IN" sz="1400" b="1" dirty="0"/>
              <a:t>5. Risk Assessment</a:t>
            </a:r>
            <a:endParaRPr lang="en-IN" sz="1400" dirty="0"/>
          </a:p>
          <a:p>
            <a:pPr marL="285750" lvl="0" indent="-285750">
              <a:buFont typeface="Arial" panose="020B0604020202020204" pitchFamily="34" charset="0"/>
              <a:buChar char="•"/>
            </a:pPr>
            <a:r>
              <a:rPr lang="en-IN" sz="1400" dirty="0"/>
              <a:t>Hybrid Risk Assessment Engine </a:t>
            </a:r>
          </a:p>
          <a:p>
            <a:pPr marL="285750" lvl="0" indent="-285750">
              <a:buFont typeface="Arial" panose="020B0604020202020204" pitchFamily="34" charset="0"/>
              <a:buChar char="•"/>
            </a:pPr>
            <a:r>
              <a:rPr lang="en-IN" sz="1400" dirty="0"/>
              <a:t>Flood Risk Classification </a:t>
            </a:r>
          </a:p>
          <a:p>
            <a:pPr marL="285750" lvl="0" indent="-285750">
              <a:buFont typeface="Arial" panose="020B0604020202020204" pitchFamily="34" charset="0"/>
              <a:buChar char="•"/>
            </a:pPr>
            <a:r>
              <a:rPr lang="en-IN" sz="1400" dirty="0"/>
              <a:t>Confidence Score </a:t>
            </a:r>
          </a:p>
          <a:p>
            <a:r>
              <a:rPr lang="en-IN" sz="1400" b="1" dirty="0"/>
              <a:t>6. Decision Support</a:t>
            </a:r>
            <a:endParaRPr lang="en-IN" sz="1400" dirty="0"/>
          </a:p>
          <a:p>
            <a:pPr marL="285750" lvl="0" indent="-285750">
              <a:buFont typeface="Arial" panose="020B0604020202020204" pitchFamily="34" charset="0"/>
              <a:buChar char="•"/>
            </a:pPr>
            <a:r>
              <a:rPr lang="en-IN" sz="1400" dirty="0"/>
              <a:t>Flood Susceptibility Map </a:t>
            </a:r>
          </a:p>
          <a:p>
            <a:pPr marL="285750" lvl="0" indent="-285750">
              <a:buFont typeface="Arial" panose="020B0604020202020204" pitchFamily="34" charset="0"/>
              <a:buChar char="•"/>
            </a:pPr>
            <a:r>
              <a:rPr lang="en-IN" sz="1400" dirty="0"/>
              <a:t>Flood-Prone Areas </a:t>
            </a:r>
          </a:p>
          <a:p>
            <a:pPr marL="285750" lvl="0" indent="-285750">
              <a:buFont typeface="Arial" panose="020B0604020202020204" pitchFamily="34" charset="0"/>
              <a:buChar char="•"/>
            </a:pPr>
            <a:r>
              <a:rPr lang="en-IN" sz="1400" dirty="0"/>
              <a:t>Return Period &amp; Analytics Reports</a:t>
            </a:r>
          </a:p>
          <a:p>
            <a:endParaRPr lang="en-IN" dirty="0"/>
          </a:p>
        </p:txBody>
      </p:sp>
      <p:pic>
        <p:nvPicPr>
          <p:cNvPr id="7" name="Picture 6">
            <a:extLst>
              <a:ext uri="{FF2B5EF4-FFF2-40B4-BE49-F238E27FC236}">
                <a16:creationId xmlns:a16="http://schemas.microsoft.com/office/drawing/2014/main" id="{BB94A79B-CC44-F7F2-E6B8-8E371A1A0B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041" y="1307592"/>
            <a:ext cx="6706831" cy="5513859"/>
          </a:xfrm>
          <a:prstGeom prst="rect">
            <a:avLst/>
          </a:prstGeom>
        </p:spPr>
      </p:pic>
      <p:sp>
        <p:nvSpPr>
          <p:cNvPr id="5" name="Date Placeholder 4">
            <a:extLst>
              <a:ext uri="{FF2B5EF4-FFF2-40B4-BE49-F238E27FC236}">
                <a16:creationId xmlns:a16="http://schemas.microsoft.com/office/drawing/2014/main" id="{53658E3C-BB71-BC20-2D45-43C90B5B7B83}"/>
              </a:ext>
            </a:extLst>
          </p:cNvPr>
          <p:cNvSpPr>
            <a:spLocks noGrp="1"/>
          </p:cNvSpPr>
          <p:nvPr>
            <p:ph type="dt" sz="half" idx="10"/>
          </p:nvPr>
        </p:nvSpPr>
        <p:spPr>
          <a:xfrm>
            <a:off x="0" y="6492875"/>
            <a:ext cx="2743200" cy="365125"/>
          </a:xfrm>
        </p:spPr>
        <p:txBody>
          <a:bodyPr/>
          <a:lstStyle/>
          <a:p>
            <a:r>
              <a:rPr lang="en-IN" dirty="0"/>
              <a:t>16-09-2026</a:t>
            </a:r>
          </a:p>
        </p:txBody>
      </p:sp>
      <p:sp>
        <p:nvSpPr>
          <p:cNvPr id="6" name="Slide Number Placeholder 5">
            <a:extLst>
              <a:ext uri="{FF2B5EF4-FFF2-40B4-BE49-F238E27FC236}">
                <a16:creationId xmlns:a16="http://schemas.microsoft.com/office/drawing/2014/main" id="{BCE624FC-1E01-2368-99B0-FC4814FCF273}"/>
              </a:ext>
            </a:extLst>
          </p:cNvPr>
          <p:cNvSpPr>
            <a:spLocks noGrp="1"/>
          </p:cNvSpPr>
          <p:nvPr>
            <p:ph type="sldNum" sz="quarter" idx="12"/>
          </p:nvPr>
        </p:nvSpPr>
        <p:spPr>
          <a:xfrm>
            <a:off x="9448800" y="6460286"/>
            <a:ext cx="2743200" cy="365125"/>
          </a:xfrm>
        </p:spPr>
        <p:txBody>
          <a:bodyPr/>
          <a:lstStyle/>
          <a:p>
            <a:fld id="{C019D452-4D13-45E6-A944-00A80B3269BB}" type="slidenum">
              <a:rPr lang="en-IN" smtClean="0"/>
              <a:t>12</a:t>
            </a:fld>
            <a:endParaRPr lang="en-IN" dirty="0"/>
          </a:p>
        </p:txBody>
      </p:sp>
    </p:spTree>
    <p:extLst>
      <p:ext uri="{BB962C8B-B14F-4D97-AF65-F5344CB8AC3E}">
        <p14:creationId xmlns:p14="http://schemas.microsoft.com/office/powerpoint/2010/main" val="2504573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68EEC-0B5B-2E0A-FE61-18074872C6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84697F-134E-913C-3343-3421E3EDA7E9}"/>
              </a:ext>
            </a:extLst>
          </p:cNvPr>
          <p:cNvSpPr>
            <a:spLocks noGrp="1"/>
          </p:cNvSpPr>
          <p:nvPr>
            <p:ph type="title"/>
          </p:nvPr>
        </p:nvSpPr>
        <p:spPr>
          <a:xfrm>
            <a:off x="0" y="265176"/>
            <a:ext cx="12192000" cy="877825"/>
          </a:xfrm>
          <a:solidFill>
            <a:srgbClr val="1F4E79"/>
          </a:solidFill>
        </p:spPr>
        <p:txBody>
          <a:bodyPr>
            <a:normAutofit fontScale="90000"/>
          </a:bodyPr>
          <a:lstStyle/>
          <a:p>
            <a:br>
              <a:rPr lang="en-IN" b="1" dirty="0">
                <a:solidFill>
                  <a:schemeClr val="bg1"/>
                </a:solidFill>
              </a:rPr>
            </a:br>
            <a:br>
              <a:rPr lang="en-IN" b="1" dirty="0">
                <a:solidFill>
                  <a:schemeClr val="bg1"/>
                </a:solidFill>
              </a:rPr>
            </a:br>
            <a:r>
              <a:rPr lang="en-IN" b="1" dirty="0">
                <a:solidFill>
                  <a:schemeClr val="bg1"/>
                </a:solidFill>
                <a:latin typeface="Times New Roman" panose="02020603050405020304" pitchFamily="18" charset="0"/>
                <a:cs typeface="Times New Roman" panose="02020603050405020304" pitchFamily="18" charset="0"/>
              </a:rPr>
              <a:t>Proposed Outcomes</a:t>
            </a:r>
            <a:r>
              <a:rPr lang="en-IN" b="1" dirty="0">
                <a:solidFill>
                  <a:schemeClr val="bg1"/>
                </a:solidFill>
              </a:rPr>
              <a:t> </a:t>
            </a:r>
            <a:br>
              <a:rPr lang="en-IN" b="1" dirty="0">
                <a:solidFill>
                  <a:schemeClr val="bg1"/>
                </a:solidFill>
                <a:effectLst/>
              </a:rPr>
            </a:br>
            <a:br>
              <a:rPr lang="en-IN" b="1" dirty="0">
                <a:solidFill>
                  <a:schemeClr val="bg1"/>
                </a:solidFill>
                <a:effectLst/>
              </a:rPr>
            </a:br>
            <a:endParaRPr lang="en-IN"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AE292E9-776F-3E3B-DE21-47A34F60A91D}"/>
              </a:ext>
            </a:extLst>
          </p:cNvPr>
          <p:cNvSpPr>
            <a:spLocks noGrp="1"/>
          </p:cNvSpPr>
          <p:nvPr>
            <p:ph idx="1"/>
          </p:nvPr>
        </p:nvSpPr>
        <p:spPr>
          <a:xfrm>
            <a:off x="0" y="1307592"/>
            <a:ext cx="12192000" cy="4915091"/>
          </a:xfrm>
        </p:spPr>
        <p:txBody>
          <a:bodyPr/>
          <a:lstStyle/>
          <a:p>
            <a:pPr lvl="0" algn="just"/>
            <a:r>
              <a:rPr lang="en-IN" b="1" dirty="0">
                <a:latin typeface="Times New Roman" panose="02020603050405020304" pitchFamily="18" charset="0"/>
                <a:cs typeface="Times New Roman" panose="02020603050405020304" pitchFamily="18" charset="0"/>
              </a:rPr>
              <a:t>The system is expected to identify the probability distribution</a:t>
            </a:r>
            <a:r>
              <a:rPr lang="en-IN" dirty="0">
                <a:latin typeface="Times New Roman" panose="02020603050405020304" pitchFamily="18" charset="0"/>
                <a:cs typeface="Times New Roman" panose="02020603050405020304" pitchFamily="18" charset="0"/>
              </a:rPr>
              <a:t> that best represents extreme rainfall behaviour. </a:t>
            </a:r>
          </a:p>
          <a:p>
            <a:pPr lvl="0" algn="just"/>
            <a:r>
              <a:rPr lang="en-IN" b="1" dirty="0">
                <a:latin typeface="Times New Roman" panose="02020603050405020304" pitchFamily="18" charset="0"/>
                <a:cs typeface="Times New Roman" panose="02020603050405020304" pitchFamily="18" charset="0"/>
              </a:rPr>
              <a:t>Flood-prone and non-flood-prone regions are expected to be identified</a:t>
            </a:r>
            <a:r>
              <a:rPr lang="en-IN" dirty="0">
                <a:latin typeface="Times New Roman" panose="02020603050405020304" pitchFamily="18" charset="0"/>
                <a:cs typeface="Times New Roman" panose="02020603050405020304" pitchFamily="18" charset="0"/>
              </a:rPr>
              <a:t> using the combined machine learning predictions. </a:t>
            </a:r>
          </a:p>
          <a:p>
            <a:pPr lvl="0" algn="just"/>
            <a:r>
              <a:rPr lang="en-IN" b="1" dirty="0">
                <a:latin typeface="Times New Roman" panose="02020603050405020304" pitchFamily="18" charset="0"/>
                <a:cs typeface="Times New Roman" panose="02020603050405020304" pitchFamily="18" charset="0"/>
              </a:rPr>
              <a:t>Flood return periods and confidence scores</a:t>
            </a:r>
            <a:r>
              <a:rPr lang="en-IN" dirty="0">
                <a:latin typeface="Times New Roman" panose="02020603050405020304" pitchFamily="18" charset="0"/>
                <a:cs typeface="Times New Roman" panose="02020603050405020304" pitchFamily="18" charset="0"/>
              </a:rPr>
              <a:t> are expected to be generated for regional flood-risk assessment. </a:t>
            </a:r>
          </a:p>
          <a:p>
            <a:pPr lvl="0" algn="just"/>
            <a:r>
              <a:rPr lang="en-IN" b="1" dirty="0">
                <a:latin typeface="Times New Roman" panose="02020603050405020304" pitchFamily="18" charset="0"/>
                <a:cs typeface="Times New Roman" panose="02020603050405020304" pitchFamily="18" charset="0"/>
              </a:rPr>
              <a:t>Flood susceptibility maps</a:t>
            </a:r>
            <a:r>
              <a:rPr lang="en-IN" dirty="0">
                <a:latin typeface="Times New Roman" panose="02020603050405020304" pitchFamily="18" charset="0"/>
                <a:cs typeface="Times New Roman" panose="02020603050405020304" pitchFamily="18" charset="0"/>
              </a:rPr>
              <a:t> are expected to provide a clear visual representation of high-risk regions. </a:t>
            </a:r>
          </a:p>
          <a:p>
            <a:pPr lvl="0" algn="just"/>
            <a:r>
              <a:rPr lang="en-IN" b="1" dirty="0">
                <a:latin typeface="Times New Roman" panose="02020603050405020304" pitchFamily="18" charset="0"/>
                <a:cs typeface="Times New Roman" panose="02020603050405020304" pitchFamily="18" charset="0"/>
              </a:rPr>
              <a:t>An interactive dashboard</a:t>
            </a:r>
            <a:r>
              <a:rPr lang="en-IN" dirty="0">
                <a:latin typeface="Times New Roman" panose="02020603050405020304" pitchFamily="18" charset="0"/>
                <a:cs typeface="Times New Roman" panose="02020603050405020304" pitchFamily="18" charset="0"/>
              </a:rPr>
              <a:t> is expected to provide a consolidated view of flood risk, analytics, and model performance for disaster-management decision making. </a:t>
            </a:r>
          </a:p>
        </p:txBody>
      </p:sp>
      <p:sp>
        <p:nvSpPr>
          <p:cNvPr id="4" name="Date Placeholder 3">
            <a:extLst>
              <a:ext uri="{FF2B5EF4-FFF2-40B4-BE49-F238E27FC236}">
                <a16:creationId xmlns:a16="http://schemas.microsoft.com/office/drawing/2014/main" id="{D1305D76-3B57-2A8F-D4D9-0ABDAC554D8A}"/>
              </a:ext>
            </a:extLst>
          </p:cNvPr>
          <p:cNvSpPr>
            <a:spLocks noGrp="1"/>
          </p:cNvSpPr>
          <p:nvPr>
            <p:ph type="dt" sz="half" idx="10"/>
          </p:nvPr>
        </p:nvSpPr>
        <p:spPr>
          <a:xfrm>
            <a:off x="0" y="6492874"/>
            <a:ext cx="2743200" cy="365125"/>
          </a:xfrm>
        </p:spPr>
        <p:txBody>
          <a:bodyPr/>
          <a:lstStyle/>
          <a:p>
            <a:r>
              <a:rPr lang="en-IN" dirty="0"/>
              <a:t>16-09-2026</a:t>
            </a:r>
          </a:p>
        </p:txBody>
      </p:sp>
      <p:sp>
        <p:nvSpPr>
          <p:cNvPr id="5" name="Slide Number Placeholder 4">
            <a:extLst>
              <a:ext uri="{FF2B5EF4-FFF2-40B4-BE49-F238E27FC236}">
                <a16:creationId xmlns:a16="http://schemas.microsoft.com/office/drawing/2014/main" id="{987778D3-9EFD-8BE0-7024-5C867330B368}"/>
              </a:ext>
            </a:extLst>
          </p:cNvPr>
          <p:cNvSpPr>
            <a:spLocks noGrp="1"/>
          </p:cNvSpPr>
          <p:nvPr>
            <p:ph type="sldNum" sz="quarter" idx="12"/>
          </p:nvPr>
        </p:nvSpPr>
        <p:spPr>
          <a:xfrm>
            <a:off x="9448800" y="6492875"/>
            <a:ext cx="2743200" cy="365125"/>
          </a:xfrm>
        </p:spPr>
        <p:txBody>
          <a:bodyPr/>
          <a:lstStyle/>
          <a:p>
            <a:fld id="{C019D452-4D13-45E6-A944-00A80B3269BB}" type="slidenum">
              <a:rPr lang="en-IN" smtClean="0"/>
              <a:t>13</a:t>
            </a:fld>
            <a:endParaRPr lang="en-IN" dirty="0"/>
          </a:p>
        </p:txBody>
      </p:sp>
    </p:spTree>
    <p:extLst>
      <p:ext uri="{BB962C8B-B14F-4D97-AF65-F5344CB8AC3E}">
        <p14:creationId xmlns:p14="http://schemas.microsoft.com/office/powerpoint/2010/main" val="2762912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FB8FD-CAD4-A9B8-A8B4-C3D2CEAD5E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817BC5-D0EA-43AD-7012-5813271FDAAD}"/>
              </a:ext>
            </a:extLst>
          </p:cNvPr>
          <p:cNvSpPr>
            <a:spLocks noGrp="1"/>
          </p:cNvSpPr>
          <p:nvPr>
            <p:ph type="title"/>
          </p:nvPr>
        </p:nvSpPr>
        <p:spPr>
          <a:xfrm>
            <a:off x="0" y="265176"/>
            <a:ext cx="12192000" cy="877825"/>
          </a:xfrm>
          <a:solidFill>
            <a:srgbClr val="1F4E79"/>
          </a:solidFill>
        </p:spPr>
        <p:txBody>
          <a:bodyPr>
            <a:normAutofit fontScale="90000"/>
          </a:bodyPr>
          <a:lstStyle/>
          <a:p>
            <a:br>
              <a:rPr lang="en-IN" b="1" dirty="0">
                <a:solidFill>
                  <a:schemeClr val="bg1"/>
                </a:solidFill>
              </a:rPr>
            </a:br>
            <a:br>
              <a:rPr lang="en-IN" b="1" dirty="0">
                <a:solidFill>
                  <a:schemeClr val="bg1"/>
                </a:solidFill>
              </a:rPr>
            </a:br>
            <a:r>
              <a:rPr lang="en-IN" b="1" dirty="0">
                <a:solidFill>
                  <a:schemeClr val="bg1"/>
                </a:solidFill>
                <a:latin typeface="Times New Roman" panose="02020603050405020304" pitchFamily="18" charset="0"/>
                <a:cs typeface="Times New Roman" panose="02020603050405020304" pitchFamily="18" charset="0"/>
              </a:rPr>
              <a:t>DFD Diagram: Level 0 </a:t>
            </a:r>
            <a:r>
              <a:rPr lang="en-IN" b="1" dirty="0">
                <a:solidFill>
                  <a:schemeClr val="bg1"/>
                </a:solidFill>
              </a:rPr>
              <a:t> </a:t>
            </a:r>
            <a:br>
              <a:rPr lang="en-IN" b="1" dirty="0">
                <a:solidFill>
                  <a:schemeClr val="bg1"/>
                </a:solidFill>
                <a:effectLst/>
              </a:rPr>
            </a:br>
            <a:br>
              <a:rPr lang="en-IN" b="1" dirty="0">
                <a:solidFill>
                  <a:schemeClr val="bg1"/>
                </a:solidFill>
                <a:effectLst/>
              </a:rPr>
            </a:br>
            <a:endParaRPr lang="en-IN"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D9BF61F-21A1-F246-7140-98AEF8E9BF55}"/>
              </a:ext>
            </a:extLst>
          </p:cNvPr>
          <p:cNvSpPr>
            <a:spLocks noGrp="1"/>
          </p:cNvSpPr>
          <p:nvPr>
            <p:ph idx="1"/>
          </p:nvPr>
        </p:nvSpPr>
        <p:spPr>
          <a:xfrm>
            <a:off x="0" y="1307592"/>
            <a:ext cx="12192000" cy="4915091"/>
          </a:xfrm>
        </p:spPr>
        <p:txBody>
          <a:bodyPr/>
          <a:lstStyle/>
          <a:p>
            <a:pPr marL="0" lvl="0" indent="0" fontAlgn="base">
              <a:buNone/>
            </a:pPr>
            <a:endParaRPr lang="en-IN" dirty="0">
              <a:latin typeface="Times New Roman" panose="02020603050405020304" pitchFamily="18"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717C6DAF-F96C-8803-19F2-E0D2B8AC4D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4581" y="1639092"/>
            <a:ext cx="7243155" cy="4252090"/>
          </a:xfrm>
          <a:prstGeom prst="rect">
            <a:avLst/>
          </a:prstGeom>
        </p:spPr>
      </p:pic>
      <p:sp>
        <p:nvSpPr>
          <p:cNvPr id="8" name="Date Placeholder 7">
            <a:extLst>
              <a:ext uri="{FF2B5EF4-FFF2-40B4-BE49-F238E27FC236}">
                <a16:creationId xmlns:a16="http://schemas.microsoft.com/office/drawing/2014/main" id="{B6D62C5D-34B3-98EA-2FED-6996848C67E2}"/>
              </a:ext>
            </a:extLst>
          </p:cNvPr>
          <p:cNvSpPr>
            <a:spLocks noGrp="1"/>
          </p:cNvSpPr>
          <p:nvPr>
            <p:ph type="dt" sz="half" idx="10"/>
          </p:nvPr>
        </p:nvSpPr>
        <p:spPr>
          <a:xfrm>
            <a:off x="0" y="6475857"/>
            <a:ext cx="2743200" cy="365125"/>
          </a:xfrm>
        </p:spPr>
        <p:txBody>
          <a:bodyPr/>
          <a:lstStyle/>
          <a:p>
            <a:r>
              <a:rPr lang="en-IN" dirty="0"/>
              <a:t>16-09-2026</a:t>
            </a:r>
          </a:p>
        </p:txBody>
      </p:sp>
      <p:sp>
        <p:nvSpPr>
          <p:cNvPr id="9" name="Slide Number Placeholder 8">
            <a:extLst>
              <a:ext uri="{FF2B5EF4-FFF2-40B4-BE49-F238E27FC236}">
                <a16:creationId xmlns:a16="http://schemas.microsoft.com/office/drawing/2014/main" id="{5D2EC9CE-5C5A-5782-5662-01CBEF9934D1}"/>
              </a:ext>
            </a:extLst>
          </p:cNvPr>
          <p:cNvSpPr>
            <a:spLocks noGrp="1"/>
          </p:cNvSpPr>
          <p:nvPr>
            <p:ph type="sldNum" sz="quarter" idx="12"/>
          </p:nvPr>
        </p:nvSpPr>
        <p:spPr>
          <a:xfrm>
            <a:off x="9448800" y="6492875"/>
            <a:ext cx="2743200" cy="365125"/>
          </a:xfrm>
        </p:spPr>
        <p:txBody>
          <a:bodyPr/>
          <a:lstStyle/>
          <a:p>
            <a:fld id="{C019D452-4D13-45E6-A944-00A80B3269BB}" type="slidenum">
              <a:rPr lang="en-IN" smtClean="0"/>
              <a:t>14</a:t>
            </a:fld>
            <a:endParaRPr lang="en-IN" dirty="0"/>
          </a:p>
        </p:txBody>
      </p:sp>
      <p:cxnSp>
        <p:nvCxnSpPr>
          <p:cNvPr id="6" name="Straight Connector 5">
            <a:extLst>
              <a:ext uri="{FF2B5EF4-FFF2-40B4-BE49-F238E27FC236}">
                <a16:creationId xmlns:a16="http://schemas.microsoft.com/office/drawing/2014/main" id="{9EB9D2CD-27C1-E8C2-9746-199476E1271C}"/>
              </a:ext>
            </a:extLst>
          </p:cNvPr>
          <p:cNvCxnSpPr/>
          <p:nvPr/>
        </p:nvCxnSpPr>
        <p:spPr>
          <a:xfrm>
            <a:off x="7662672" y="2313432"/>
            <a:ext cx="0" cy="749808"/>
          </a:xfrm>
          <a:prstGeom prst="line">
            <a:avLst/>
          </a:prstGeom>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AE616118-E8BB-5DC4-F2BA-ED45FFDB61C6}"/>
              </a:ext>
            </a:extLst>
          </p:cNvPr>
          <p:cNvCxnSpPr/>
          <p:nvPr/>
        </p:nvCxnSpPr>
        <p:spPr>
          <a:xfrm>
            <a:off x="9086088" y="2313432"/>
            <a:ext cx="0" cy="749808"/>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3542122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FB8FD-CAD4-A9B8-A8B4-C3D2CEAD5E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817BC5-D0EA-43AD-7012-5813271FDAAD}"/>
              </a:ext>
            </a:extLst>
          </p:cNvPr>
          <p:cNvSpPr>
            <a:spLocks noGrp="1"/>
          </p:cNvSpPr>
          <p:nvPr>
            <p:ph type="title"/>
          </p:nvPr>
        </p:nvSpPr>
        <p:spPr>
          <a:xfrm>
            <a:off x="0" y="265176"/>
            <a:ext cx="12192000" cy="877825"/>
          </a:xfrm>
          <a:solidFill>
            <a:srgbClr val="1F4E79"/>
          </a:solidFill>
        </p:spPr>
        <p:txBody>
          <a:bodyPr>
            <a:normAutofit fontScale="90000"/>
          </a:bodyPr>
          <a:lstStyle/>
          <a:p>
            <a:br>
              <a:rPr lang="en-IN" b="1" dirty="0">
                <a:solidFill>
                  <a:schemeClr val="bg1"/>
                </a:solidFill>
              </a:rPr>
            </a:br>
            <a:br>
              <a:rPr lang="en-IN" b="1" dirty="0">
                <a:solidFill>
                  <a:schemeClr val="bg1"/>
                </a:solidFill>
              </a:rPr>
            </a:br>
            <a:r>
              <a:rPr lang="en-IN" b="1" dirty="0">
                <a:solidFill>
                  <a:schemeClr val="bg1"/>
                </a:solidFill>
                <a:latin typeface="Times New Roman" panose="02020603050405020304" pitchFamily="18" charset="0"/>
                <a:cs typeface="Times New Roman" panose="02020603050405020304" pitchFamily="18" charset="0"/>
              </a:rPr>
              <a:t>DFD Diagram: Level 1 </a:t>
            </a:r>
            <a:r>
              <a:rPr lang="en-IN" b="1" dirty="0">
                <a:solidFill>
                  <a:schemeClr val="bg1"/>
                </a:solidFill>
              </a:rPr>
              <a:t> </a:t>
            </a:r>
            <a:br>
              <a:rPr lang="en-IN" b="1" dirty="0">
                <a:solidFill>
                  <a:schemeClr val="bg1"/>
                </a:solidFill>
                <a:effectLst/>
              </a:rPr>
            </a:br>
            <a:br>
              <a:rPr lang="en-IN" b="1" dirty="0">
                <a:solidFill>
                  <a:schemeClr val="bg1"/>
                </a:solidFill>
                <a:effectLst/>
              </a:rPr>
            </a:br>
            <a:endParaRPr lang="en-IN"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D9BF61F-21A1-F246-7140-98AEF8E9BF55}"/>
              </a:ext>
            </a:extLst>
          </p:cNvPr>
          <p:cNvSpPr>
            <a:spLocks noGrp="1"/>
          </p:cNvSpPr>
          <p:nvPr>
            <p:ph idx="1"/>
          </p:nvPr>
        </p:nvSpPr>
        <p:spPr>
          <a:xfrm>
            <a:off x="0" y="1307592"/>
            <a:ext cx="12192000" cy="4915091"/>
          </a:xfrm>
        </p:spPr>
        <p:txBody>
          <a:bodyPr/>
          <a:lstStyle/>
          <a:p>
            <a:pPr marL="0" lvl="0" indent="0" fontAlgn="base">
              <a:buNone/>
            </a:pPr>
            <a:endParaRPr lang="en-IN" dirty="0">
              <a:latin typeface="Times New Roman" panose="02020603050405020304" pitchFamily="18"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AF252FCC-55E5-FA01-027E-B7B2017A2A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9670" y="1307592"/>
            <a:ext cx="5737986" cy="5323723"/>
          </a:xfrm>
          <a:prstGeom prst="rect">
            <a:avLst/>
          </a:prstGeom>
        </p:spPr>
      </p:pic>
      <p:sp>
        <p:nvSpPr>
          <p:cNvPr id="4" name="Date Placeholder 3">
            <a:extLst>
              <a:ext uri="{FF2B5EF4-FFF2-40B4-BE49-F238E27FC236}">
                <a16:creationId xmlns:a16="http://schemas.microsoft.com/office/drawing/2014/main" id="{1555E145-8C63-682B-4A8B-E2AECEBC169D}"/>
              </a:ext>
            </a:extLst>
          </p:cNvPr>
          <p:cNvSpPr>
            <a:spLocks noGrp="1"/>
          </p:cNvSpPr>
          <p:nvPr>
            <p:ph type="dt" sz="half" idx="10"/>
          </p:nvPr>
        </p:nvSpPr>
        <p:spPr>
          <a:xfrm>
            <a:off x="0" y="6492875"/>
            <a:ext cx="2743200" cy="365125"/>
          </a:xfrm>
        </p:spPr>
        <p:txBody>
          <a:bodyPr/>
          <a:lstStyle/>
          <a:p>
            <a:r>
              <a:rPr lang="en-IN" dirty="0"/>
              <a:t>16-09-2026</a:t>
            </a:r>
          </a:p>
        </p:txBody>
      </p:sp>
      <p:sp>
        <p:nvSpPr>
          <p:cNvPr id="6" name="Slide Number Placeholder 5">
            <a:extLst>
              <a:ext uri="{FF2B5EF4-FFF2-40B4-BE49-F238E27FC236}">
                <a16:creationId xmlns:a16="http://schemas.microsoft.com/office/drawing/2014/main" id="{7C5E0248-1DBB-AFC8-3015-B63055162432}"/>
              </a:ext>
            </a:extLst>
          </p:cNvPr>
          <p:cNvSpPr>
            <a:spLocks noGrp="1"/>
          </p:cNvSpPr>
          <p:nvPr>
            <p:ph type="sldNum" sz="quarter" idx="12"/>
          </p:nvPr>
        </p:nvSpPr>
        <p:spPr>
          <a:xfrm>
            <a:off x="9448800" y="6503289"/>
            <a:ext cx="2743200" cy="365125"/>
          </a:xfrm>
        </p:spPr>
        <p:txBody>
          <a:bodyPr/>
          <a:lstStyle/>
          <a:p>
            <a:fld id="{C019D452-4D13-45E6-A944-00A80B3269BB}" type="slidenum">
              <a:rPr lang="en-IN" smtClean="0"/>
              <a:t>15</a:t>
            </a:fld>
            <a:endParaRPr lang="en-IN" dirty="0"/>
          </a:p>
        </p:txBody>
      </p:sp>
      <p:cxnSp>
        <p:nvCxnSpPr>
          <p:cNvPr id="7" name="Straight Connector 6">
            <a:extLst>
              <a:ext uri="{FF2B5EF4-FFF2-40B4-BE49-F238E27FC236}">
                <a16:creationId xmlns:a16="http://schemas.microsoft.com/office/drawing/2014/main" id="{A45F5DC0-4F17-FF13-FE0A-318466960D5E}"/>
              </a:ext>
            </a:extLst>
          </p:cNvPr>
          <p:cNvCxnSpPr>
            <a:cxnSpLocks/>
          </p:cNvCxnSpPr>
          <p:nvPr/>
        </p:nvCxnSpPr>
        <p:spPr>
          <a:xfrm>
            <a:off x="7150608" y="1682496"/>
            <a:ext cx="0" cy="466344"/>
          </a:xfrm>
          <a:prstGeom prst="line">
            <a:avLst/>
          </a:prstGeom>
        </p:spPr>
        <p:style>
          <a:lnRef idx="3">
            <a:schemeClr val="dk1"/>
          </a:lnRef>
          <a:fillRef idx="0">
            <a:schemeClr val="dk1"/>
          </a:fillRef>
          <a:effectRef idx="2">
            <a:schemeClr val="dk1"/>
          </a:effectRef>
          <a:fontRef idx="minor">
            <a:schemeClr val="tx1"/>
          </a:fontRef>
        </p:style>
      </p:cxnSp>
      <p:cxnSp>
        <p:nvCxnSpPr>
          <p:cNvPr id="10" name="Straight Connector 9">
            <a:extLst>
              <a:ext uri="{FF2B5EF4-FFF2-40B4-BE49-F238E27FC236}">
                <a16:creationId xmlns:a16="http://schemas.microsoft.com/office/drawing/2014/main" id="{A4958DAF-9333-ABA3-0D5A-88CF2FC1FB7B}"/>
              </a:ext>
            </a:extLst>
          </p:cNvPr>
          <p:cNvCxnSpPr>
            <a:cxnSpLocks/>
          </p:cNvCxnSpPr>
          <p:nvPr/>
        </p:nvCxnSpPr>
        <p:spPr>
          <a:xfrm>
            <a:off x="8510016" y="1682496"/>
            <a:ext cx="0" cy="466344"/>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4200803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E10F6-519D-DE55-0DF2-752F68B31F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8A398F-B586-F936-C6C9-52FF9382E987}"/>
              </a:ext>
            </a:extLst>
          </p:cNvPr>
          <p:cNvSpPr>
            <a:spLocks noGrp="1"/>
          </p:cNvSpPr>
          <p:nvPr>
            <p:ph type="title"/>
          </p:nvPr>
        </p:nvSpPr>
        <p:spPr>
          <a:xfrm>
            <a:off x="0" y="265176"/>
            <a:ext cx="12192000" cy="877825"/>
          </a:xfrm>
          <a:solidFill>
            <a:srgbClr val="1F4E79"/>
          </a:solidFill>
        </p:spPr>
        <p:txBody>
          <a:bodyPr>
            <a:normAutofit fontScale="90000"/>
          </a:bodyPr>
          <a:lstStyle/>
          <a:p>
            <a:br>
              <a:rPr lang="en-IN" b="1" dirty="0">
                <a:solidFill>
                  <a:schemeClr val="bg1"/>
                </a:solidFill>
              </a:rPr>
            </a:br>
            <a:br>
              <a:rPr lang="en-IN" b="1" dirty="0">
                <a:solidFill>
                  <a:schemeClr val="bg1"/>
                </a:solidFill>
              </a:rPr>
            </a:br>
            <a:r>
              <a:rPr lang="en-IN" b="1" dirty="0">
                <a:solidFill>
                  <a:schemeClr val="bg1"/>
                </a:solidFill>
                <a:latin typeface="Times New Roman" panose="02020603050405020304" pitchFamily="18" charset="0"/>
                <a:cs typeface="Times New Roman" panose="02020603050405020304" pitchFamily="18" charset="0"/>
              </a:rPr>
              <a:t>ER Diagram </a:t>
            </a:r>
            <a:r>
              <a:rPr lang="en-IN" b="1" dirty="0">
                <a:solidFill>
                  <a:schemeClr val="bg1"/>
                </a:solidFill>
              </a:rPr>
              <a:t> </a:t>
            </a:r>
            <a:br>
              <a:rPr lang="en-IN" b="1" dirty="0">
                <a:solidFill>
                  <a:schemeClr val="bg1"/>
                </a:solidFill>
                <a:effectLst/>
              </a:rPr>
            </a:br>
            <a:br>
              <a:rPr lang="en-IN" b="1" dirty="0">
                <a:solidFill>
                  <a:schemeClr val="bg1"/>
                </a:solidFill>
                <a:effectLst/>
              </a:rPr>
            </a:br>
            <a:endParaRPr lang="en-IN"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0501C10-8F91-C5DC-58E2-E70588FBE454}"/>
              </a:ext>
            </a:extLst>
          </p:cNvPr>
          <p:cNvSpPr>
            <a:spLocks noGrp="1"/>
          </p:cNvSpPr>
          <p:nvPr>
            <p:ph idx="1"/>
          </p:nvPr>
        </p:nvSpPr>
        <p:spPr>
          <a:xfrm>
            <a:off x="0" y="1307592"/>
            <a:ext cx="12192000" cy="4915091"/>
          </a:xfrm>
        </p:spPr>
        <p:txBody>
          <a:bodyPr/>
          <a:lstStyle/>
          <a:p>
            <a:pPr marL="0" lvl="0" indent="0" fontAlgn="base">
              <a:buNone/>
            </a:pPr>
            <a:endParaRPr lang="en-IN" dirty="0">
              <a:latin typeface="Times New Roman" panose="02020603050405020304" pitchFamily="18" charset="0"/>
              <a:cs typeface="Times New Roman" panose="02020603050405020304" pitchFamily="18" charset="0"/>
            </a:endParaRPr>
          </a:p>
          <a:p>
            <a:endParaRPr lang="en-IN" dirty="0"/>
          </a:p>
        </p:txBody>
      </p:sp>
      <p:sp>
        <p:nvSpPr>
          <p:cNvPr id="4" name="Date Placeholder 3">
            <a:extLst>
              <a:ext uri="{FF2B5EF4-FFF2-40B4-BE49-F238E27FC236}">
                <a16:creationId xmlns:a16="http://schemas.microsoft.com/office/drawing/2014/main" id="{BF160E69-5089-C04B-A885-531B3C819BB9}"/>
              </a:ext>
            </a:extLst>
          </p:cNvPr>
          <p:cNvSpPr>
            <a:spLocks noGrp="1"/>
          </p:cNvSpPr>
          <p:nvPr>
            <p:ph type="dt" sz="half" idx="10"/>
          </p:nvPr>
        </p:nvSpPr>
        <p:spPr>
          <a:xfrm>
            <a:off x="0" y="6492875"/>
            <a:ext cx="2743200" cy="365125"/>
          </a:xfrm>
        </p:spPr>
        <p:txBody>
          <a:bodyPr/>
          <a:lstStyle/>
          <a:p>
            <a:r>
              <a:rPr lang="en-IN" dirty="0"/>
              <a:t>16-09-2026</a:t>
            </a:r>
          </a:p>
        </p:txBody>
      </p:sp>
      <p:sp>
        <p:nvSpPr>
          <p:cNvPr id="6" name="Slide Number Placeholder 5">
            <a:extLst>
              <a:ext uri="{FF2B5EF4-FFF2-40B4-BE49-F238E27FC236}">
                <a16:creationId xmlns:a16="http://schemas.microsoft.com/office/drawing/2014/main" id="{2EA1A6B7-C893-AB2A-D0E5-7EAD87C47821}"/>
              </a:ext>
            </a:extLst>
          </p:cNvPr>
          <p:cNvSpPr>
            <a:spLocks noGrp="1"/>
          </p:cNvSpPr>
          <p:nvPr>
            <p:ph type="sldNum" sz="quarter" idx="12"/>
          </p:nvPr>
        </p:nvSpPr>
        <p:spPr>
          <a:xfrm>
            <a:off x="9448800" y="6503289"/>
            <a:ext cx="2743200" cy="365125"/>
          </a:xfrm>
        </p:spPr>
        <p:txBody>
          <a:bodyPr/>
          <a:lstStyle/>
          <a:p>
            <a:fld id="{C019D452-4D13-45E6-A944-00A80B3269BB}" type="slidenum">
              <a:rPr lang="en-IN" smtClean="0"/>
              <a:t>16</a:t>
            </a:fld>
            <a:endParaRPr lang="en-IN" dirty="0"/>
          </a:p>
        </p:txBody>
      </p:sp>
      <p:pic>
        <p:nvPicPr>
          <p:cNvPr id="8" name="Picture 7">
            <a:extLst>
              <a:ext uri="{FF2B5EF4-FFF2-40B4-BE49-F238E27FC236}">
                <a16:creationId xmlns:a16="http://schemas.microsoft.com/office/drawing/2014/main" id="{C73E150A-2A79-57AF-D0AD-C6DE7FCEB62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618342" y="1213007"/>
            <a:ext cx="8467489" cy="5644993"/>
          </a:xfrm>
          <a:prstGeom prst="rect">
            <a:avLst/>
          </a:prstGeom>
        </p:spPr>
      </p:pic>
      <p:cxnSp>
        <p:nvCxnSpPr>
          <p:cNvPr id="7" name="Straight Connector 6">
            <a:extLst>
              <a:ext uri="{FF2B5EF4-FFF2-40B4-BE49-F238E27FC236}">
                <a16:creationId xmlns:a16="http://schemas.microsoft.com/office/drawing/2014/main" id="{50C26A59-F50E-D9D7-56E8-9347A628C3FB}"/>
              </a:ext>
            </a:extLst>
          </p:cNvPr>
          <p:cNvCxnSpPr/>
          <p:nvPr/>
        </p:nvCxnSpPr>
        <p:spPr>
          <a:xfrm>
            <a:off x="6890512" y="4948936"/>
            <a:ext cx="0" cy="201168"/>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5682527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78E65-94F7-588C-F33A-A2BB81C6D7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60803E-7D61-D604-E5C2-CFD6D058DDBD}"/>
              </a:ext>
            </a:extLst>
          </p:cNvPr>
          <p:cNvSpPr>
            <a:spLocks noGrp="1"/>
          </p:cNvSpPr>
          <p:nvPr>
            <p:ph type="title"/>
          </p:nvPr>
        </p:nvSpPr>
        <p:spPr>
          <a:xfrm>
            <a:off x="0" y="265176"/>
            <a:ext cx="12192000" cy="877825"/>
          </a:xfrm>
          <a:solidFill>
            <a:srgbClr val="1F4E79"/>
          </a:solidFill>
        </p:spPr>
        <p:txBody>
          <a:bodyPr>
            <a:normAutofit fontScale="90000"/>
          </a:bodyPr>
          <a:lstStyle/>
          <a:p>
            <a:br>
              <a:rPr lang="en-IN" b="1" dirty="0">
                <a:solidFill>
                  <a:schemeClr val="bg1"/>
                </a:solidFill>
              </a:rPr>
            </a:br>
            <a:br>
              <a:rPr lang="en-IN" b="1" dirty="0">
                <a:solidFill>
                  <a:schemeClr val="bg1"/>
                </a:solidFill>
              </a:rPr>
            </a:br>
            <a:r>
              <a:rPr lang="en-IN" b="1" dirty="0">
                <a:solidFill>
                  <a:schemeClr val="bg1"/>
                </a:solidFill>
                <a:latin typeface="Times New Roman" panose="02020603050405020304" pitchFamily="18" charset="0"/>
                <a:cs typeface="Times New Roman" panose="02020603050405020304" pitchFamily="18" charset="0"/>
              </a:rPr>
              <a:t>Class Diagram </a:t>
            </a:r>
            <a:r>
              <a:rPr lang="en-IN" b="1" dirty="0">
                <a:solidFill>
                  <a:schemeClr val="bg1"/>
                </a:solidFill>
              </a:rPr>
              <a:t> </a:t>
            </a:r>
            <a:br>
              <a:rPr lang="en-IN" b="1" dirty="0">
                <a:solidFill>
                  <a:schemeClr val="bg1"/>
                </a:solidFill>
                <a:effectLst/>
              </a:rPr>
            </a:br>
            <a:br>
              <a:rPr lang="en-IN" b="1" dirty="0">
                <a:solidFill>
                  <a:schemeClr val="bg1"/>
                </a:solidFill>
                <a:effectLst/>
              </a:rPr>
            </a:br>
            <a:endParaRPr lang="en-IN"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FC29E25-182D-D2CB-EF4C-496ED17950D5}"/>
              </a:ext>
            </a:extLst>
          </p:cNvPr>
          <p:cNvSpPr>
            <a:spLocks noGrp="1"/>
          </p:cNvSpPr>
          <p:nvPr>
            <p:ph idx="1"/>
          </p:nvPr>
        </p:nvSpPr>
        <p:spPr>
          <a:xfrm>
            <a:off x="0" y="1307592"/>
            <a:ext cx="12192000" cy="4915091"/>
          </a:xfrm>
        </p:spPr>
        <p:txBody>
          <a:bodyPr/>
          <a:lstStyle/>
          <a:p>
            <a:pPr marL="0" lvl="0" indent="0" fontAlgn="base">
              <a:buNone/>
            </a:pPr>
            <a:endParaRPr lang="en-IN" dirty="0">
              <a:latin typeface="Times New Roman" panose="02020603050405020304" pitchFamily="18" charset="0"/>
              <a:cs typeface="Times New Roman" panose="02020603050405020304" pitchFamily="18" charset="0"/>
            </a:endParaRPr>
          </a:p>
          <a:p>
            <a:endParaRPr lang="en-IN" dirty="0"/>
          </a:p>
        </p:txBody>
      </p:sp>
      <p:sp>
        <p:nvSpPr>
          <p:cNvPr id="4" name="Date Placeholder 3">
            <a:extLst>
              <a:ext uri="{FF2B5EF4-FFF2-40B4-BE49-F238E27FC236}">
                <a16:creationId xmlns:a16="http://schemas.microsoft.com/office/drawing/2014/main" id="{0A5CBBCA-19A1-8578-4695-15387589A165}"/>
              </a:ext>
            </a:extLst>
          </p:cNvPr>
          <p:cNvSpPr>
            <a:spLocks noGrp="1"/>
          </p:cNvSpPr>
          <p:nvPr>
            <p:ph type="dt" sz="half" idx="10"/>
          </p:nvPr>
        </p:nvSpPr>
        <p:spPr>
          <a:xfrm>
            <a:off x="0" y="6492875"/>
            <a:ext cx="2743200" cy="365125"/>
          </a:xfrm>
        </p:spPr>
        <p:txBody>
          <a:bodyPr/>
          <a:lstStyle/>
          <a:p>
            <a:r>
              <a:rPr lang="en-IN" dirty="0"/>
              <a:t>16-09-2026</a:t>
            </a:r>
          </a:p>
        </p:txBody>
      </p:sp>
      <p:sp>
        <p:nvSpPr>
          <p:cNvPr id="6" name="Slide Number Placeholder 5">
            <a:extLst>
              <a:ext uri="{FF2B5EF4-FFF2-40B4-BE49-F238E27FC236}">
                <a16:creationId xmlns:a16="http://schemas.microsoft.com/office/drawing/2014/main" id="{0195195F-7F6D-C729-ED5A-8D5C93809203}"/>
              </a:ext>
            </a:extLst>
          </p:cNvPr>
          <p:cNvSpPr>
            <a:spLocks noGrp="1"/>
          </p:cNvSpPr>
          <p:nvPr>
            <p:ph type="sldNum" sz="quarter" idx="12"/>
          </p:nvPr>
        </p:nvSpPr>
        <p:spPr>
          <a:xfrm>
            <a:off x="9448800" y="6503289"/>
            <a:ext cx="2743200" cy="365125"/>
          </a:xfrm>
        </p:spPr>
        <p:txBody>
          <a:bodyPr/>
          <a:lstStyle/>
          <a:p>
            <a:fld id="{C019D452-4D13-45E6-A944-00A80B3269BB}" type="slidenum">
              <a:rPr lang="en-IN" smtClean="0"/>
              <a:t>17</a:t>
            </a:fld>
            <a:endParaRPr lang="en-IN" dirty="0"/>
          </a:p>
        </p:txBody>
      </p:sp>
      <p:pic>
        <p:nvPicPr>
          <p:cNvPr id="7" name="Picture 6">
            <a:extLst>
              <a:ext uri="{FF2B5EF4-FFF2-40B4-BE49-F238E27FC236}">
                <a16:creationId xmlns:a16="http://schemas.microsoft.com/office/drawing/2014/main" id="{330C5BF9-1679-670D-5437-AC9B294212FC}"/>
              </a:ext>
            </a:extLst>
          </p:cNvPr>
          <p:cNvPicPr>
            <a:picLocks noChangeAspect="1"/>
          </p:cNvPicPr>
          <p:nvPr/>
        </p:nvPicPr>
        <p:blipFill>
          <a:blip r:embed="rId2"/>
          <a:stretch>
            <a:fillRect/>
          </a:stretch>
        </p:blipFill>
        <p:spPr>
          <a:xfrm>
            <a:off x="1639376" y="1307592"/>
            <a:ext cx="8236144" cy="5490762"/>
          </a:xfrm>
          <a:prstGeom prst="rect">
            <a:avLst/>
          </a:prstGeom>
        </p:spPr>
      </p:pic>
    </p:spTree>
    <p:extLst>
      <p:ext uri="{BB962C8B-B14F-4D97-AF65-F5344CB8AC3E}">
        <p14:creationId xmlns:p14="http://schemas.microsoft.com/office/powerpoint/2010/main" val="29065570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C8BE8-CC73-716A-587A-60FC073189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D0941F-078B-22D6-65CC-17A78E3FD540}"/>
              </a:ext>
            </a:extLst>
          </p:cNvPr>
          <p:cNvSpPr>
            <a:spLocks noGrp="1"/>
          </p:cNvSpPr>
          <p:nvPr>
            <p:ph type="title"/>
          </p:nvPr>
        </p:nvSpPr>
        <p:spPr>
          <a:xfrm>
            <a:off x="0" y="265176"/>
            <a:ext cx="12192000" cy="877825"/>
          </a:xfrm>
          <a:solidFill>
            <a:srgbClr val="1F4E79"/>
          </a:solidFill>
        </p:spPr>
        <p:txBody>
          <a:bodyPr>
            <a:normAutofit fontScale="90000"/>
          </a:bodyPr>
          <a:lstStyle/>
          <a:p>
            <a:br>
              <a:rPr lang="en-IN" b="1" dirty="0">
                <a:solidFill>
                  <a:schemeClr val="bg1"/>
                </a:solidFill>
              </a:rPr>
            </a:br>
            <a:br>
              <a:rPr lang="en-IN" b="1" dirty="0">
                <a:solidFill>
                  <a:schemeClr val="bg1"/>
                </a:solidFill>
              </a:rPr>
            </a:br>
            <a:r>
              <a:rPr lang="en-IN" b="1" dirty="0">
                <a:solidFill>
                  <a:schemeClr val="bg1"/>
                </a:solidFill>
                <a:latin typeface="Times New Roman" panose="02020603050405020304" pitchFamily="18" charset="0"/>
                <a:cs typeface="Times New Roman" panose="02020603050405020304" pitchFamily="18" charset="0"/>
              </a:rPr>
              <a:t>Use Case Diagram </a:t>
            </a:r>
            <a:r>
              <a:rPr lang="en-IN" b="1" dirty="0">
                <a:solidFill>
                  <a:schemeClr val="bg1"/>
                </a:solidFill>
              </a:rPr>
              <a:t> </a:t>
            </a:r>
            <a:br>
              <a:rPr lang="en-IN" b="1" dirty="0">
                <a:solidFill>
                  <a:schemeClr val="bg1"/>
                </a:solidFill>
                <a:effectLst/>
              </a:rPr>
            </a:br>
            <a:br>
              <a:rPr lang="en-IN" b="1" dirty="0">
                <a:solidFill>
                  <a:schemeClr val="bg1"/>
                </a:solidFill>
                <a:effectLst/>
              </a:rPr>
            </a:br>
            <a:endParaRPr lang="en-IN"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E2EE492-BA48-8537-95D3-9B0C0E4C16DB}"/>
              </a:ext>
            </a:extLst>
          </p:cNvPr>
          <p:cNvSpPr>
            <a:spLocks noGrp="1"/>
          </p:cNvSpPr>
          <p:nvPr>
            <p:ph idx="1"/>
          </p:nvPr>
        </p:nvSpPr>
        <p:spPr>
          <a:xfrm>
            <a:off x="0" y="1307592"/>
            <a:ext cx="12192000" cy="4915091"/>
          </a:xfrm>
        </p:spPr>
        <p:txBody>
          <a:bodyPr/>
          <a:lstStyle/>
          <a:p>
            <a:pPr marL="0" lvl="0" indent="0" fontAlgn="base">
              <a:buNone/>
            </a:pPr>
            <a:endParaRPr lang="en-IN" dirty="0">
              <a:latin typeface="Times New Roman" panose="02020603050405020304" pitchFamily="18" charset="0"/>
              <a:cs typeface="Times New Roman" panose="02020603050405020304" pitchFamily="18" charset="0"/>
            </a:endParaRPr>
          </a:p>
          <a:p>
            <a:endParaRPr lang="en-IN" dirty="0"/>
          </a:p>
        </p:txBody>
      </p:sp>
      <p:sp>
        <p:nvSpPr>
          <p:cNvPr id="4" name="Date Placeholder 3">
            <a:extLst>
              <a:ext uri="{FF2B5EF4-FFF2-40B4-BE49-F238E27FC236}">
                <a16:creationId xmlns:a16="http://schemas.microsoft.com/office/drawing/2014/main" id="{01FF9311-4B9E-168C-540F-50E2AA67C6C3}"/>
              </a:ext>
            </a:extLst>
          </p:cNvPr>
          <p:cNvSpPr>
            <a:spLocks noGrp="1"/>
          </p:cNvSpPr>
          <p:nvPr>
            <p:ph type="dt" sz="half" idx="10"/>
          </p:nvPr>
        </p:nvSpPr>
        <p:spPr>
          <a:xfrm>
            <a:off x="0" y="6492875"/>
            <a:ext cx="2743200" cy="365125"/>
          </a:xfrm>
        </p:spPr>
        <p:txBody>
          <a:bodyPr/>
          <a:lstStyle/>
          <a:p>
            <a:r>
              <a:rPr lang="en-IN" dirty="0"/>
              <a:t>16-09-2026</a:t>
            </a:r>
          </a:p>
        </p:txBody>
      </p:sp>
      <p:sp>
        <p:nvSpPr>
          <p:cNvPr id="6" name="Slide Number Placeholder 5">
            <a:extLst>
              <a:ext uri="{FF2B5EF4-FFF2-40B4-BE49-F238E27FC236}">
                <a16:creationId xmlns:a16="http://schemas.microsoft.com/office/drawing/2014/main" id="{2686A789-96E2-D272-A273-EE58DF8BB807}"/>
              </a:ext>
            </a:extLst>
          </p:cNvPr>
          <p:cNvSpPr>
            <a:spLocks noGrp="1"/>
          </p:cNvSpPr>
          <p:nvPr>
            <p:ph type="sldNum" sz="quarter" idx="12"/>
          </p:nvPr>
        </p:nvSpPr>
        <p:spPr>
          <a:xfrm>
            <a:off x="9448800" y="6503289"/>
            <a:ext cx="2743200" cy="365125"/>
          </a:xfrm>
        </p:spPr>
        <p:txBody>
          <a:bodyPr/>
          <a:lstStyle/>
          <a:p>
            <a:fld id="{C019D452-4D13-45E6-A944-00A80B3269BB}" type="slidenum">
              <a:rPr lang="en-IN" smtClean="0"/>
              <a:t>18</a:t>
            </a:fld>
            <a:endParaRPr lang="en-IN" dirty="0"/>
          </a:p>
        </p:txBody>
      </p:sp>
      <p:pic>
        <p:nvPicPr>
          <p:cNvPr id="8" name="Picture 7">
            <a:extLst>
              <a:ext uri="{FF2B5EF4-FFF2-40B4-BE49-F238E27FC236}">
                <a16:creationId xmlns:a16="http://schemas.microsoft.com/office/drawing/2014/main" id="{C1621E1C-C26E-7816-DF4F-53369367E8E4}"/>
              </a:ext>
            </a:extLst>
          </p:cNvPr>
          <p:cNvPicPr>
            <a:picLocks noChangeAspect="1"/>
          </p:cNvPicPr>
          <p:nvPr/>
        </p:nvPicPr>
        <p:blipFill>
          <a:blip r:embed="rId2"/>
          <a:stretch>
            <a:fillRect/>
          </a:stretch>
        </p:blipFill>
        <p:spPr>
          <a:xfrm>
            <a:off x="1925302" y="1272287"/>
            <a:ext cx="8341397" cy="5596127"/>
          </a:xfrm>
          <a:prstGeom prst="rect">
            <a:avLst/>
          </a:prstGeom>
        </p:spPr>
      </p:pic>
    </p:spTree>
    <p:extLst>
      <p:ext uri="{BB962C8B-B14F-4D97-AF65-F5344CB8AC3E}">
        <p14:creationId xmlns:p14="http://schemas.microsoft.com/office/powerpoint/2010/main" val="1219582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3D326-1ED8-DABA-AE2F-F8AEBF1897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9668CF-6D1B-C6BE-0F1A-4F183587B77A}"/>
              </a:ext>
            </a:extLst>
          </p:cNvPr>
          <p:cNvSpPr>
            <a:spLocks noGrp="1"/>
          </p:cNvSpPr>
          <p:nvPr>
            <p:ph type="title"/>
          </p:nvPr>
        </p:nvSpPr>
        <p:spPr>
          <a:xfrm>
            <a:off x="0" y="265176"/>
            <a:ext cx="12192000" cy="877825"/>
          </a:xfrm>
          <a:solidFill>
            <a:srgbClr val="1F4E79"/>
          </a:solidFill>
        </p:spPr>
        <p:txBody>
          <a:bodyPr>
            <a:normAutofit fontScale="90000"/>
          </a:bodyPr>
          <a:lstStyle/>
          <a:p>
            <a:br>
              <a:rPr lang="en-IN" b="1" dirty="0">
                <a:solidFill>
                  <a:schemeClr val="bg1"/>
                </a:solidFill>
              </a:rPr>
            </a:br>
            <a:br>
              <a:rPr lang="en-IN" b="1" dirty="0">
                <a:solidFill>
                  <a:schemeClr val="bg1"/>
                </a:solidFill>
              </a:rPr>
            </a:br>
            <a:r>
              <a:rPr lang="en-IN" b="1" dirty="0">
                <a:solidFill>
                  <a:schemeClr val="bg1"/>
                </a:solidFill>
                <a:latin typeface="Times New Roman" panose="02020603050405020304" pitchFamily="18" charset="0"/>
                <a:cs typeface="Times New Roman" panose="02020603050405020304" pitchFamily="18" charset="0"/>
              </a:rPr>
              <a:t>Activity Diagram </a:t>
            </a:r>
            <a:r>
              <a:rPr lang="en-IN" b="1" dirty="0">
                <a:solidFill>
                  <a:schemeClr val="bg1"/>
                </a:solidFill>
              </a:rPr>
              <a:t> </a:t>
            </a:r>
            <a:br>
              <a:rPr lang="en-IN" b="1" dirty="0">
                <a:solidFill>
                  <a:schemeClr val="bg1"/>
                </a:solidFill>
                <a:effectLst/>
              </a:rPr>
            </a:br>
            <a:br>
              <a:rPr lang="en-IN" b="1" dirty="0">
                <a:solidFill>
                  <a:schemeClr val="bg1"/>
                </a:solidFill>
                <a:effectLst/>
              </a:rPr>
            </a:br>
            <a:endParaRPr lang="en-IN"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81D0F23-8586-3298-AD3C-08ACA142DEBE}"/>
              </a:ext>
            </a:extLst>
          </p:cNvPr>
          <p:cNvSpPr>
            <a:spLocks noGrp="1"/>
          </p:cNvSpPr>
          <p:nvPr>
            <p:ph idx="1"/>
          </p:nvPr>
        </p:nvSpPr>
        <p:spPr>
          <a:xfrm>
            <a:off x="0" y="1307592"/>
            <a:ext cx="12192000" cy="4915091"/>
          </a:xfrm>
        </p:spPr>
        <p:txBody>
          <a:bodyPr/>
          <a:lstStyle/>
          <a:p>
            <a:pPr marL="0" lvl="0" indent="0" fontAlgn="base">
              <a:buNone/>
            </a:pPr>
            <a:endParaRPr lang="en-IN" dirty="0">
              <a:latin typeface="Times New Roman" panose="02020603050405020304" pitchFamily="18" charset="0"/>
              <a:cs typeface="Times New Roman" panose="02020603050405020304" pitchFamily="18" charset="0"/>
            </a:endParaRPr>
          </a:p>
          <a:p>
            <a:endParaRPr lang="en-IN" dirty="0"/>
          </a:p>
        </p:txBody>
      </p:sp>
      <p:sp>
        <p:nvSpPr>
          <p:cNvPr id="4" name="Date Placeholder 3">
            <a:extLst>
              <a:ext uri="{FF2B5EF4-FFF2-40B4-BE49-F238E27FC236}">
                <a16:creationId xmlns:a16="http://schemas.microsoft.com/office/drawing/2014/main" id="{5B2C8D30-6EDC-5AE0-3B2F-5B8BC3971EAE}"/>
              </a:ext>
            </a:extLst>
          </p:cNvPr>
          <p:cNvSpPr>
            <a:spLocks noGrp="1"/>
          </p:cNvSpPr>
          <p:nvPr>
            <p:ph type="dt" sz="half" idx="10"/>
          </p:nvPr>
        </p:nvSpPr>
        <p:spPr>
          <a:xfrm>
            <a:off x="0" y="6492875"/>
            <a:ext cx="2743200" cy="365125"/>
          </a:xfrm>
        </p:spPr>
        <p:txBody>
          <a:bodyPr/>
          <a:lstStyle/>
          <a:p>
            <a:r>
              <a:rPr lang="en-IN" dirty="0"/>
              <a:t>16-09-2026</a:t>
            </a:r>
          </a:p>
        </p:txBody>
      </p:sp>
      <p:sp>
        <p:nvSpPr>
          <p:cNvPr id="6" name="Slide Number Placeholder 5">
            <a:extLst>
              <a:ext uri="{FF2B5EF4-FFF2-40B4-BE49-F238E27FC236}">
                <a16:creationId xmlns:a16="http://schemas.microsoft.com/office/drawing/2014/main" id="{C2739104-CDED-5ECD-A734-0580AD9E665E}"/>
              </a:ext>
            </a:extLst>
          </p:cNvPr>
          <p:cNvSpPr>
            <a:spLocks noGrp="1"/>
          </p:cNvSpPr>
          <p:nvPr>
            <p:ph type="sldNum" sz="quarter" idx="12"/>
          </p:nvPr>
        </p:nvSpPr>
        <p:spPr>
          <a:xfrm>
            <a:off x="9448800" y="6503289"/>
            <a:ext cx="2743200" cy="365125"/>
          </a:xfrm>
        </p:spPr>
        <p:txBody>
          <a:bodyPr/>
          <a:lstStyle/>
          <a:p>
            <a:fld id="{C019D452-4D13-45E6-A944-00A80B3269BB}" type="slidenum">
              <a:rPr lang="en-IN" smtClean="0"/>
              <a:t>19</a:t>
            </a:fld>
            <a:endParaRPr lang="en-IN" dirty="0"/>
          </a:p>
        </p:txBody>
      </p:sp>
      <p:pic>
        <p:nvPicPr>
          <p:cNvPr id="7" name="Picture 6">
            <a:extLst>
              <a:ext uri="{FF2B5EF4-FFF2-40B4-BE49-F238E27FC236}">
                <a16:creationId xmlns:a16="http://schemas.microsoft.com/office/drawing/2014/main" id="{AF18BB66-E285-F61B-EE82-0B55774D32AE}"/>
              </a:ext>
            </a:extLst>
          </p:cNvPr>
          <p:cNvPicPr>
            <a:picLocks noChangeAspect="1"/>
          </p:cNvPicPr>
          <p:nvPr/>
        </p:nvPicPr>
        <p:blipFill>
          <a:blip r:embed="rId2"/>
          <a:srcRect t="2483" b="3314"/>
          <a:stretch>
            <a:fillRect/>
          </a:stretch>
        </p:blipFill>
        <p:spPr>
          <a:xfrm>
            <a:off x="3669074" y="1143001"/>
            <a:ext cx="4011886" cy="5695099"/>
          </a:xfrm>
          <a:prstGeom prst="rect">
            <a:avLst/>
          </a:prstGeom>
        </p:spPr>
      </p:pic>
    </p:spTree>
    <p:extLst>
      <p:ext uri="{BB962C8B-B14F-4D97-AF65-F5344CB8AC3E}">
        <p14:creationId xmlns:p14="http://schemas.microsoft.com/office/powerpoint/2010/main" val="36249451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264D4-E6D0-14F8-0651-694C6B2C10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28E6DC-2C3D-CBD2-E291-D39331CD9883}"/>
              </a:ext>
            </a:extLst>
          </p:cNvPr>
          <p:cNvSpPr>
            <a:spLocks noGrp="1"/>
          </p:cNvSpPr>
          <p:nvPr>
            <p:ph type="title"/>
          </p:nvPr>
        </p:nvSpPr>
        <p:spPr>
          <a:xfrm>
            <a:off x="0" y="265176"/>
            <a:ext cx="12192000" cy="877825"/>
          </a:xfrm>
          <a:solidFill>
            <a:srgbClr val="1F4E79"/>
          </a:solidFill>
        </p:spPr>
        <p:txBody>
          <a:bodyPr>
            <a:normAutofit fontScale="90000"/>
          </a:bodyPr>
          <a:lstStyle/>
          <a:p>
            <a:br>
              <a:rPr lang="en-IN" b="1" dirty="0">
                <a:solidFill>
                  <a:schemeClr val="bg1"/>
                </a:solidFill>
              </a:rPr>
            </a:br>
            <a:br>
              <a:rPr lang="en-IN" b="1" dirty="0">
                <a:solidFill>
                  <a:schemeClr val="bg1"/>
                </a:solidFill>
              </a:rPr>
            </a:br>
            <a:r>
              <a:rPr lang="en-IN" b="1" dirty="0">
                <a:solidFill>
                  <a:schemeClr val="bg1"/>
                </a:solidFill>
                <a:latin typeface="Times New Roman" panose="02020603050405020304" pitchFamily="18" charset="0"/>
                <a:cs typeface="Times New Roman" panose="02020603050405020304" pitchFamily="18" charset="0"/>
              </a:rPr>
              <a:t>Sequence Diagram </a:t>
            </a:r>
            <a:r>
              <a:rPr lang="en-IN" b="1" dirty="0">
                <a:solidFill>
                  <a:schemeClr val="bg1"/>
                </a:solidFill>
              </a:rPr>
              <a:t> </a:t>
            </a:r>
            <a:br>
              <a:rPr lang="en-IN" b="1" dirty="0">
                <a:solidFill>
                  <a:schemeClr val="bg1"/>
                </a:solidFill>
                <a:effectLst/>
              </a:rPr>
            </a:br>
            <a:br>
              <a:rPr lang="en-IN" b="1" dirty="0">
                <a:solidFill>
                  <a:schemeClr val="bg1"/>
                </a:solidFill>
                <a:effectLst/>
              </a:rPr>
            </a:br>
            <a:endParaRPr lang="en-IN"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A8D7B7D-CAE7-F06A-CB7F-03DB411E923C}"/>
              </a:ext>
            </a:extLst>
          </p:cNvPr>
          <p:cNvSpPr>
            <a:spLocks noGrp="1"/>
          </p:cNvSpPr>
          <p:nvPr>
            <p:ph idx="1"/>
          </p:nvPr>
        </p:nvSpPr>
        <p:spPr>
          <a:xfrm>
            <a:off x="0" y="1307592"/>
            <a:ext cx="12192000" cy="4915091"/>
          </a:xfrm>
        </p:spPr>
        <p:txBody>
          <a:bodyPr/>
          <a:lstStyle/>
          <a:p>
            <a:pPr marL="0" lvl="0" indent="0" fontAlgn="base">
              <a:buNone/>
            </a:pPr>
            <a:endParaRPr lang="en-IN" dirty="0">
              <a:latin typeface="Times New Roman" panose="02020603050405020304" pitchFamily="18" charset="0"/>
              <a:cs typeface="Times New Roman" panose="02020603050405020304" pitchFamily="18" charset="0"/>
            </a:endParaRPr>
          </a:p>
          <a:p>
            <a:endParaRPr lang="en-IN" dirty="0"/>
          </a:p>
        </p:txBody>
      </p:sp>
      <p:sp>
        <p:nvSpPr>
          <p:cNvPr id="4" name="Date Placeholder 3">
            <a:extLst>
              <a:ext uri="{FF2B5EF4-FFF2-40B4-BE49-F238E27FC236}">
                <a16:creationId xmlns:a16="http://schemas.microsoft.com/office/drawing/2014/main" id="{ED65A4A6-C367-FCF5-B9F9-82EBBDA462A8}"/>
              </a:ext>
            </a:extLst>
          </p:cNvPr>
          <p:cNvSpPr>
            <a:spLocks noGrp="1"/>
          </p:cNvSpPr>
          <p:nvPr>
            <p:ph type="dt" sz="half" idx="10"/>
          </p:nvPr>
        </p:nvSpPr>
        <p:spPr>
          <a:xfrm>
            <a:off x="0" y="6492875"/>
            <a:ext cx="2743200" cy="365125"/>
          </a:xfrm>
        </p:spPr>
        <p:txBody>
          <a:bodyPr/>
          <a:lstStyle/>
          <a:p>
            <a:r>
              <a:rPr lang="en-IN" dirty="0"/>
              <a:t>16-09-2026</a:t>
            </a:r>
          </a:p>
        </p:txBody>
      </p:sp>
      <p:sp>
        <p:nvSpPr>
          <p:cNvPr id="6" name="Slide Number Placeholder 5">
            <a:extLst>
              <a:ext uri="{FF2B5EF4-FFF2-40B4-BE49-F238E27FC236}">
                <a16:creationId xmlns:a16="http://schemas.microsoft.com/office/drawing/2014/main" id="{E77EAA45-E5D9-8F94-0B9F-7D1A0D40EC78}"/>
              </a:ext>
            </a:extLst>
          </p:cNvPr>
          <p:cNvSpPr>
            <a:spLocks noGrp="1"/>
          </p:cNvSpPr>
          <p:nvPr>
            <p:ph type="sldNum" sz="quarter" idx="12"/>
          </p:nvPr>
        </p:nvSpPr>
        <p:spPr>
          <a:xfrm>
            <a:off x="9448800" y="6503289"/>
            <a:ext cx="2743200" cy="365125"/>
          </a:xfrm>
        </p:spPr>
        <p:txBody>
          <a:bodyPr/>
          <a:lstStyle/>
          <a:p>
            <a:fld id="{C019D452-4D13-45E6-A944-00A80B3269BB}" type="slidenum">
              <a:rPr lang="en-IN" smtClean="0"/>
              <a:t>20</a:t>
            </a:fld>
            <a:endParaRPr lang="en-IN" dirty="0"/>
          </a:p>
        </p:txBody>
      </p:sp>
      <p:pic>
        <p:nvPicPr>
          <p:cNvPr id="10" name="Picture 9">
            <a:extLst>
              <a:ext uri="{FF2B5EF4-FFF2-40B4-BE49-F238E27FC236}">
                <a16:creationId xmlns:a16="http://schemas.microsoft.com/office/drawing/2014/main" id="{B964E444-7750-743E-552C-2250F09CE1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3194" y="1225296"/>
            <a:ext cx="8325612" cy="5550408"/>
          </a:xfrm>
          <a:prstGeom prst="rect">
            <a:avLst/>
          </a:prstGeom>
        </p:spPr>
      </p:pic>
    </p:spTree>
    <p:extLst>
      <p:ext uri="{BB962C8B-B14F-4D97-AF65-F5344CB8AC3E}">
        <p14:creationId xmlns:p14="http://schemas.microsoft.com/office/powerpoint/2010/main" val="11361088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E0B8C-23DE-21DB-1221-C1C86A3351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D8824F-3E63-8754-A7C2-EDE75B6316EC}"/>
              </a:ext>
            </a:extLst>
          </p:cNvPr>
          <p:cNvSpPr>
            <a:spLocks noGrp="1"/>
          </p:cNvSpPr>
          <p:nvPr>
            <p:ph type="title"/>
          </p:nvPr>
        </p:nvSpPr>
        <p:spPr>
          <a:xfrm>
            <a:off x="0" y="265176"/>
            <a:ext cx="12192000" cy="877825"/>
          </a:xfrm>
          <a:solidFill>
            <a:srgbClr val="1F4E79"/>
          </a:solidFill>
        </p:spPr>
        <p:txBody>
          <a:bodyPr>
            <a:normAutofit fontScale="90000"/>
          </a:bodyPr>
          <a:lstStyle/>
          <a:p>
            <a:br>
              <a:rPr lang="en-IN" b="1" dirty="0">
                <a:solidFill>
                  <a:schemeClr val="bg1"/>
                </a:solidFill>
              </a:rPr>
            </a:br>
            <a:br>
              <a:rPr lang="en-IN" b="1" dirty="0">
                <a:solidFill>
                  <a:schemeClr val="bg1"/>
                </a:solidFill>
              </a:rPr>
            </a:br>
            <a:r>
              <a:rPr lang="en-IN" b="1" dirty="0">
                <a:solidFill>
                  <a:schemeClr val="bg1"/>
                </a:solidFill>
                <a:latin typeface="Times New Roman" panose="02020603050405020304" pitchFamily="18" charset="0"/>
                <a:cs typeface="Times New Roman" panose="02020603050405020304" pitchFamily="18" charset="0"/>
              </a:rPr>
              <a:t>State Diagram </a:t>
            </a:r>
            <a:r>
              <a:rPr lang="en-IN" b="1" dirty="0">
                <a:solidFill>
                  <a:schemeClr val="bg1"/>
                </a:solidFill>
              </a:rPr>
              <a:t> </a:t>
            </a:r>
            <a:br>
              <a:rPr lang="en-IN" b="1" dirty="0">
                <a:solidFill>
                  <a:schemeClr val="bg1"/>
                </a:solidFill>
                <a:effectLst/>
              </a:rPr>
            </a:br>
            <a:br>
              <a:rPr lang="en-IN" b="1" dirty="0">
                <a:solidFill>
                  <a:schemeClr val="bg1"/>
                </a:solidFill>
                <a:effectLst/>
              </a:rPr>
            </a:br>
            <a:endParaRPr lang="en-IN"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0B2A719-55A0-078C-DCB8-28299CB64A6B}"/>
              </a:ext>
            </a:extLst>
          </p:cNvPr>
          <p:cNvSpPr>
            <a:spLocks noGrp="1"/>
          </p:cNvSpPr>
          <p:nvPr>
            <p:ph idx="1"/>
          </p:nvPr>
        </p:nvSpPr>
        <p:spPr>
          <a:xfrm>
            <a:off x="0" y="1307592"/>
            <a:ext cx="12192000" cy="4915091"/>
          </a:xfrm>
        </p:spPr>
        <p:txBody>
          <a:bodyPr/>
          <a:lstStyle/>
          <a:p>
            <a:pPr marL="0" lvl="0" indent="0" fontAlgn="base">
              <a:buNone/>
            </a:pPr>
            <a:endParaRPr lang="en-IN" dirty="0">
              <a:latin typeface="Times New Roman" panose="02020603050405020304" pitchFamily="18" charset="0"/>
              <a:cs typeface="Times New Roman" panose="02020603050405020304" pitchFamily="18" charset="0"/>
            </a:endParaRPr>
          </a:p>
          <a:p>
            <a:endParaRPr lang="en-IN" dirty="0"/>
          </a:p>
        </p:txBody>
      </p:sp>
      <p:sp>
        <p:nvSpPr>
          <p:cNvPr id="4" name="Date Placeholder 3">
            <a:extLst>
              <a:ext uri="{FF2B5EF4-FFF2-40B4-BE49-F238E27FC236}">
                <a16:creationId xmlns:a16="http://schemas.microsoft.com/office/drawing/2014/main" id="{3BCAA6CB-84AA-065B-2C13-12FD6D70147B}"/>
              </a:ext>
            </a:extLst>
          </p:cNvPr>
          <p:cNvSpPr>
            <a:spLocks noGrp="1"/>
          </p:cNvSpPr>
          <p:nvPr>
            <p:ph type="dt" sz="half" idx="10"/>
          </p:nvPr>
        </p:nvSpPr>
        <p:spPr>
          <a:xfrm>
            <a:off x="0" y="6492875"/>
            <a:ext cx="2743200" cy="365125"/>
          </a:xfrm>
        </p:spPr>
        <p:txBody>
          <a:bodyPr/>
          <a:lstStyle/>
          <a:p>
            <a:r>
              <a:rPr lang="en-IN" dirty="0"/>
              <a:t>16-09-2026</a:t>
            </a:r>
          </a:p>
        </p:txBody>
      </p:sp>
      <p:sp>
        <p:nvSpPr>
          <p:cNvPr id="6" name="Slide Number Placeholder 5">
            <a:extLst>
              <a:ext uri="{FF2B5EF4-FFF2-40B4-BE49-F238E27FC236}">
                <a16:creationId xmlns:a16="http://schemas.microsoft.com/office/drawing/2014/main" id="{30C4C2E7-7502-1DAD-2BCB-A3CE2AE4D161}"/>
              </a:ext>
            </a:extLst>
          </p:cNvPr>
          <p:cNvSpPr>
            <a:spLocks noGrp="1"/>
          </p:cNvSpPr>
          <p:nvPr>
            <p:ph type="sldNum" sz="quarter" idx="12"/>
          </p:nvPr>
        </p:nvSpPr>
        <p:spPr>
          <a:xfrm>
            <a:off x="9448800" y="6503289"/>
            <a:ext cx="2743200" cy="365125"/>
          </a:xfrm>
        </p:spPr>
        <p:txBody>
          <a:bodyPr/>
          <a:lstStyle/>
          <a:p>
            <a:fld id="{C019D452-4D13-45E6-A944-00A80B3269BB}" type="slidenum">
              <a:rPr lang="en-IN" smtClean="0"/>
              <a:t>21</a:t>
            </a:fld>
            <a:endParaRPr lang="en-IN" dirty="0"/>
          </a:p>
        </p:txBody>
      </p:sp>
      <p:pic>
        <p:nvPicPr>
          <p:cNvPr id="8" name="Picture 7">
            <a:extLst>
              <a:ext uri="{FF2B5EF4-FFF2-40B4-BE49-F238E27FC236}">
                <a16:creationId xmlns:a16="http://schemas.microsoft.com/office/drawing/2014/main" id="{907A13B3-60F6-F48E-BDAA-1A2910544F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 y="1546543"/>
            <a:ext cx="12024360" cy="4676140"/>
          </a:xfrm>
          <a:prstGeom prst="rect">
            <a:avLst/>
          </a:prstGeom>
        </p:spPr>
      </p:pic>
    </p:spTree>
    <p:extLst>
      <p:ext uri="{BB962C8B-B14F-4D97-AF65-F5344CB8AC3E}">
        <p14:creationId xmlns:p14="http://schemas.microsoft.com/office/powerpoint/2010/main" val="11644323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0A539-65D0-C3AD-E1B5-B5063E2D27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CA0214-9EB8-2C01-1DC0-A5FA9E59127D}"/>
              </a:ext>
            </a:extLst>
          </p:cNvPr>
          <p:cNvSpPr>
            <a:spLocks noGrp="1"/>
          </p:cNvSpPr>
          <p:nvPr>
            <p:ph type="title"/>
          </p:nvPr>
        </p:nvSpPr>
        <p:spPr>
          <a:xfrm>
            <a:off x="0" y="265176"/>
            <a:ext cx="12192000" cy="877825"/>
          </a:xfrm>
          <a:solidFill>
            <a:srgbClr val="1F4E79"/>
          </a:solidFill>
        </p:spPr>
        <p:txBody>
          <a:bodyPr>
            <a:normAutofit fontScale="90000"/>
          </a:bodyPr>
          <a:lstStyle/>
          <a:p>
            <a:br>
              <a:rPr lang="en-IN" b="1" dirty="0">
                <a:solidFill>
                  <a:schemeClr val="bg1"/>
                </a:solidFill>
              </a:rPr>
            </a:br>
            <a:br>
              <a:rPr lang="en-IN" b="1" dirty="0">
                <a:solidFill>
                  <a:schemeClr val="bg1"/>
                </a:solidFill>
              </a:rPr>
            </a:br>
            <a:r>
              <a:rPr lang="en-IN" b="1" dirty="0">
                <a:solidFill>
                  <a:schemeClr val="bg1"/>
                </a:solidFill>
                <a:latin typeface="Times New Roman" panose="02020603050405020304" pitchFamily="18" charset="0"/>
                <a:cs typeface="Times New Roman" panose="02020603050405020304" pitchFamily="18" charset="0"/>
              </a:rPr>
              <a:t>Deployment Diagram </a:t>
            </a:r>
            <a:r>
              <a:rPr lang="en-IN" b="1" dirty="0">
                <a:solidFill>
                  <a:schemeClr val="bg1"/>
                </a:solidFill>
              </a:rPr>
              <a:t> </a:t>
            </a:r>
            <a:br>
              <a:rPr lang="en-IN" b="1" dirty="0">
                <a:solidFill>
                  <a:schemeClr val="bg1"/>
                </a:solidFill>
                <a:effectLst/>
              </a:rPr>
            </a:br>
            <a:br>
              <a:rPr lang="en-IN" b="1" dirty="0">
                <a:solidFill>
                  <a:schemeClr val="bg1"/>
                </a:solidFill>
                <a:effectLst/>
              </a:rPr>
            </a:br>
            <a:endParaRPr lang="en-IN"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61E3502-DD10-5498-0516-C6BD6CFBDB5C}"/>
              </a:ext>
            </a:extLst>
          </p:cNvPr>
          <p:cNvSpPr>
            <a:spLocks noGrp="1"/>
          </p:cNvSpPr>
          <p:nvPr>
            <p:ph idx="1"/>
          </p:nvPr>
        </p:nvSpPr>
        <p:spPr>
          <a:xfrm>
            <a:off x="0" y="1307592"/>
            <a:ext cx="12192000" cy="4915091"/>
          </a:xfrm>
        </p:spPr>
        <p:txBody>
          <a:bodyPr/>
          <a:lstStyle/>
          <a:p>
            <a:pPr marL="0" lvl="0" indent="0" fontAlgn="base">
              <a:buNone/>
            </a:pPr>
            <a:endParaRPr lang="en-IN" dirty="0">
              <a:latin typeface="Times New Roman" panose="02020603050405020304" pitchFamily="18" charset="0"/>
              <a:cs typeface="Times New Roman" panose="02020603050405020304" pitchFamily="18" charset="0"/>
            </a:endParaRPr>
          </a:p>
          <a:p>
            <a:endParaRPr lang="en-IN" dirty="0"/>
          </a:p>
        </p:txBody>
      </p:sp>
      <p:sp>
        <p:nvSpPr>
          <p:cNvPr id="4" name="Date Placeholder 3">
            <a:extLst>
              <a:ext uri="{FF2B5EF4-FFF2-40B4-BE49-F238E27FC236}">
                <a16:creationId xmlns:a16="http://schemas.microsoft.com/office/drawing/2014/main" id="{8A77EF5F-D2F3-62C0-5F52-7E46764ED11F}"/>
              </a:ext>
            </a:extLst>
          </p:cNvPr>
          <p:cNvSpPr>
            <a:spLocks noGrp="1"/>
          </p:cNvSpPr>
          <p:nvPr>
            <p:ph type="dt" sz="half" idx="10"/>
          </p:nvPr>
        </p:nvSpPr>
        <p:spPr>
          <a:xfrm>
            <a:off x="0" y="6492875"/>
            <a:ext cx="2743200" cy="365125"/>
          </a:xfrm>
        </p:spPr>
        <p:txBody>
          <a:bodyPr/>
          <a:lstStyle/>
          <a:p>
            <a:r>
              <a:rPr lang="en-IN" dirty="0"/>
              <a:t>16-09-2026</a:t>
            </a:r>
          </a:p>
        </p:txBody>
      </p:sp>
      <p:sp>
        <p:nvSpPr>
          <p:cNvPr id="6" name="Slide Number Placeholder 5">
            <a:extLst>
              <a:ext uri="{FF2B5EF4-FFF2-40B4-BE49-F238E27FC236}">
                <a16:creationId xmlns:a16="http://schemas.microsoft.com/office/drawing/2014/main" id="{4AF4576A-62CA-744F-3A97-30AAE1205740}"/>
              </a:ext>
            </a:extLst>
          </p:cNvPr>
          <p:cNvSpPr>
            <a:spLocks noGrp="1"/>
          </p:cNvSpPr>
          <p:nvPr>
            <p:ph type="sldNum" sz="quarter" idx="12"/>
          </p:nvPr>
        </p:nvSpPr>
        <p:spPr>
          <a:xfrm>
            <a:off x="9448800" y="6503289"/>
            <a:ext cx="2743200" cy="365125"/>
          </a:xfrm>
        </p:spPr>
        <p:txBody>
          <a:bodyPr/>
          <a:lstStyle/>
          <a:p>
            <a:fld id="{C019D452-4D13-45E6-A944-00A80B3269BB}" type="slidenum">
              <a:rPr lang="en-IN" smtClean="0"/>
              <a:t>22</a:t>
            </a:fld>
            <a:endParaRPr lang="en-IN" dirty="0"/>
          </a:p>
        </p:txBody>
      </p:sp>
      <p:pic>
        <p:nvPicPr>
          <p:cNvPr id="7" name="Picture 6">
            <a:extLst>
              <a:ext uri="{FF2B5EF4-FFF2-40B4-BE49-F238E27FC236}">
                <a16:creationId xmlns:a16="http://schemas.microsoft.com/office/drawing/2014/main" id="{D7734E64-AF06-F536-6BC3-0AE2075597F1}"/>
              </a:ext>
            </a:extLst>
          </p:cNvPr>
          <p:cNvPicPr>
            <a:picLocks noChangeAspect="1"/>
          </p:cNvPicPr>
          <p:nvPr/>
        </p:nvPicPr>
        <p:blipFill>
          <a:blip r:embed="rId2"/>
          <a:stretch>
            <a:fillRect/>
          </a:stretch>
        </p:blipFill>
        <p:spPr>
          <a:xfrm>
            <a:off x="1911356" y="1143001"/>
            <a:ext cx="8369287" cy="5614838"/>
          </a:xfrm>
          <a:prstGeom prst="rect">
            <a:avLst/>
          </a:prstGeom>
        </p:spPr>
      </p:pic>
    </p:spTree>
    <p:extLst>
      <p:ext uri="{BB962C8B-B14F-4D97-AF65-F5344CB8AC3E}">
        <p14:creationId xmlns:p14="http://schemas.microsoft.com/office/powerpoint/2010/main" val="26690200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64FCC-09B7-1097-F803-3F806AA9AE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297924-18B7-0DC1-8050-3BCDFA8EE5F1}"/>
              </a:ext>
            </a:extLst>
          </p:cNvPr>
          <p:cNvSpPr>
            <a:spLocks noGrp="1"/>
          </p:cNvSpPr>
          <p:nvPr>
            <p:ph type="title"/>
          </p:nvPr>
        </p:nvSpPr>
        <p:spPr>
          <a:xfrm>
            <a:off x="0" y="265176"/>
            <a:ext cx="12192000" cy="877825"/>
          </a:xfrm>
          <a:solidFill>
            <a:srgbClr val="1F4E79"/>
          </a:solidFill>
        </p:spPr>
        <p:txBody>
          <a:bodyPr>
            <a:normAutofit fontScale="90000"/>
          </a:bodyPr>
          <a:lstStyle/>
          <a:p>
            <a:br>
              <a:rPr lang="en-IN" b="1" dirty="0">
                <a:solidFill>
                  <a:schemeClr val="bg1"/>
                </a:solidFill>
              </a:rPr>
            </a:br>
            <a:br>
              <a:rPr lang="en-IN" b="1">
                <a:solidFill>
                  <a:schemeClr val="bg1"/>
                </a:solidFill>
              </a:rPr>
            </a:br>
            <a:r>
              <a:rPr lang="en-IN" b="1">
                <a:solidFill>
                  <a:schemeClr val="bg1"/>
                </a:solidFill>
                <a:latin typeface="Times New Roman" panose="02020603050405020304" pitchFamily="18" charset="0"/>
                <a:cs typeface="Times New Roman" panose="02020603050405020304" pitchFamily="18" charset="0"/>
              </a:rPr>
              <a:t>Results </a:t>
            </a:r>
            <a:r>
              <a:rPr lang="en-IN" b="1">
                <a:solidFill>
                  <a:schemeClr val="bg1"/>
                </a:solidFill>
              </a:rPr>
              <a:t> </a:t>
            </a:r>
            <a:br>
              <a:rPr lang="en-IN" b="1" dirty="0">
                <a:solidFill>
                  <a:schemeClr val="bg1"/>
                </a:solidFill>
                <a:effectLst/>
              </a:rPr>
            </a:br>
            <a:br>
              <a:rPr lang="en-IN" b="1" dirty="0">
                <a:solidFill>
                  <a:schemeClr val="bg1"/>
                </a:solidFill>
                <a:effectLst/>
              </a:rPr>
            </a:br>
            <a:endParaRPr lang="en-IN"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7A3E9A1-3CFF-CCC7-7473-28E488164207}"/>
              </a:ext>
            </a:extLst>
          </p:cNvPr>
          <p:cNvSpPr>
            <a:spLocks noGrp="1"/>
          </p:cNvSpPr>
          <p:nvPr>
            <p:ph idx="1"/>
          </p:nvPr>
        </p:nvSpPr>
        <p:spPr>
          <a:xfrm>
            <a:off x="0" y="1307592"/>
            <a:ext cx="12192000" cy="4915091"/>
          </a:xfrm>
        </p:spPr>
        <p:txBody>
          <a:bodyPr/>
          <a:lstStyle/>
          <a:p>
            <a:pPr marL="0" lvl="0" indent="0" fontAlgn="base">
              <a:buNone/>
            </a:pPr>
            <a:endParaRPr lang="en-IN" dirty="0">
              <a:latin typeface="Times New Roman" panose="02020603050405020304" pitchFamily="18" charset="0"/>
              <a:cs typeface="Times New Roman" panose="02020603050405020304" pitchFamily="18" charset="0"/>
            </a:endParaRPr>
          </a:p>
          <a:p>
            <a:endParaRPr lang="en-IN" dirty="0"/>
          </a:p>
        </p:txBody>
      </p:sp>
      <p:sp>
        <p:nvSpPr>
          <p:cNvPr id="4" name="Date Placeholder 3">
            <a:extLst>
              <a:ext uri="{FF2B5EF4-FFF2-40B4-BE49-F238E27FC236}">
                <a16:creationId xmlns:a16="http://schemas.microsoft.com/office/drawing/2014/main" id="{073FF4A3-8071-B784-59E0-082188AC5851}"/>
              </a:ext>
            </a:extLst>
          </p:cNvPr>
          <p:cNvSpPr>
            <a:spLocks noGrp="1"/>
          </p:cNvSpPr>
          <p:nvPr>
            <p:ph type="dt" sz="half" idx="10"/>
          </p:nvPr>
        </p:nvSpPr>
        <p:spPr>
          <a:xfrm>
            <a:off x="0" y="6492875"/>
            <a:ext cx="2743200" cy="365125"/>
          </a:xfrm>
        </p:spPr>
        <p:txBody>
          <a:bodyPr/>
          <a:lstStyle/>
          <a:p>
            <a:r>
              <a:rPr lang="en-IN" dirty="0"/>
              <a:t>16-09-2026</a:t>
            </a:r>
          </a:p>
        </p:txBody>
      </p:sp>
      <p:sp>
        <p:nvSpPr>
          <p:cNvPr id="6" name="Slide Number Placeholder 5">
            <a:extLst>
              <a:ext uri="{FF2B5EF4-FFF2-40B4-BE49-F238E27FC236}">
                <a16:creationId xmlns:a16="http://schemas.microsoft.com/office/drawing/2014/main" id="{F7347EFF-7B8B-4D5A-1D90-B4BA82872DFC}"/>
              </a:ext>
            </a:extLst>
          </p:cNvPr>
          <p:cNvSpPr>
            <a:spLocks noGrp="1"/>
          </p:cNvSpPr>
          <p:nvPr>
            <p:ph type="sldNum" sz="quarter" idx="12"/>
          </p:nvPr>
        </p:nvSpPr>
        <p:spPr>
          <a:xfrm>
            <a:off x="9448800" y="6503289"/>
            <a:ext cx="2743200" cy="365125"/>
          </a:xfrm>
        </p:spPr>
        <p:txBody>
          <a:bodyPr/>
          <a:lstStyle/>
          <a:p>
            <a:fld id="{C019D452-4D13-45E6-A944-00A80B3269BB}" type="slidenum">
              <a:rPr lang="en-IN" smtClean="0"/>
              <a:t>23</a:t>
            </a:fld>
            <a:endParaRPr lang="en-IN" dirty="0"/>
          </a:p>
        </p:txBody>
      </p:sp>
      <p:pic>
        <p:nvPicPr>
          <p:cNvPr id="7" name="Picture 6">
            <a:extLst>
              <a:ext uri="{FF2B5EF4-FFF2-40B4-BE49-F238E27FC236}">
                <a16:creationId xmlns:a16="http://schemas.microsoft.com/office/drawing/2014/main" id="{9A2715EB-049F-60B5-D3E9-3C7EFAB842A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9774" y="1213766"/>
            <a:ext cx="9712451" cy="5461671"/>
          </a:xfrm>
          <a:prstGeom prst="rect">
            <a:avLst/>
          </a:prstGeom>
        </p:spPr>
      </p:pic>
    </p:spTree>
    <p:extLst>
      <p:ext uri="{BB962C8B-B14F-4D97-AF65-F5344CB8AC3E}">
        <p14:creationId xmlns:p14="http://schemas.microsoft.com/office/powerpoint/2010/main" val="38316269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56439-38E9-03FE-397C-E1D135A805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622639-D41C-FE4C-1867-11FD5838C51F}"/>
              </a:ext>
            </a:extLst>
          </p:cNvPr>
          <p:cNvSpPr>
            <a:spLocks noGrp="1"/>
          </p:cNvSpPr>
          <p:nvPr>
            <p:ph type="title"/>
          </p:nvPr>
        </p:nvSpPr>
        <p:spPr>
          <a:xfrm>
            <a:off x="0" y="265176"/>
            <a:ext cx="12192000" cy="877825"/>
          </a:xfrm>
          <a:solidFill>
            <a:srgbClr val="1F4E79"/>
          </a:solidFill>
        </p:spPr>
        <p:txBody>
          <a:bodyPr>
            <a:normAutofit fontScale="90000"/>
          </a:bodyPr>
          <a:lstStyle/>
          <a:p>
            <a:br>
              <a:rPr lang="en-IN" b="1" dirty="0">
                <a:solidFill>
                  <a:schemeClr val="bg1"/>
                </a:solidFill>
              </a:rPr>
            </a:br>
            <a:br>
              <a:rPr lang="en-IN" b="1" dirty="0">
                <a:solidFill>
                  <a:schemeClr val="bg1"/>
                </a:solidFill>
              </a:rPr>
            </a:br>
            <a:r>
              <a:rPr lang="en-IN" b="1" dirty="0">
                <a:solidFill>
                  <a:schemeClr val="bg1"/>
                </a:solidFill>
                <a:latin typeface="Times New Roman" panose="02020603050405020304" pitchFamily="18" charset="0"/>
                <a:cs typeface="Times New Roman" panose="02020603050405020304" pitchFamily="18" charset="0"/>
              </a:rPr>
              <a:t>Results</a:t>
            </a:r>
            <a:r>
              <a:rPr lang="en-IN" b="1" dirty="0">
                <a:solidFill>
                  <a:schemeClr val="bg1"/>
                </a:solidFill>
              </a:rPr>
              <a:t> </a:t>
            </a:r>
            <a:br>
              <a:rPr lang="en-IN" b="1" dirty="0">
                <a:solidFill>
                  <a:schemeClr val="bg1"/>
                </a:solidFill>
                <a:effectLst/>
              </a:rPr>
            </a:br>
            <a:br>
              <a:rPr lang="en-IN" b="1" dirty="0">
                <a:solidFill>
                  <a:schemeClr val="bg1"/>
                </a:solidFill>
                <a:effectLst/>
              </a:rPr>
            </a:br>
            <a:endParaRPr lang="en-IN"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A1E4497-5C72-1EAF-8D2D-1D27D91C6D1D}"/>
              </a:ext>
            </a:extLst>
          </p:cNvPr>
          <p:cNvSpPr>
            <a:spLocks noGrp="1"/>
          </p:cNvSpPr>
          <p:nvPr>
            <p:ph idx="1"/>
          </p:nvPr>
        </p:nvSpPr>
        <p:spPr>
          <a:xfrm>
            <a:off x="0" y="1307592"/>
            <a:ext cx="12192000" cy="4915091"/>
          </a:xfrm>
        </p:spPr>
        <p:txBody>
          <a:bodyPr/>
          <a:lstStyle/>
          <a:p>
            <a:pPr marL="0" lvl="0" indent="0" fontAlgn="base">
              <a:buNone/>
            </a:pPr>
            <a:endParaRPr lang="en-IN" dirty="0">
              <a:latin typeface="Times New Roman" panose="02020603050405020304" pitchFamily="18" charset="0"/>
              <a:cs typeface="Times New Roman" panose="02020603050405020304" pitchFamily="18" charset="0"/>
            </a:endParaRPr>
          </a:p>
          <a:p>
            <a:endParaRPr lang="en-IN" dirty="0"/>
          </a:p>
        </p:txBody>
      </p:sp>
      <p:sp>
        <p:nvSpPr>
          <p:cNvPr id="4" name="Date Placeholder 3">
            <a:extLst>
              <a:ext uri="{FF2B5EF4-FFF2-40B4-BE49-F238E27FC236}">
                <a16:creationId xmlns:a16="http://schemas.microsoft.com/office/drawing/2014/main" id="{2691ACBD-71B9-1F9F-8140-F49AA799971B}"/>
              </a:ext>
            </a:extLst>
          </p:cNvPr>
          <p:cNvSpPr>
            <a:spLocks noGrp="1"/>
          </p:cNvSpPr>
          <p:nvPr>
            <p:ph type="dt" sz="half" idx="10"/>
          </p:nvPr>
        </p:nvSpPr>
        <p:spPr>
          <a:xfrm>
            <a:off x="0" y="6492875"/>
            <a:ext cx="2743200" cy="365125"/>
          </a:xfrm>
        </p:spPr>
        <p:txBody>
          <a:bodyPr/>
          <a:lstStyle/>
          <a:p>
            <a:r>
              <a:rPr lang="en-IN" dirty="0"/>
              <a:t>16-09-2026</a:t>
            </a:r>
          </a:p>
        </p:txBody>
      </p:sp>
      <p:sp>
        <p:nvSpPr>
          <p:cNvPr id="6" name="Slide Number Placeholder 5">
            <a:extLst>
              <a:ext uri="{FF2B5EF4-FFF2-40B4-BE49-F238E27FC236}">
                <a16:creationId xmlns:a16="http://schemas.microsoft.com/office/drawing/2014/main" id="{E3436DD7-9BF1-53CC-B4CF-76F34BE07227}"/>
              </a:ext>
            </a:extLst>
          </p:cNvPr>
          <p:cNvSpPr>
            <a:spLocks noGrp="1"/>
          </p:cNvSpPr>
          <p:nvPr>
            <p:ph type="sldNum" sz="quarter" idx="12"/>
          </p:nvPr>
        </p:nvSpPr>
        <p:spPr>
          <a:xfrm>
            <a:off x="9448800" y="6503289"/>
            <a:ext cx="2743200" cy="365125"/>
          </a:xfrm>
        </p:spPr>
        <p:txBody>
          <a:bodyPr/>
          <a:lstStyle/>
          <a:p>
            <a:fld id="{C019D452-4D13-45E6-A944-00A80B3269BB}" type="slidenum">
              <a:rPr lang="en-IN" smtClean="0"/>
              <a:t>24</a:t>
            </a:fld>
            <a:endParaRPr lang="en-IN" dirty="0"/>
          </a:p>
        </p:txBody>
      </p:sp>
      <p:pic>
        <p:nvPicPr>
          <p:cNvPr id="7" name="Picture 6">
            <a:extLst>
              <a:ext uri="{FF2B5EF4-FFF2-40B4-BE49-F238E27FC236}">
                <a16:creationId xmlns:a16="http://schemas.microsoft.com/office/drawing/2014/main" id="{A70E8BCB-2136-C877-3D33-226F285056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9774" y="1213766"/>
            <a:ext cx="9712452" cy="5461671"/>
          </a:xfrm>
          <a:prstGeom prst="rect">
            <a:avLst/>
          </a:prstGeom>
        </p:spPr>
      </p:pic>
    </p:spTree>
    <p:extLst>
      <p:ext uri="{BB962C8B-B14F-4D97-AF65-F5344CB8AC3E}">
        <p14:creationId xmlns:p14="http://schemas.microsoft.com/office/powerpoint/2010/main" val="10693346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21C89-79B7-E264-A655-BCD8F90066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9C82A0-EC97-FA6C-64D6-68D10CB5339C}"/>
              </a:ext>
            </a:extLst>
          </p:cNvPr>
          <p:cNvSpPr>
            <a:spLocks noGrp="1"/>
          </p:cNvSpPr>
          <p:nvPr>
            <p:ph type="title"/>
          </p:nvPr>
        </p:nvSpPr>
        <p:spPr>
          <a:xfrm>
            <a:off x="0" y="265176"/>
            <a:ext cx="12192000" cy="877825"/>
          </a:xfrm>
          <a:solidFill>
            <a:srgbClr val="1F4E79"/>
          </a:solidFill>
        </p:spPr>
        <p:txBody>
          <a:bodyPr>
            <a:normAutofit fontScale="90000"/>
          </a:bodyPr>
          <a:lstStyle/>
          <a:p>
            <a:br>
              <a:rPr lang="en-IN" b="1" dirty="0">
                <a:solidFill>
                  <a:schemeClr val="bg1"/>
                </a:solidFill>
              </a:rPr>
            </a:br>
            <a:br>
              <a:rPr lang="en-IN" b="1" dirty="0">
                <a:solidFill>
                  <a:schemeClr val="bg1"/>
                </a:solidFill>
              </a:rPr>
            </a:br>
            <a:r>
              <a:rPr lang="en-IN" b="1" dirty="0">
                <a:solidFill>
                  <a:schemeClr val="bg1"/>
                </a:solidFill>
                <a:latin typeface="Times New Roman" panose="02020603050405020304" pitchFamily="18" charset="0"/>
                <a:cs typeface="Times New Roman" panose="02020603050405020304" pitchFamily="18" charset="0"/>
              </a:rPr>
              <a:t>Results </a:t>
            </a:r>
            <a:r>
              <a:rPr lang="en-IN" b="1" dirty="0">
                <a:solidFill>
                  <a:schemeClr val="bg1"/>
                </a:solidFill>
              </a:rPr>
              <a:t> </a:t>
            </a:r>
            <a:br>
              <a:rPr lang="en-IN" b="1" dirty="0">
                <a:solidFill>
                  <a:schemeClr val="bg1"/>
                </a:solidFill>
                <a:effectLst/>
              </a:rPr>
            </a:br>
            <a:br>
              <a:rPr lang="en-IN" b="1" dirty="0">
                <a:solidFill>
                  <a:schemeClr val="bg1"/>
                </a:solidFill>
                <a:effectLst/>
              </a:rPr>
            </a:br>
            <a:endParaRPr lang="en-IN"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8401FD1-D882-F227-AA89-F79689C85C43}"/>
              </a:ext>
            </a:extLst>
          </p:cNvPr>
          <p:cNvSpPr>
            <a:spLocks noGrp="1"/>
          </p:cNvSpPr>
          <p:nvPr>
            <p:ph idx="1"/>
          </p:nvPr>
        </p:nvSpPr>
        <p:spPr>
          <a:xfrm>
            <a:off x="0" y="1307592"/>
            <a:ext cx="12192000" cy="4915091"/>
          </a:xfrm>
        </p:spPr>
        <p:txBody>
          <a:bodyPr/>
          <a:lstStyle/>
          <a:p>
            <a:pPr marL="0" lvl="0" indent="0" fontAlgn="base">
              <a:buNone/>
            </a:pPr>
            <a:endParaRPr lang="en-IN" dirty="0">
              <a:latin typeface="Times New Roman" panose="02020603050405020304" pitchFamily="18" charset="0"/>
              <a:cs typeface="Times New Roman" panose="02020603050405020304" pitchFamily="18" charset="0"/>
            </a:endParaRPr>
          </a:p>
          <a:p>
            <a:endParaRPr lang="en-IN" dirty="0"/>
          </a:p>
        </p:txBody>
      </p:sp>
      <p:sp>
        <p:nvSpPr>
          <p:cNvPr id="4" name="Date Placeholder 3">
            <a:extLst>
              <a:ext uri="{FF2B5EF4-FFF2-40B4-BE49-F238E27FC236}">
                <a16:creationId xmlns:a16="http://schemas.microsoft.com/office/drawing/2014/main" id="{D5B92050-3D67-2E46-8194-E7FDB6ED718B}"/>
              </a:ext>
            </a:extLst>
          </p:cNvPr>
          <p:cNvSpPr>
            <a:spLocks noGrp="1"/>
          </p:cNvSpPr>
          <p:nvPr>
            <p:ph type="dt" sz="half" idx="10"/>
          </p:nvPr>
        </p:nvSpPr>
        <p:spPr>
          <a:xfrm>
            <a:off x="0" y="6492875"/>
            <a:ext cx="2743200" cy="365125"/>
          </a:xfrm>
        </p:spPr>
        <p:txBody>
          <a:bodyPr/>
          <a:lstStyle/>
          <a:p>
            <a:r>
              <a:rPr lang="en-IN" dirty="0"/>
              <a:t>16-09-2026</a:t>
            </a:r>
          </a:p>
        </p:txBody>
      </p:sp>
      <p:sp>
        <p:nvSpPr>
          <p:cNvPr id="6" name="Slide Number Placeholder 5">
            <a:extLst>
              <a:ext uri="{FF2B5EF4-FFF2-40B4-BE49-F238E27FC236}">
                <a16:creationId xmlns:a16="http://schemas.microsoft.com/office/drawing/2014/main" id="{3658EE73-9662-1D25-1B1C-8D1252036EFC}"/>
              </a:ext>
            </a:extLst>
          </p:cNvPr>
          <p:cNvSpPr>
            <a:spLocks noGrp="1"/>
          </p:cNvSpPr>
          <p:nvPr>
            <p:ph type="sldNum" sz="quarter" idx="12"/>
          </p:nvPr>
        </p:nvSpPr>
        <p:spPr>
          <a:xfrm>
            <a:off x="9448800" y="6503289"/>
            <a:ext cx="2743200" cy="365125"/>
          </a:xfrm>
        </p:spPr>
        <p:txBody>
          <a:bodyPr/>
          <a:lstStyle/>
          <a:p>
            <a:fld id="{C019D452-4D13-45E6-A944-00A80B3269BB}" type="slidenum">
              <a:rPr lang="en-IN" smtClean="0"/>
              <a:t>25</a:t>
            </a:fld>
            <a:endParaRPr lang="en-IN" dirty="0"/>
          </a:p>
        </p:txBody>
      </p:sp>
      <p:pic>
        <p:nvPicPr>
          <p:cNvPr id="7" name="Picture 6">
            <a:extLst>
              <a:ext uri="{FF2B5EF4-FFF2-40B4-BE49-F238E27FC236}">
                <a16:creationId xmlns:a16="http://schemas.microsoft.com/office/drawing/2014/main" id="{BCC5B72E-788C-DA92-C124-7416B911659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51571" y="1215933"/>
            <a:ext cx="10088857" cy="5147053"/>
          </a:xfrm>
          <a:prstGeom prst="rect">
            <a:avLst/>
          </a:prstGeom>
        </p:spPr>
      </p:pic>
    </p:spTree>
    <p:extLst>
      <p:ext uri="{BB962C8B-B14F-4D97-AF65-F5344CB8AC3E}">
        <p14:creationId xmlns:p14="http://schemas.microsoft.com/office/powerpoint/2010/main" val="38711559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EB378-15F7-E9D2-C267-1ED9BCEEE8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B9CA7B-C2D2-D511-A66E-99C91D2B23E1}"/>
              </a:ext>
            </a:extLst>
          </p:cNvPr>
          <p:cNvSpPr>
            <a:spLocks noGrp="1"/>
          </p:cNvSpPr>
          <p:nvPr>
            <p:ph type="title"/>
          </p:nvPr>
        </p:nvSpPr>
        <p:spPr>
          <a:xfrm>
            <a:off x="0" y="265176"/>
            <a:ext cx="12192000" cy="877825"/>
          </a:xfrm>
          <a:solidFill>
            <a:srgbClr val="1F4E79"/>
          </a:solidFill>
        </p:spPr>
        <p:txBody>
          <a:bodyPr>
            <a:normAutofit fontScale="90000"/>
          </a:bodyPr>
          <a:lstStyle/>
          <a:p>
            <a:br>
              <a:rPr lang="en-IN" b="1" dirty="0">
                <a:solidFill>
                  <a:schemeClr val="bg1"/>
                </a:solidFill>
              </a:rPr>
            </a:br>
            <a:br>
              <a:rPr lang="en-IN" b="1" dirty="0">
                <a:solidFill>
                  <a:schemeClr val="bg1"/>
                </a:solidFill>
              </a:rPr>
            </a:br>
            <a:r>
              <a:rPr lang="en-IN" b="1" dirty="0">
                <a:solidFill>
                  <a:schemeClr val="bg1"/>
                </a:solidFill>
                <a:latin typeface="Times New Roman" panose="02020603050405020304" pitchFamily="18" charset="0"/>
                <a:cs typeface="Times New Roman" panose="02020603050405020304" pitchFamily="18" charset="0"/>
              </a:rPr>
              <a:t>System Requirements</a:t>
            </a:r>
            <a:br>
              <a:rPr lang="en-IN" b="1" dirty="0">
                <a:solidFill>
                  <a:schemeClr val="bg1"/>
                </a:solidFill>
                <a:effectLst/>
              </a:rPr>
            </a:br>
            <a:br>
              <a:rPr lang="en-IN" b="1" dirty="0">
                <a:solidFill>
                  <a:schemeClr val="bg1"/>
                </a:solidFill>
                <a:effectLst/>
              </a:rPr>
            </a:br>
            <a:endParaRPr lang="en-IN"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CC58ADF-C278-035E-2D0E-732114F885E5}"/>
              </a:ext>
            </a:extLst>
          </p:cNvPr>
          <p:cNvSpPr>
            <a:spLocks noGrp="1"/>
          </p:cNvSpPr>
          <p:nvPr>
            <p:ph idx="1"/>
          </p:nvPr>
        </p:nvSpPr>
        <p:spPr>
          <a:xfrm>
            <a:off x="0" y="1307592"/>
            <a:ext cx="12192000" cy="5449824"/>
          </a:xfrm>
        </p:spPr>
        <p:txBody>
          <a:bodyPr>
            <a:noAutofit/>
          </a:bodyPr>
          <a:lstStyle/>
          <a:p>
            <a:pPr marL="0" indent="0">
              <a:buNone/>
            </a:pPr>
            <a:r>
              <a:rPr lang="en-US" sz="2400" b="1" dirty="0">
                <a:latin typeface="Times New Roman" panose="02020603050405020304" pitchFamily="18" charset="0"/>
                <a:cs typeface="Times New Roman" panose="02020603050405020304" pitchFamily="18" charset="0"/>
              </a:rPr>
              <a:t>Hardware Requirements:</a:t>
            </a:r>
          </a:p>
          <a:p>
            <a:r>
              <a:rPr lang="en-US" sz="2400" dirty="0">
                <a:latin typeface="Times New Roman" panose="02020603050405020304" pitchFamily="18" charset="0"/>
                <a:cs typeface="Times New Roman" panose="02020603050405020304" pitchFamily="18" charset="0"/>
              </a:rPr>
              <a:t>Processor: Intel i5 or Higher </a:t>
            </a:r>
          </a:p>
          <a:p>
            <a:r>
              <a:rPr lang="en-US" sz="2400" dirty="0">
                <a:latin typeface="Times New Roman" panose="02020603050405020304" pitchFamily="18" charset="0"/>
                <a:cs typeface="Times New Roman" panose="02020603050405020304" pitchFamily="18" charset="0"/>
              </a:rPr>
              <a:t>RAM: Minimum 8 GB </a:t>
            </a:r>
          </a:p>
          <a:p>
            <a:r>
              <a:rPr lang="en-US" sz="2400" dirty="0">
                <a:latin typeface="Times New Roman" panose="02020603050405020304" pitchFamily="18" charset="0"/>
                <a:cs typeface="Times New Roman" panose="02020603050405020304" pitchFamily="18" charset="0"/>
              </a:rPr>
              <a:t>Storage: Minimum 256 GB </a:t>
            </a:r>
          </a:p>
          <a:p>
            <a:r>
              <a:rPr lang="en-US" sz="2400" dirty="0">
                <a:latin typeface="Times New Roman" panose="02020603050405020304" pitchFamily="18" charset="0"/>
                <a:cs typeface="Times New Roman" panose="02020603050405020304" pitchFamily="18" charset="0"/>
              </a:rPr>
              <a:t>Windows/Linux Compatible System </a:t>
            </a:r>
          </a:p>
          <a:p>
            <a:pPr marL="0" indent="0">
              <a:buNone/>
            </a:pPr>
            <a:r>
              <a:rPr lang="en-US" sz="2400" b="1" dirty="0">
                <a:latin typeface="Times New Roman" panose="02020603050405020304" pitchFamily="18" charset="0"/>
                <a:cs typeface="Times New Roman" panose="02020603050405020304" pitchFamily="18" charset="0"/>
              </a:rPr>
              <a:t>Software Requirements:</a:t>
            </a:r>
          </a:p>
          <a:p>
            <a:r>
              <a:rPr lang="en-US" sz="2400" dirty="0">
                <a:latin typeface="Times New Roman" panose="02020603050405020304" pitchFamily="18" charset="0"/>
                <a:cs typeface="Times New Roman" panose="02020603050405020304" pitchFamily="18" charset="0"/>
              </a:rPr>
              <a:t>Operating System: Windows or Linux </a:t>
            </a:r>
          </a:p>
          <a:p>
            <a:r>
              <a:rPr lang="en-US" sz="2400" dirty="0">
                <a:latin typeface="Times New Roman" panose="02020603050405020304" pitchFamily="18" charset="0"/>
                <a:cs typeface="Times New Roman" panose="02020603050405020304" pitchFamily="18" charset="0"/>
              </a:rPr>
              <a:t>Frontend: React, Chart.js </a:t>
            </a:r>
          </a:p>
          <a:p>
            <a:r>
              <a:rPr lang="en-US" sz="2400" dirty="0">
                <a:latin typeface="Times New Roman" panose="02020603050405020304" pitchFamily="18" charset="0"/>
                <a:cs typeface="Times New Roman" panose="02020603050405020304" pitchFamily="18" charset="0"/>
              </a:rPr>
              <a:t>Backend: Java 21, Spring Boot </a:t>
            </a:r>
          </a:p>
          <a:p>
            <a:r>
              <a:rPr lang="en-US" sz="2400" dirty="0">
                <a:latin typeface="Times New Roman" panose="02020603050405020304" pitchFamily="18" charset="0"/>
                <a:cs typeface="Times New Roman" panose="02020603050405020304" pitchFamily="18" charset="0"/>
              </a:rPr>
              <a:t>Database: MySQL / PostgreSQL </a:t>
            </a:r>
          </a:p>
          <a:p>
            <a:r>
              <a:rPr lang="en-US" sz="2400" dirty="0">
                <a:latin typeface="Times New Roman" panose="02020603050405020304" pitchFamily="18" charset="0"/>
                <a:cs typeface="Times New Roman" panose="02020603050405020304" pitchFamily="18" charset="0"/>
              </a:rPr>
              <a:t>Machine Learning Tools: Smile ML, XGBoost4J</a:t>
            </a:r>
          </a:p>
          <a:p>
            <a:r>
              <a:rPr lang="en-US" sz="2400" dirty="0">
                <a:latin typeface="Times New Roman" panose="02020603050405020304" pitchFamily="18" charset="0"/>
                <a:cs typeface="Times New Roman" panose="02020603050405020304" pitchFamily="18" charset="0"/>
              </a:rPr>
              <a:t>Dataset: NASA GPM (Global Precipitation Measurement)</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668F3485-0293-4B29-91AB-A72AA087ACFB}"/>
              </a:ext>
            </a:extLst>
          </p:cNvPr>
          <p:cNvSpPr/>
          <p:nvPr/>
        </p:nvSpPr>
        <p:spPr>
          <a:xfrm>
            <a:off x="5977217" y="3244334"/>
            <a:ext cx="237566" cy="369332"/>
          </a:xfrm>
          <a:prstGeom prst="rect">
            <a:avLst/>
          </a:prstGeom>
        </p:spPr>
        <p:txBody>
          <a:bodyPr wrap="none">
            <a:spAutoFit/>
          </a:bodyPr>
          <a:lstStyle/>
          <a:p>
            <a:r>
              <a:rPr lang="en-US" dirty="0"/>
              <a:t> </a:t>
            </a:r>
          </a:p>
        </p:txBody>
      </p:sp>
      <p:sp>
        <p:nvSpPr>
          <p:cNvPr id="5" name="Date Placeholder 4">
            <a:extLst>
              <a:ext uri="{FF2B5EF4-FFF2-40B4-BE49-F238E27FC236}">
                <a16:creationId xmlns:a16="http://schemas.microsoft.com/office/drawing/2014/main" id="{B066B88A-D757-1E24-F270-A433B02E35F6}"/>
              </a:ext>
            </a:extLst>
          </p:cNvPr>
          <p:cNvSpPr>
            <a:spLocks noGrp="1"/>
          </p:cNvSpPr>
          <p:nvPr>
            <p:ph type="dt" sz="half" idx="10"/>
          </p:nvPr>
        </p:nvSpPr>
        <p:spPr>
          <a:xfrm>
            <a:off x="0" y="6556882"/>
            <a:ext cx="2743200" cy="365125"/>
          </a:xfrm>
        </p:spPr>
        <p:txBody>
          <a:bodyPr/>
          <a:lstStyle/>
          <a:p>
            <a:r>
              <a:rPr lang="en-IN" dirty="0"/>
              <a:t>16-09-2026</a:t>
            </a:r>
          </a:p>
        </p:txBody>
      </p:sp>
      <p:sp>
        <p:nvSpPr>
          <p:cNvPr id="6" name="Slide Number Placeholder 5">
            <a:extLst>
              <a:ext uri="{FF2B5EF4-FFF2-40B4-BE49-F238E27FC236}">
                <a16:creationId xmlns:a16="http://schemas.microsoft.com/office/drawing/2014/main" id="{DAF939A7-D9D8-EAE1-8CBC-7570F290816B}"/>
              </a:ext>
            </a:extLst>
          </p:cNvPr>
          <p:cNvSpPr>
            <a:spLocks noGrp="1"/>
          </p:cNvSpPr>
          <p:nvPr>
            <p:ph type="sldNum" sz="quarter" idx="12"/>
          </p:nvPr>
        </p:nvSpPr>
        <p:spPr>
          <a:xfrm>
            <a:off x="9448800" y="6492875"/>
            <a:ext cx="2743200" cy="365125"/>
          </a:xfrm>
        </p:spPr>
        <p:txBody>
          <a:bodyPr/>
          <a:lstStyle/>
          <a:p>
            <a:fld id="{C019D452-4D13-45E6-A944-00A80B3269BB}" type="slidenum">
              <a:rPr lang="en-IN" smtClean="0"/>
              <a:t>26</a:t>
            </a:fld>
            <a:endParaRPr lang="en-IN"/>
          </a:p>
        </p:txBody>
      </p:sp>
    </p:spTree>
    <p:extLst>
      <p:ext uri="{BB962C8B-B14F-4D97-AF65-F5344CB8AC3E}">
        <p14:creationId xmlns:p14="http://schemas.microsoft.com/office/powerpoint/2010/main" val="2040948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F492A-AF21-5216-9791-CF76B3F933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CF024D-22F8-057F-B704-F26C13A01DA0}"/>
              </a:ext>
            </a:extLst>
          </p:cNvPr>
          <p:cNvSpPr>
            <a:spLocks noGrp="1"/>
          </p:cNvSpPr>
          <p:nvPr>
            <p:ph type="title"/>
          </p:nvPr>
        </p:nvSpPr>
        <p:spPr>
          <a:xfrm>
            <a:off x="0" y="265176"/>
            <a:ext cx="12192000" cy="877825"/>
          </a:xfrm>
          <a:solidFill>
            <a:srgbClr val="1F4E79"/>
          </a:solidFill>
        </p:spPr>
        <p:txBody>
          <a:bodyPr>
            <a:normAutofit fontScale="90000"/>
          </a:bodyPr>
          <a:lstStyle/>
          <a:p>
            <a:br>
              <a:rPr lang="en-IN" b="1" dirty="0">
                <a:solidFill>
                  <a:schemeClr val="bg1"/>
                </a:solidFill>
              </a:rPr>
            </a:br>
            <a:br>
              <a:rPr lang="en-IN" b="1" dirty="0">
                <a:solidFill>
                  <a:schemeClr val="bg1"/>
                </a:solidFill>
              </a:rPr>
            </a:br>
            <a:r>
              <a:rPr lang="en-IN" b="1" dirty="0">
                <a:solidFill>
                  <a:schemeClr val="bg1"/>
                </a:solidFill>
                <a:latin typeface="Times New Roman" panose="02020603050405020304" pitchFamily="18" charset="0"/>
                <a:cs typeface="Times New Roman" panose="02020603050405020304" pitchFamily="18" charset="0"/>
              </a:rPr>
              <a:t>Conclusion</a:t>
            </a:r>
            <a:r>
              <a:rPr lang="en-IN" b="1" dirty="0">
                <a:solidFill>
                  <a:schemeClr val="bg1"/>
                </a:solidFill>
              </a:rPr>
              <a:t> </a:t>
            </a:r>
            <a:br>
              <a:rPr lang="en-IN" b="1" dirty="0">
                <a:solidFill>
                  <a:schemeClr val="bg1"/>
                </a:solidFill>
                <a:effectLst/>
              </a:rPr>
            </a:br>
            <a:br>
              <a:rPr lang="en-IN" b="1" dirty="0">
                <a:solidFill>
                  <a:schemeClr val="bg1"/>
                </a:solidFill>
                <a:effectLst/>
              </a:rPr>
            </a:br>
            <a:endParaRPr lang="en-IN"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A8B9EA6-37B0-8208-ADD3-F63A89C5B25A}"/>
              </a:ext>
            </a:extLst>
          </p:cNvPr>
          <p:cNvSpPr>
            <a:spLocks noGrp="1"/>
          </p:cNvSpPr>
          <p:nvPr>
            <p:ph idx="1"/>
          </p:nvPr>
        </p:nvSpPr>
        <p:spPr>
          <a:xfrm>
            <a:off x="0" y="1307592"/>
            <a:ext cx="12192000" cy="5285232"/>
          </a:xfrm>
        </p:spPr>
        <p:txBody>
          <a:bodyPr>
            <a:noAutofit/>
          </a:bodyPr>
          <a:lstStyle/>
          <a:p>
            <a:pPr lvl="0" algn="just">
              <a:lnSpc>
                <a:spcPct val="150000"/>
              </a:lnSpc>
            </a:pPr>
            <a:r>
              <a:rPr lang="en-IN" sz="2400" dirty="0">
                <a:latin typeface="Times New Roman" panose="02020603050405020304" pitchFamily="18" charset="0"/>
                <a:cs typeface="Times New Roman" panose="02020603050405020304" pitchFamily="18" charset="0"/>
              </a:rPr>
              <a:t>The proposed </a:t>
            </a:r>
            <a:r>
              <a:rPr lang="en-IN" sz="2400" b="1" dirty="0">
                <a:latin typeface="Times New Roman" panose="02020603050405020304" pitchFamily="18" charset="0"/>
                <a:cs typeface="Times New Roman" panose="02020603050405020304" pitchFamily="18" charset="0"/>
              </a:rPr>
              <a:t>Probabilistic-ML Framework for Extreme Flood Prediction</a:t>
            </a:r>
            <a:r>
              <a:rPr lang="en-IN" sz="2400" dirty="0">
                <a:latin typeface="Times New Roman" panose="02020603050405020304" pitchFamily="18" charset="0"/>
                <a:cs typeface="Times New Roman" panose="02020603050405020304" pitchFamily="18" charset="0"/>
              </a:rPr>
              <a:t> combines </a:t>
            </a:r>
            <a:r>
              <a:rPr lang="en-IN" sz="2400" b="1" dirty="0">
                <a:latin typeface="Times New Roman" panose="02020603050405020304" pitchFamily="18" charset="0"/>
                <a:cs typeface="Times New Roman" panose="02020603050405020304" pitchFamily="18" charset="0"/>
              </a:rPr>
              <a:t>Extreme Value Analysis, probability distribution methods, and machine learning</a:t>
            </a:r>
            <a:r>
              <a:rPr lang="en-IN" sz="2400" dirty="0">
                <a:latin typeface="Times New Roman" panose="02020603050405020304" pitchFamily="18" charset="0"/>
                <a:cs typeface="Times New Roman" panose="02020603050405020304" pitchFamily="18" charset="0"/>
              </a:rPr>
              <a:t> to reliably assess extreme flood risk using historical rainfall and hydro-meteorological data. It estimates extreme rainfall return periods and uses </a:t>
            </a:r>
            <a:r>
              <a:rPr lang="en-IN" sz="2400" b="1" dirty="0">
                <a:latin typeface="Times New Roman" panose="02020603050405020304" pitchFamily="18" charset="0"/>
                <a:cs typeface="Times New Roman" panose="02020603050405020304" pitchFamily="18" charset="0"/>
              </a:rPr>
              <a:t>Random Forest, </a:t>
            </a:r>
            <a:r>
              <a:rPr lang="en-IN" sz="2400" b="1" dirty="0" err="1">
                <a:latin typeface="Times New Roman" panose="02020603050405020304" pitchFamily="18" charset="0"/>
                <a:cs typeface="Times New Roman" panose="02020603050405020304" pitchFamily="18" charset="0"/>
              </a:rPr>
              <a:t>XGBoost</a:t>
            </a:r>
            <a:r>
              <a:rPr lang="en-IN" sz="2400" b="1" dirty="0">
                <a:latin typeface="Times New Roman" panose="02020603050405020304" pitchFamily="18" charset="0"/>
                <a:cs typeface="Times New Roman" panose="02020603050405020304" pitchFamily="18" charset="0"/>
              </a:rPr>
              <a:t>, and Kernel SVM with Majority Voting</a:t>
            </a:r>
            <a:r>
              <a:rPr lang="en-IN" sz="2400" dirty="0">
                <a:latin typeface="Times New Roman" panose="02020603050405020304" pitchFamily="18" charset="0"/>
                <a:cs typeface="Times New Roman" panose="02020603050405020304" pitchFamily="18" charset="0"/>
              </a:rPr>
              <a:t> to predict flood risk. </a:t>
            </a:r>
          </a:p>
          <a:p>
            <a:pPr lvl="0" algn="just">
              <a:lnSpc>
                <a:spcPct val="150000"/>
              </a:lnSpc>
            </a:pPr>
            <a:r>
              <a:rPr lang="en-IN" sz="2400" dirty="0">
                <a:latin typeface="Times New Roman" panose="02020603050405020304" pitchFamily="18" charset="0"/>
                <a:cs typeface="Times New Roman" panose="02020603050405020304" pitchFamily="18" charset="0"/>
              </a:rPr>
              <a:t>The results are presented through an </a:t>
            </a:r>
            <a:r>
              <a:rPr lang="en-IN" sz="2400" b="1" dirty="0">
                <a:latin typeface="Times New Roman" panose="02020603050405020304" pitchFamily="18" charset="0"/>
                <a:cs typeface="Times New Roman" panose="02020603050405020304" pitchFamily="18" charset="0"/>
              </a:rPr>
              <a:t>interactive dashboard and susceptibility maps</a:t>
            </a:r>
            <a:r>
              <a:rPr lang="en-IN" sz="2400" dirty="0">
                <a:latin typeface="Times New Roman" panose="02020603050405020304" pitchFamily="18" charset="0"/>
                <a:cs typeface="Times New Roman" panose="02020603050405020304" pitchFamily="18" charset="0"/>
              </a:rPr>
              <a:t> to identify flood-prone regions and support disaster management and planning. The proposed </a:t>
            </a:r>
            <a:r>
              <a:rPr lang="en-IN" sz="2400" b="1" dirty="0">
                <a:latin typeface="Times New Roman" panose="02020603050405020304" pitchFamily="18" charset="0"/>
                <a:cs typeface="Times New Roman" panose="02020603050405020304" pitchFamily="18" charset="0"/>
              </a:rPr>
              <a:t>Java-based system</a:t>
            </a:r>
            <a:r>
              <a:rPr lang="en-IN" sz="2400" dirty="0">
                <a:latin typeface="Times New Roman" panose="02020603050405020304" pitchFamily="18" charset="0"/>
                <a:cs typeface="Times New Roman" panose="02020603050405020304" pitchFamily="18" charset="0"/>
              </a:rPr>
              <a:t> provides a structured framework combining statistical and machine learning approaches for effective extreme flood risk assessment.</a:t>
            </a:r>
          </a:p>
          <a:p>
            <a:pPr marL="0" indent="0" algn="just">
              <a:buNone/>
            </a:pPr>
            <a:endParaRPr lang="en-US"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D27364E-1D06-7083-76C8-99F3391AB3DD}"/>
              </a:ext>
            </a:extLst>
          </p:cNvPr>
          <p:cNvSpPr>
            <a:spLocks noGrp="1"/>
          </p:cNvSpPr>
          <p:nvPr>
            <p:ph type="dt" sz="half" idx="10"/>
          </p:nvPr>
        </p:nvSpPr>
        <p:spPr>
          <a:xfrm>
            <a:off x="0" y="6492875"/>
            <a:ext cx="2743200" cy="365125"/>
          </a:xfrm>
        </p:spPr>
        <p:txBody>
          <a:bodyPr/>
          <a:lstStyle/>
          <a:p>
            <a:r>
              <a:rPr lang="en-IN" dirty="0"/>
              <a:t>16-09-2026</a:t>
            </a:r>
          </a:p>
        </p:txBody>
      </p:sp>
      <p:sp>
        <p:nvSpPr>
          <p:cNvPr id="5" name="Slide Number Placeholder 4">
            <a:extLst>
              <a:ext uri="{FF2B5EF4-FFF2-40B4-BE49-F238E27FC236}">
                <a16:creationId xmlns:a16="http://schemas.microsoft.com/office/drawing/2014/main" id="{817DC3D3-A99D-C03C-2709-4D91196FA7AF}"/>
              </a:ext>
            </a:extLst>
          </p:cNvPr>
          <p:cNvSpPr>
            <a:spLocks noGrp="1"/>
          </p:cNvSpPr>
          <p:nvPr>
            <p:ph type="sldNum" sz="quarter" idx="12"/>
          </p:nvPr>
        </p:nvSpPr>
        <p:spPr>
          <a:xfrm>
            <a:off x="9448800" y="6474587"/>
            <a:ext cx="2743200" cy="365125"/>
          </a:xfrm>
        </p:spPr>
        <p:txBody>
          <a:bodyPr/>
          <a:lstStyle/>
          <a:p>
            <a:fld id="{C019D452-4D13-45E6-A944-00A80B3269BB}" type="slidenum">
              <a:rPr lang="en-IN" smtClean="0"/>
              <a:t>27</a:t>
            </a:fld>
            <a:endParaRPr lang="en-IN"/>
          </a:p>
        </p:txBody>
      </p:sp>
    </p:spTree>
    <p:extLst>
      <p:ext uri="{BB962C8B-B14F-4D97-AF65-F5344CB8AC3E}">
        <p14:creationId xmlns:p14="http://schemas.microsoft.com/office/powerpoint/2010/main" val="1458298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1CF37-6E10-F9A2-94FD-20E8B10787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E6C9C6-DFCA-7747-0F6A-B4ED796AD263}"/>
              </a:ext>
            </a:extLst>
          </p:cNvPr>
          <p:cNvSpPr>
            <a:spLocks noGrp="1"/>
          </p:cNvSpPr>
          <p:nvPr>
            <p:ph type="title"/>
          </p:nvPr>
        </p:nvSpPr>
        <p:spPr>
          <a:xfrm>
            <a:off x="0" y="265176"/>
            <a:ext cx="12192000" cy="877825"/>
          </a:xfrm>
          <a:solidFill>
            <a:srgbClr val="1F4E79"/>
          </a:solidFill>
        </p:spPr>
        <p:txBody>
          <a:bodyPr>
            <a:normAutofit fontScale="90000"/>
          </a:bodyPr>
          <a:lstStyle/>
          <a:p>
            <a:br>
              <a:rPr lang="en-IN" b="1" dirty="0">
                <a:solidFill>
                  <a:schemeClr val="bg1"/>
                </a:solidFill>
              </a:rPr>
            </a:br>
            <a:br>
              <a:rPr lang="en-IN" b="1" dirty="0">
                <a:solidFill>
                  <a:schemeClr val="bg1"/>
                </a:solidFill>
              </a:rPr>
            </a:br>
            <a:r>
              <a:rPr lang="en-IN" b="1" dirty="0">
                <a:solidFill>
                  <a:schemeClr val="bg1"/>
                </a:solidFill>
                <a:latin typeface="Times New Roman" panose="02020603050405020304" pitchFamily="18" charset="0"/>
                <a:cs typeface="Times New Roman" panose="02020603050405020304" pitchFamily="18" charset="0"/>
              </a:rPr>
              <a:t>References</a:t>
            </a:r>
            <a:r>
              <a:rPr lang="en-IN" b="1" dirty="0">
                <a:solidFill>
                  <a:schemeClr val="bg1"/>
                </a:solidFill>
              </a:rPr>
              <a:t> </a:t>
            </a:r>
            <a:br>
              <a:rPr lang="en-IN" b="1" dirty="0">
                <a:solidFill>
                  <a:schemeClr val="bg1"/>
                </a:solidFill>
                <a:effectLst/>
              </a:rPr>
            </a:br>
            <a:br>
              <a:rPr lang="en-IN" b="1" dirty="0">
                <a:solidFill>
                  <a:schemeClr val="bg1"/>
                </a:solidFill>
                <a:effectLst/>
              </a:rPr>
            </a:br>
            <a:endParaRPr lang="en-IN"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1E37EDC-E543-332A-7F57-200B487A7D02}"/>
              </a:ext>
            </a:extLst>
          </p:cNvPr>
          <p:cNvSpPr>
            <a:spLocks noGrp="1"/>
          </p:cNvSpPr>
          <p:nvPr>
            <p:ph idx="1"/>
          </p:nvPr>
        </p:nvSpPr>
        <p:spPr>
          <a:xfrm>
            <a:off x="0" y="1307592"/>
            <a:ext cx="12192000" cy="5285232"/>
          </a:xfrm>
        </p:spPr>
        <p:txBody>
          <a:bodyPr>
            <a:noAutofit/>
          </a:bodyPr>
          <a:lstStyle/>
          <a:p>
            <a:pPr algn="just"/>
            <a:r>
              <a:rPr lang="en-US" sz="2400" dirty="0">
                <a:latin typeface="Times New Roman" panose="02020603050405020304" pitchFamily="18" charset="0"/>
                <a:cs typeface="Times New Roman" panose="02020603050405020304" pitchFamily="18" charset="0"/>
              </a:rPr>
              <a:t>N. Fatima, H. M. </a:t>
            </a:r>
            <a:r>
              <a:rPr lang="en-US" sz="2400" dirty="0" err="1">
                <a:latin typeface="Times New Roman" panose="02020603050405020304" pitchFamily="18" charset="0"/>
                <a:cs typeface="Times New Roman" panose="02020603050405020304" pitchFamily="18" charset="0"/>
              </a:rPr>
              <a:t>Alshahrani</a:t>
            </a:r>
            <a:r>
              <a:rPr lang="en-US" sz="2400" dirty="0">
                <a:latin typeface="Times New Roman" panose="02020603050405020304" pitchFamily="18" charset="0"/>
                <a:cs typeface="Times New Roman" panose="02020603050405020304" pitchFamily="18" charset="0"/>
              </a:rPr>
              <a:t>, H. </a:t>
            </a:r>
            <a:r>
              <a:rPr lang="en-US" sz="2400" dirty="0" err="1">
                <a:latin typeface="Times New Roman" panose="02020603050405020304" pitchFamily="18" charset="0"/>
                <a:cs typeface="Times New Roman" panose="02020603050405020304" pitchFamily="18" charset="0"/>
              </a:rPr>
              <a:t>Dafaalla</a:t>
            </a:r>
            <a:r>
              <a:rPr lang="en-US" sz="2400" dirty="0">
                <a:latin typeface="Times New Roman" panose="02020603050405020304" pitchFamily="18" charset="0"/>
                <a:cs typeface="Times New Roman" panose="02020603050405020304" pitchFamily="18" charset="0"/>
              </a:rPr>
              <a:t>, R. </a:t>
            </a:r>
            <a:r>
              <a:rPr lang="en-US" sz="2400" dirty="0" err="1">
                <a:latin typeface="Times New Roman" panose="02020603050405020304" pitchFamily="18" charset="0"/>
                <a:cs typeface="Times New Roman" panose="02020603050405020304" pitchFamily="18" charset="0"/>
              </a:rPr>
              <a:t>Allafi</a:t>
            </a:r>
            <a:r>
              <a:rPr lang="en-US" sz="2400" dirty="0">
                <a:latin typeface="Times New Roman" panose="02020603050405020304" pitchFamily="18" charset="0"/>
                <a:cs typeface="Times New Roman" panose="02020603050405020304" pitchFamily="18" charset="0"/>
              </a:rPr>
              <a:t>, C. Kim, M. </a:t>
            </a:r>
            <a:r>
              <a:rPr lang="en-US" sz="2400" dirty="0" err="1">
                <a:latin typeface="Times New Roman" panose="02020603050405020304" pitchFamily="18" charset="0"/>
                <a:cs typeface="Times New Roman" panose="02020603050405020304" pitchFamily="18" charset="0"/>
              </a:rPr>
              <a:t>Syafrudin</a:t>
            </a:r>
            <a:r>
              <a:rPr lang="en-US" sz="2400" dirty="0">
                <a:latin typeface="Times New Roman" panose="02020603050405020304" pitchFamily="18" charset="0"/>
                <a:cs typeface="Times New Roman" panose="02020603050405020304" pitchFamily="18" charset="0"/>
              </a:rPr>
              <a:t> and N. L. </a:t>
            </a:r>
            <a:r>
              <a:rPr lang="en-US" sz="2400" dirty="0" err="1">
                <a:latin typeface="Times New Roman" panose="02020603050405020304" pitchFamily="18" charset="0"/>
                <a:cs typeface="Times New Roman" panose="02020603050405020304" pitchFamily="18" charset="0"/>
              </a:rPr>
              <a:t>Fitriyani</a:t>
            </a:r>
            <a:r>
              <a:rPr lang="en-US" sz="2400" dirty="0">
                <a:latin typeface="Times New Roman" panose="02020603050405020304" pitchFamily="18" charset="0"/>
                <a:cs typeface="Times New Roman" panose="02020603050405020304" pitchFamily="18" charset="0"/>
              </a:rPr>
              <a:t>, "Integrating Machine Learning Models With Probability Distribution Methods for Extreme Flood Risk Assessment," </a:t>
            </a:r>
            <a:r>
              <a:rPr lang="en-US" sz="2400" i="1" dirty="0">
                <a:latin typeface="Times New Roman" panose="02020603050405020304" pitchFamily="18" charset="0"/>
                <a:cs typeface="Times New Roman" panose="02020603050405020304" pitchFamily="18" charset="0"/>
              </a:rPr>
              <a:t>IEEE Access</a:t>
            </a:r>
            <a:r>
              <a:rPr lang="en-US" sz="2400" dirty="0">
                <a:latin typeface="Times New Roman" panose="02020603050405020304" pitchFamily="18" charset="0"/>
                <a:cs typeface="Times New Roman" panose="02020603050405020304" pitchFamily="18" charset="0"/>
              </a:rPr>
              <a:t>, vol. 13, pp. 160922–160938, 2025.</a:t>
            </a:r>
          </a:p>
          <a:p>
            <a:pPr algn="just"/>
            <a:r>
              <a:rPr lang="en-US" sz="2400" dirty="0">
                <a:latin typeface="Times New Roman" panose="02020603050405020304" pitchFamily="18" charset="0"/>
                <a:cs typeface="Times New Roman" panose="02020603050405020304" pitchFamily="18" charset="0"/>
              </a:rPr>
              <a:t>H. </a:t>
            </a:r>
            <a:r>
              <a:rPr lang="en-US" sz="2400" dirty="0" err="1">
                <a:latin typeface="Times New Roman" panose="02020603050405020304" pitchFamily="18" charset="0"/>
                <a:cs typeface="Times New Roman" panose="02020603050405020304" pitchFamily="18" charset="0"/>
              </a:rPr>
              <a:t>Hamidifar</a:t>
            </a:r>
            <a:r>
              <a:rPr lang="en-US" sz="2400" dirty="0">
                <a:latin typeface="Times New Roman" panose="02020603050405020304" pitchFamily="18" charset="0"/>
                <a:cs typeface="Times New Roman" panose="02020603050405020304" pitchFamily="18" charset="0"/>
              </a:rPr>
              <a:t> and M. </a:t>
            </a:r>
            <a:r>
              <a:rPr lang="en-US" sz="2400" dirty="0" err="1">
                <a:latin typeface="Times New Roman" panose="02020603050405020304" pitchFamily="18" charset="0"/>
                <a:cs typeface="Times New Roman" panose="02020603050405020304" pitchFamily="18" charset="0"/>
              </a:rPr>
              <a:t>Nones</a:t>
            </a:r>
            <a:r>
              <a:rPr lang="en-US" sz="2400" dirty="0">
                <a:latin typeface="Times New Roman" panose="02020603050405020304" pitchFamily="18" charset="0"/>
                <a:cs typeface="Times New Roman" panose="02020603050405020304" pitchFamily="18" charset="0"/>
              </a:rPr>
              <a:t>, "Spatiotemporal variations of riverine flood fatalities: 70 years global to regional perspective," </a:t>
            </a:r>
            <a:r>
              <a:rPr lang="en-US" sz="2400" i="1" dirty="0">
                <a:latin typeface="Times New Roman" panose="02020603050405020304" pitchFamily="18" charset="0"/>
                <a:cs typeface="Times New Roman" panose="02020603050405020304" pitchFamily="18" charset="0"/>
              </a:rPr>
              <a:t>River</a:t>
            </a:r>
            <a:r>
              <a:rPr lang="en-US" sz="2400" dirty="0">
                <a:latin typeface="Times New Roman" panose="02020603050405020304" pitchFamily="18" charset="0"/>
                <a:cs typeface="Times New Roman" panose="02020603050405020304" pitchFamily="18" charset="0"/>
              </a:rPr>
              <a:t>, vol. 2, no. 2, pp. 222–238, May 2023.</a:t>
            </a:r>
          </a:p>
          <a:p>
            <a:pPr algn="just"/>
            <a:r>
              <a:rPr lang="en-US" sz="2400" dirty="0">
                <a:latin typeface="Times New Roman" panose="02020603050405020304" pitchFamily="18" charset="0"/>
                <a:cs typeface="Times New Roman" panose="02020603050405020304" pitchFamily="18" charset="0"/>
              </a:rPr>
              <a:t>M. A. U. R. Tariq, R. Farooq and N. van de </a:t>
            </a:r>
            <a:r>
              <a:rPr lang="en-US" sz="2400" dirty="0" err="1">
                <a:latin typeface="Times New Roman" panose="02020603050405020304" pitchFamily="18" charset="0"/>
                <a:cs typeface="Times New Roman" panose="02020603050405020304" pitchFamily="18" charset="0"/>
              </a:rPr>
              <a:t>Giesen</a:t>
            </a:r>
            <a:r>
              <a:rPr lang="en-US" sz="2400" dirty="0">
                <a:latin typeface="Times New Roman" panose="02020603050405020304" pitchFamily="18" charset="0"/>
                <a:cs typeface="Times New Roman" panose="02020603050405020304" pitchFamily="18" charset="0"/>
              </a:rPr>
              <a:t>, "A critical review of flood risk management and the selection of suitable measures," </a:t>
            </a:r>
            <a:r>
              <a:rPr lang="en-US" sz="2400" i="1" dirty="0">
                <a:latin typeface="Times New Roman" panose="02020603050405020304" pitchFamily="18" charset="0"/>
                <a:cs typeface="Times New Roman" panose="02020603050405020304" pitchFamily="18" charset="0"/>
              </a:rPr>
              <a:t>Appl. Sci.</a:t>
            </a:r>
            <a:r>
              <a:rPr lang="en-US" sz="2400" dirty="0">
                <a:latin typeface="Times New Roman" panose="02020603050405020304" pitchFamily="18" charset="0"/>
                <a:cs typeface="Times New Roman" panose="02020603050405020304" pitchFamily="18" charset="0"/>
              </a:rPr>
              <a:t>, vol. 10, no. 23, p. 8752, Dec. 2020.</a:t>
            </a:r>
          </a:p>
          <a:p>
            <a:pPr algn="just"/>
            <a:r>
              <a:rPr lang="en-US" sz="2400" dirty="0">
                <a:latin typeface="Times New Roman" panose="02020603050405020304" pitchFamily="18" charset="0"/>
                <a:cs typeface="Times New Roman" panose="02020603050405020304" pitchFamily="18" charset="0"/>
              </a:rPr>
              <a:t>D. Murtaza, T. Roshni and D. </a:t>
            </a:r>
            <a:r>
              <a:rPr lang="en-US" sz="2400" dirty="0" err="1">
                <a:latin typeface="Times New Roman" panose="02020603050405020304" pitchFamily="18" charset="0"/>
                <a:cs typeface="Times New Roman" panose="02020603050405020304" pitchFamily="18" charset="0"/>
              </a:rPr>
              <a:t>Himayoun</a:t>
            </a:r>
            <a:r>
              <a:rPr lang="en-US" sz="2400" dirty="0">
                <a:latin typeface="Times New Roman" panose="02020603050405020304" pitchFamily="18" charset="0"/>
                <a:cs typeface="Times New Roman" panose="02020603050405020304" pitchFamily="18" charset="0"/>
              </a:rPr>
              <a:t>, "The investigation of runoff variations and the flood frequency estimates of the Jhelum River, India," </a:t>
            </a:r>
            <a:r>
              <a:rPr lang="en-US" sz="2400" i="1" dirty="0">
                <a:latin typeface="Times New Roman" panose="02020603050405020304" pitchFamily="18" charset="0"/>
                <a:cs typeface="Times New Roman" panose="02020603050405020304" pitchFamily="18" charset="0"/>
              </a:rPr>
              <a:t>Sustain. Water </a:t>
            </a:r>
            <a:r>
              <a:rPr lang="en-US" sz="2400" i="1" dirty="0" err="1">
                <a:latin typeface="Times New Roman" panose="02020603050405020304" pitchFamily="18" charset="0"/>
                <a:cs typeface="Times New Roman" panose="02020603050405020304" pitchFamily="18" charset="0"/>
              </a:rPr>
              <a:t>Resour</a:t>
            </a:r>
            <a:r>
              <a:rPr lang="en-US" sz="2400" i="1" dirty="0">
                <a:latin typeface="Times New Roman" panose="02020603050405020304" pitchFamily="18" charset="0"/>
                <a:cs typeface="Times New Roman" panose="02020603050405020304" pitchFamily="18" charset="0"/>
              </a:rPr>
              <a:t>. Manage.</a:t>
            </a:r>
            <a:r>
              <a:rPr lang="en-US" sz="2400" dirty="0">
                <a:latin typeface="Times New Roman" panose="02020603050405020304" pitchFamily="18" charset="0"/>
                <a:cs typeface="Times New Roman" panose="02020603050405020304" pitchFamily="18" charset="0"/>
              </a:rPr>
              <a:t>, vol. 8, no. 3, p. 60, Jun. 2022.</a:t>
            </a:r>
          </a:p>
          <a:p>
            <a:pPr algn="just"/>
            <a:r>
              <a:rPr lang="en-US" sz="2400" dirty="0">
                <a:latin typeface="Times New Roman" panose="02020603050405020304" pitchFamily="18" charset="0"/>
                <a:cs typeface="Times New Roman" panose="02020603050405020304" pitchFamily="18" charset="0"/>
              </a:rPr>
              <a:t>A. R. Al-</a:t>
            </a:r>
            <a:r>
              <a:rPr lang="en-US" sz="2400" dirty="0" err="1">
                <a:latin typeface="Times New Roman" panose="02020603050405020304" pitchFamily="18" charset="0"/>
                <a:cs typeface="Times New Roman" panose="02020603050405020304" pitchFamily="18" charset="0"/>
              </a:rPr>
              <a:t>Aizari</a:t>
            </a:r>
            <a:r>
              <a:rPr lang="en-US" sz="2400" dirty="0">
                <a:latin typeface="Times New Roman" panose="02020603050405020304" pitchFamily="18" charset="0"/>
                <a:cs typeface="Times New Roman" panose="02020603050405020304" pitchFamily="18" charset="0"/>
              </a:rPr>
              <a:t>, H. </a:t>
            </a:r>
            <a:r>
              <a:rPr lang="en-US" sz="2400" dirty="0" err="1">
                <a:latin typeface="Times New Roman" panose="02020603050405020304" pitchFamily="18" charset="0"/>
                <a:cs typeface="Times New Roman" panose="02020603050405020304" pitchFamily="18" charset="0"/>
              </a:rPr>
              <a:t>Alzahrani</a:t>
            </a:r>
            <a:r>
              <a:rPr lang="en-US" sz="2400" dirty="0">
                <a:latin typeface="Times New Roman" panose="02020603050405020304" pitchFamily="18" charset="0"/>
                <a:cs typeface="Times New Roman" panose="02020603050405020304" pitchFamily="18" charset="0"/>
              </a:rPr>
              <a:t>, O. F. </a:t>
            </a:r>
            <a:r>
              <a:rPr lang="en-US" sz="2400" dirty="0" err="1">
                <a:latin typeface="Times New Roman" panose="02020603050405020304" pitchFamily="18" charset="0"/>
                <a:cs typeface="Times New Roman" panose="02020603050405020304" pitchFamily="18" charset="0"/>
              </a:rPr>
              <a:t>AlThuwaynee</a:t>
            </a:r>
            <a:r>
              <a:rPr lang="en-US" sz="2400" dirty="0">
                <a:latin typeface="Times New Roman" panose="02020603050405020304" pitchFamily="18" charset="0"/>
                <a:cs typeface="Times New Roman" panose="02020603050405020304" pitchFamily="18" charset="0"/>
              </a:rPr>
              <a:t>, Y. A. Al-</a:t>
            </a:r>
            <a:r>
              <a:rPr lang="en-US" sz="2400" dirty="0" err="1">
                <a:latin typeface="Times New Roman" panose="02020603050405020304" pitchFamily="18" charset="0"/>
                <a:cs typeface="Times New Roman" panose="02020603050405020304" pitchFamily="18" charset="0"/>
              </a:rPr>
              <a:t>Masnay</a:t>
            </a:r>
            <a:r>
              <a:rPr lang="en-US" sz="2400" dirty="0">
                <a:latin typeface="Times New Roman" panose="02020603050405020304" pitchFamily="18" charset="0"/>
                <a:cs typeface="Times New Roman" panose="02020603050405020304" pitchFamily="18" charset="0"/>
              </a:rPr>
              <a:t>, K. Ullah, H.-J. Park, N. M. Al-</a:t>
            </a:r>
            <a:r>
              <a:rPr lang="en-US" sz="2400" dirty="0" err="1">
                <a:latin typeface="Times New Roman" panose="02020603050405020304" pitchFamily="18" charset="0"/>
                <a:cs typeface="Times New Roman" panose="02020603050405020304" pitchFamily="18" charset="0"/>
              </a:rPr>
              <a:t>Areeq</a:t>
            </a:r>
            <a:r>
              <a:rPr lang="en-US" sz="2400" dirty="0">
                <a:latin typeface="Times New Roman" panose="02020603050405020304" pitchFamily="18" charset="0"/>
                <a:cs typeface="Times New Roman" panose="02020603050405020304" pitchFamily="18" charset="0"/>
              </a:rPr>
              <a:t>, M. Rahman, B. Y. </a:t>
            </a:r>
            <a:r>
              <a:rPr lang="en-US" sz="2400" dirty="0" err="1">
                <a:latin typeface="Times New Roman" panose="02020603050405020304" pitchFamily="18" charset="0"/>
                <a:cs typeface="Times New Roman" panose="02020603050405020304" pitchFamily="18" charset="0"/>
              </a:rPr>
              <a:t>Hazaea</a:t>
            </a:r>
            <a:r>
              <a:rPr lang="en-US" sz="2400" dirty="0">
                <a:latin typeface="Times New Roman" panose="02020603050405020304" pitchFamily="18" charset="0"/>
                <a:cs typeface="Times New Roman" panose="02020603050405020304" pitchFamily="18" charset="0"/>
              </a:rPr>
              <a:t> and X. Liu, "Uncertainty reduction in flood susceptibility mapping using random forest and </a:t>
            </a:r>
            <a:r>
              <a:rPr lang="en-US" sz="2400" dirty="0" err="1">
                <a:latin typeface="Times New Roman" panose="02020603050405020304" pitchFamily="18" charset="0"/>
                <a:cs typeface="Times New Roman" panose="02020603050405020304" pitchFamily="18" charset="0"/>
              </a:rPr>
              <a:t>eXtreme</a:t>
            </a:r>
            <a:r>
              <a:rPr lang="en-US" sz="2400" dirty="0">
                <a:latin typeface="Times New Roman" panose="02020603050405020304" pitchFamily="18" charset="0"/>
                <a:cs typeface="Times New Roman" panose="02020603050405020304" pitchFamily="18" charset="0"/>
              </a:rPr>
              <a:t> gradient boosting algorithms in two tropical desert cities, </a:t>
            </a:r>
            <a:r>
              <a:rPr lang="en-US" sz="2400" dirty="0" err="1">
                <a:latin typeface="Times New Roman" panose="02020603050405020304" pitchFamily="18" charset="0"/>
                <a:cs typeface="Times New Roman" panose="02020603050405020304" pitchFamily="18" charset="0"/>
              </a:rPr>
              <a:t>Shibam</a:t>
            </a:r>
            <a:r>
              <a:rPr lang="en-US" sz="2400" dirty="0">
                <a:latin typeface="Times New Roman" panose="02020603050405020304" pitchFamily="18" charset="0"/>
                <a:cs typeface="Times New Roman" panose="02020603050405020304" pitchFamily="18" charset="0"/>
              </a:rPr>
              <a:t> and </a:t>
            </a:r>
            <a:r>
              <a:rPr lang="en-US" sz="2400" dirty="0" err="1">
                <a:latin typeface="Times New Roman" panose="02020603050405020304" pitchFamily="18" charset="0"/>
                <a:cs typeface="Times New Roman" panose="02020603050405020304" pitchFamily="18" charset="0"/>
              </a:rPr>
              <a:t>Marib</a:t>
            </a:r>
            <a:r>
              <a:rPr lang="en-US" sz="2400" dirty="0">
                <a:latin typeface="Times New Roman" panose="02020603050405020304" pitchFamily="18" charset="0"/>
                <a:cs typeface="Times New Roman" panose="02020603050405020304" pitchFamily="18" charset="0"/>
              </a:rPr>
              <a:t>, Yemen," </a:t>
            </a:r>
            <a:r>
              <a:rPr lang="en-US" sz="2400" i="1" dirty="0">
                <a:latin typeface="Times New Roman" panose="02020603050405020304" pitchFamily="18" charset="0"/>
                <a:cs typeface="Times New Roman" panose="02020603050405020304" pitchFamily="18" charset="0"/>
              </a:rPr>
              <a:t>Remote Sens.</a:t>
            </a:r>
            <a:r>
              <a:rPr lang="en-US" sz="2400" dirty="0">
                <a:latin typeface="Times New Roman" panose="02020603050405020304" pitchFamily="18" charset="0"/>
                <a:cs typeface="Times New Roman" panose="02020603050405020304" pitchFamily="18" charset="0"/>
              </a:rPr>
              <a:t>, vol. 16, no. 2, p. 336, Jan. 2024</a:t>
            </a:r>
          </a:p>
        </p:txBody>
      </p:sp>
      <p:sp>
        <p:nvSpPr>
          <p:cNvPr id="4" name="Date Placeholder 3">
            <a:extLst>
              <a:ext uri="{FF2B5EF4-FFF2-40B4-BE49-F238E27FC236}">
                <a16:creationId xmlns:a16="http://schemas.microsoft.com/office/drawing/2014/main" id="{25BDAB03-F86D-B838-41F7-A45558283808}"/>
              </a:ext>
            </a:extLst>
          </p:cNvPr>
          <p:cNvSpPr>
            <a:spLocks noGrp="1"/>
          </p:cNvSpPr>
          <p:nvPr>
            <p:ph type="dt" sz="half" idx="10"/>
          </p:nvPr>
        </p:nvSpPr>
        <p:spPr>
          <a:xfrm>
            <a:off x="0" y="6492875"/>
            <a:ext cx="2743200" cy="365125"/>
          </a:xfrm>
        </p:spPr>
        <p:txBody>
          <a:bodyPr/>
          <a:lstStyle/>
          <a:p>
            <a:r>
              <a:rPr lang="en-IN" dirty="0"/>
              <a:t>16-09-2026</a:t>
            </a:r>
          </a:p>
        </p:txBody>
      </p:sp>
      <p:sp>
        <p:nvSpPr>
          <p:cNvPr id="5" name="Slide Number Placeholder 4">
            <a:extLst>
              <a:ext uri="{FF2B5EF4-FFF2-40B4-BE49-F238E27FC236}">
                <a16:creationId xmlns:a16="http://schemas.microsoft.com/office/drawing/2014/main" id="{AF9DEEA6-70FC-1A47-B927-EE3AAADD9392}"/>
              </a:ext>
            </a:extLst>
          </p:cNvPr>
          <p:cNvSpPr>
            <a:spLocks noGrp="1"/>
          </p:cNvSpPr>
          <p:nvPr>
            <p:ph type="sldNum" sz="quarter" idx="12"/>
          </p:nvPr>
        </p:nvSpPr>
        <p:spPr>
          <a:xfrm>
            <a:off x="9448800" y="6492875"/>
            <a:ext cx="2743200" cy="365125"/>
          </a:xfrm>
        </p:spPr>
        <p:txBody>
          <a:bodyPr/>
          <a:lstStyle/>
          <a:p>
            <a:fld id="{C019D452-4D13-45E6-A944-00A80B3269BB}" type="slidenum">
              <a:rPr lang="en-IN" smtClean="0"/>
              <a:t>28</a:t>
            </a:fld>
            <a:endParaRPr lang="en-IN" dirty="0"/>
          </a:p>
        </p:txBody>
      </p:sp>
    </p:spTree>
    <p:extLst>
      <p:ext uri="{BB962C8B-B14F-4D97-AF65-F5344CB8AC3E}">
        <p14:creationId xmlns:p14="http://schemas.microsoft.com/office/powerpoint/2010/main" val="8424823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Film Burn</Template>
  <TotalTime>835</TotalTime>
  <Words>1789</Words>
  <Application>Microsoft Office PowerPoint</Application>
  <PresentationFormat>Widescreen</PresentationFormat>
  <Paragraphs>232</Paragraphs>
  <Slides>28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Calibri Light</vt:lpstr>
      <vt:lpstr>Times New Roman</vt:lpstr>
      <vt:lpstr>Office Theme</vt:lpstr>
      <vt:lpstr>  A  Project on   “Probabilistic-ML Framework for Extreme Flood Prediction”  prepared by  Soham Shinde  Pratik Thokal  Kedar Bhasme  Harsh Patil                                                                                                                                                                    Dr. Vithalrao Vikhe Patil College of Engineering, Ahilayanagar  Department of Information Technology  Academic year: 2026-27  </vt:lpstr>
      <vt:lpstr>Index</vt:lpstr>
      <vt:lpstr> Introduction </vt:lpstr>
      <vt:lpstr>  Abstract  </vt:lpstr>
      <vt:lpstr>  Objectives   </vt:lpstr>
      <vt:lpstr> Purpose </vt:lpstr>
      <vt:lpstr> Scope </vt:lpstr>
      <vt:lpstr>  Literature Survey   </vt:lpstr>
      <vt:lpstr>  Literature Survey   </vt:lpstr>
      <vt:lpstr> Problem Statement </vt:lpstr>
      <vt:lpstr>  Proposed System   </vt:lpstr>
      <vt:lpstr>  System Architecture   </vt:lpstr>
      <vt:lpstr>  Proposed Outcomes   </vt:lpstr>
      <vt:lpstr>  DFD Diagram: Level 0    </vt:lpstr>
      <vt:lpstr>  DFD Diagram: Level 1    </vt:lpstr>
      <vt:lpstr>  ER Diagram    </vt:lpstr>
      <vt:lpstr>  Class Diagram    </vt:lpstr>
      <vt:lpstr>  Use Case Diagram    </vt:lpstr>
      <vt:lpstr>  Activity Diagram    </vt:lpstr>
      <vt:lpstr>  Sequence Diagram    </vt:lpstr>
      <vt:lpstr>  State Diagram    </vt:lpstr>
      <vt:lpstr>  Deployment Diagram    </vt:lpstr>
      <vt:lpstr>  Results    </vt:lpstr>
      <vt:lpstr>  Results   </vt:lpstr>
      <vt:lpstr>  Results    </vt:lpstr>
      <vt:lpstr>  System Requirements  </vt:lpstr>
      <vt:lpstr>  Conclusion   </vt:lpstr>
      <vt:lpstr>  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Project on   “Online Recruitment Fraud (ORF) Detection Using Deep Learning Approaches”  prepared by   1.Name of Students 2.Name of Students 3.Name of Students 4.Name of Students                                                                                                                                                                    Guided by                                                                                               Reviewed by Name of Guide                                                                                     Name of reviewer</dc:title>
  <dc:creator>abhijayjadhav68@gmail.com</dc:creator>
  <cp:lastModifiedBy>Soham Shinde</cp:lastModifiedBy>
  <cp:revision>32</cp:revision>
  <dcterms:created xsi:type="dcterms:W3CDTF">2026-09-06T12:35:42Z</dcterms:created>
  <dcterms:modified xsi:type="dcterms:W3CDTF">2026-10-23T05:15:41Z</dcterms:modified>
</cp:coreProperties>
</file>